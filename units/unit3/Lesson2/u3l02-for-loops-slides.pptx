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bd2891e-c75f-2596-57cf-922007b1777a}">
          <p14:sldIdLst>
            <p14:sldId id="256"/>
            <p14:sldId id="257"/>
          </p14:sldIdLst>
        </p14:section>
        <p14:section name="Count it yourself" id="{0a044df6-4fa1-ae5f-492f-497344631aff}">
          <p14:sldIdLst>
            <p14:sldId id="258"/>
            <p14:sldId id="259"/>
          </p14:sldIdLst>
        </p14:section>
        <p14:section name="for loops" id="{e131fd6d-c6d3-bd8d-5f27-6ff3be51bd8e}">
          <p14:sldIdLst>
            <p14:sldId id="260"/>
            <p14:sldId id="261"/>
            <p14:sldId id="262"/>
            <p14:sldId id="263"/>
            <p14:sldId id="264"/>
            <p14:sldId id="265"/>
            <p14:sldId id="266"/>
          </p14:sldIdLst>
        </p14:section>
        <p14:section name="REPEAT n TIMES" id="{d8e3d898-e9da-3d2c-7f30-c360858fcde4}">
          <p14:sldIdLst>
            <p14:sldId id="267"/>
            <p14:sldId id="268"/>
            <p14:sldId id="269"/>
          </p14:sldIdLst>
        </p14:section>
        <p14:section name="Build" id="{bf18089f-d9cf-7a41-f7c6-6c0670511bbe}">
          <p14:sldIdLst>
            <p14:sldId id="270"/>
            <p14:sldId id="271"/>
            <p14:sldId id="272"/>
            <p14:sldId id="273"/>
            <p14:sldId id="274"/>
            <p14:sldId id="275"/>
            <p14:sldId id="276"/>
            <p14:sldId id="277"/>
            <p14:sldId id="278"/>
            <p14:sldId id="279"/>
            <p14:sldId id="280"/>
            <p14:sldId id="281"/>
            <p14:sldId id="282"/>
            <p14:sldId id="283"/>
          </p14:sldIdLst>
        </p14:section>
        <p14:section name="Wrap up" id="{f7abd4c5-653c-6954-1c42-f47c1170d746}">
          <p14:sldIdLst>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SHEET (41 min)
0-1    Preview: the asteroid field. Run the solution so they see it move.
1-4    WARM-UP: yesterday's snowfall. Which three lines only count?
4-7    The new thing: for. Three jobs, one line.
7-10   Walkthrough: the order things happen in.
10-12  TRACE TABLE: i goes 0, 1, 2 and ends at 3.
12-14  LAB 1: snowfall with a for loop. Change the numbers.
14-16  Where you start and where you stop. while or for?
16-18  The exam version: REPEAT n TIMES.
18-20  OPEN THE STARTER. How the starter works. How things move.
20-33  BUILD, one TODO at a time (slides for TODO 1 to 5).
33-35  LAB 2: crossy road coins (n is a variable).
35-39  Check yourself.
39-41  CED (point only), save, // TODO, log off.
IF BEHIND
  1. Lab 2 - TODO 2 and TODO 4 teach the same idea.
  2. "while or for?" - one sentence instead of the slide.
  3. Check yourself: questions 2 and 4 only.
  4. TODO 5 step 4 (pulse) can be homework.
  Do NOT cut the trace table or the start/stop table.
BEFORE CLASS
  Post u3l02-asteroids-starter.js. Hold back the solution.
TURN IN
  The asteroid field (TODOs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The four parts of the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SAY
Out loud. Counting lines: flakes = 0, flakes &lt; 150, flakes + 1.
The work: the circle() line.
"Three lines of bookkeeping for one line of work, every time you know
the number in advance. Today those three move onto one line."
WATCH FOR
Students who say the closing brace. Fine - it is structure, not 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SAY
Point at each piece and match it to yesterday's three lines.
i is just a name. Programmers use i for "index" - it is a habit, not a rule.
Semicolons, not commas. They will type commas.
WATCH FOR
"Where did flakes go?" It is i now. Nothing else needs to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SAY
Walk it on the board: line 1, then 2-3-2-3-2-3-2, then 5.
Each time you land on line 2, ask "what is i? is it less than 3?"
The update happens at the END of the trip, even though it is written at
the start. That surprises people.
WATCH FOR
Students who think i = i + 1 runs before the first trip. It does not:
the first trip has i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SAY
The number after &lt; is the number of trips - when you start at 0.
That is why everyone starts at 0.
Predict: 4 trips, total 40.
WATCH FOR
"i ends at 2." It ends at 3 - that is the value that made the question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SAY
The flakes readout is a second counter so they can SEE the trip count.
Predict before each Run.
500: 500. i = 1: 99. Then &lt;=: 100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SAY
Cover the right column; have them call out each row.
Rows 3 and 4 are the off-by-one errors. Lesson 7 is all about them.
i++ shows up in their solutions from Unit 2 already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SAY
Yesterday's asteroid spawn could not be a for loop in any natural way:
nobody knew how many tries it would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SAY
REPEAT n TIMES is the cleanest loop on the exam - no start, no question,
no update to get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SAY
The JavaScript translation always starts at 0 and uses &lt;.
TODO 5 in the starter is a REPEAT n TIMES with its own counter,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Run the solution once more so they remember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SAY
File &gt; New, paste, rename, SAVE. Press Play: the ship already flies with the arrow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SAY
Every TODO has numbered steps in the comments. One step, then Run.
The file runs right now. If it stops running, the last step broke it - undo.
Switch on the closing } too, or nothing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SAY
One thing that moves: give it a variable and add to it (moveShip does this).
200 stars and n rocks: we cannot make a variable for each one - that needs a
list, which is Unit 4. So each frame we redraw every rock from scratch:
where it started + how far it has fallen. Same motion as y = y +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SAY
Blanks: 0 and 200. Start at 0, use &lt; - the habit from the table.
They must switch on the closing } as well.
WATCH FOR
Commas instead of semicolons in the header.
Stars that do not move: they skipped the y = y + ...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SAY
% is the remainder from Unit 2. 650 % 600 is 50, so a star that fell past
the bottom shows up near the top again.
Ask: why do big stars move faster? size is in the second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SAY
The question is i &lt; rocks. Ask why not 6 - TODO 4 is the answer.
height + 100 and - 50: rocks start above the top and leave below the bottom,
so they slide in and out instead of popping.
WATCH FOR
i &lt; 6. It works today and breaks in TODO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SAY
An if inside a loop: every rock asks the question for itself, every frame.
That is Lesson 5 - this is a preview.
Fly the ship into a rock to test it.
WATCH FOR
Leaving the old fill line in: harmless, but the if is then doing all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SAY
Same as the warm-up: three lines of counting become one header.
Answer: for (let i = 0; i &lt; lives; i++)
WATCH FOR
Students who put x into the header and lose the count.
Keep let x = 660 before the loop and x = x + 40 inside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SAY
Blank: &gt; (rocks &gt; 0). &gt;= would let it go to -1.
Press a: a new rock appears and the old ones do not move. Why?
randomSeed - the new rock just uses the next numbers in the list.
WATCH FOR
Pressing keys without clicking the canvas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SAY
d &lt;- 60 goes BEFORE the loop. d &lt;- d + 30 goes inside.
Line by line it is the exam pseudocode.
WATCH FOR
let d = 60 inside the loop: three rings on top of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SAY
% from Unit 2 again. Ask: what would % 60 do? (slower, bigger pulse)
If behind, this step can be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SAY
Read the list; they tick it in the self-check at the bottom of the file.
EARLY FINISHERS (answers in the solution file)
1. l loses a life; GAME OVER at 0.
2. Shield rings match lives: 3 becomes lives.
3. Rocks speed up: multiply by (1 + frameCount / 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SAY
Live version is in the interactive lesson page.
The loop runs a different number of times every frame after a click.
Old coins stay put because randomSeed(5) replays the same random numbers
in the same order - the new coin is just the next number in the list.
coins = 0: the loop runs zero times. Nothing draws, no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SAY
Boards. Reveal answers out loud.
Q4 previews tomorrow: i does not have to go up by 1.
ANSWERS
1) 7
2) 5 (i is 2, 3, 4, 5, 6)
3) for (let i = 0; i &lt; 12; i++)
4) 5 (i is 0, 2, 4, 6,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 min - point, do not read.
SAY
That is both halves of 3.8: REPEAT UNTIL yesterday, REPEAT n TIMES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SAY
Asteroid field due end of period or as homework.
AFTER CLASS
Post u3l02-asteroids-solution.js to Classroom (not the public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4C4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rtlCol="0"/>
          <a:lstStyle>
            <a:lvl1pPr algn="l" indent="0" marL="0">
              <a:buNone/>
              <a:defRPr lang="en-US" sz="3200" dirty="0">
                <a:solidFill>
                  <a:srgbClr val="2B2B2B"/>
                </a:solidFill>
                <a:latin typeface="Arial Black" pitchFamily="34" charset="0"/>
                <a:ea typeface="Arial Black" pitchFamily="34" charset="-122"/>
                <a:cs typeface="Arial Black"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4C43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75488" y="749808"/>
            <a:ext cx="4160520" cy="3749040"/>
          </a:xfrm>
          <a:prstGeom prst="roundRect">
            <a:avLst>
              <a:gd name="adj" fmla="val 1951"/>
            </a:avLst>
          </a:prstGeom>
          <a:solidFill>
            <a:srgbClr val="2B2B2B"/>
          </a:solidFill>
          <a:ln w="12700">
            <a:solidFill>
              <a:srgbClr val="2B2B2B"/>
            </a:solidFill>
            <a:prstDash val="solid"/>
          </a:ln>
        </p:spPr>
      </p:sp>
      <p:sp>
        <p:nvSpPr>
          <p:cNvPr id="3" name="Shape 1"/>
          <p:cNvSpPr/>
          <p:nvPr/>
        </p:nvSpPr>
        <p:spPr>
          <a:xfrm>
            <a:off x="411480" y="685800"/>
            <a:ext cx="4160520" cy="3749040"/>
          </a:xfrm>
          <a:prstGeom prst="roundRect">
            <a:avLst>
              <a:gd name="adj" fmla="val 1951"/>
            </a:avLst>
          </a:prstGeom>
          <a:solidFill>
            <a:srgbClr val="FFFFFF"/>
          </a:solidFill>
          <a:ln w="25400">
            <a:solidFill>
              <a:srgbClr val="2B2B2B"/>
            </a:solidFill>
            <a:prstDash val="solid"/>
          </a:ln>
        </p:spPr>
      </p:sp>
      <p:sp>
        <p:nvSpPr>
          <p:cNvPr id="4" name="Text 2"/>
          <p:cNvSpPr txBox="1"/>
          <p:nvPr/>
        </p:nvSpPr>
        <p:spPr>
          <a:xfrm>
            <a:off x="685800" y="914400"/>
            <a:ext cx="3657600" cy="320040"/>
          </a:xfrm>
          <a:prstGeom prst="rect">
            <a:avLst/>
          </a:prstGeom>
          <a:noFill/>
          <a:ln/>
        </p:spPr>
        <p:txBody>
          <a:bodyPr wrap="square" lIns="0" tIns="0" rIns="0" bIns="0" rtlCol="0" anchor="ctr"/>
          <a:lstStyle/>
          <a:p>
            <a:pPr indent="0" marL="0">
              <a:buNone/>
            </a:pPr>
            <a:r>
              <a:rPr lang="en-US" sz="1600" b="1" dirty="0">
                <a:solidFill>
                  <a:srgbClr val="5C4A12"/>
                </a:solidFill>
                <a:latin typeface="Courier New" pitchFamily="34" charset="0"/>
                <a:ea typeface="Courier New" pitchFamily="34" charset="-122"/>
                <a:cs typeface="Courier New" pitchFamily="34" charset="-120"/>
              </a:rPr>
              <a:t>UNIT 3 · LESSON 2</a:t>
            </a:r>
            <a:endParaRPr lang="en-US" sz="1600" dirty="0"/>
          </a:p>
        </p:txBody>
      </p:sp>
      <p:sp>
        <p:nvSpPr>
          <p:cNvPr id="5" name="Text 3"/>
          <p:cNvSpPr txBox="1"/>
          <p:nvPr/>
        </p:nvSpPr>
        <p:spPr>
          <a:xfrm>
            <a:off x="685800" y="1280160"/>
            <a:ext cx="3749040" cy="1463040"/>
          </a:xfrm>
          <a:prstGeom prst="rect">
            <a:avLst/>
          </a:prstGeom>
          <a:noFill/>
          <a:ln/>
        </p:spPr>
        <p:txBody>
          <a:bodyPr wrap="square" lIns="0" tIns="0" rIns="0" bIns="0" rtlCol="0" anchor="t"/>
          <a:lstStyle/>
          <a:p>
            <a:pPr indent="0" marL="0">
              <a:buNone/>
            </a:pPr>
            <a:r>
              <a:rPr lang="en-US" sz="4000" dirty="0">
                <a:solidFill>
                  <a:srgbClr val="2B2B2B"/>
                </a:solidFill>
                <a:latin typeface="Arial Black" pitchFamily="34" charset="0"/>
                <a:ea typeface="Arial Black" pitchFamily="34" charset="-122"/>
                <a:cs typeface="Arial Black" pitchFamily="34" charset="-120"/>
              </a:rPr>
              <a:t>Exactly n Times</a:t>
            </a:r>
            <a:endParaRPr lang="en-US" sz="4000" dirty="0"/>
          </a:p>
        </p:txBody>
      </p:sp>
      <p:sp>
        <p:nvSpPr>
          <p:cNvPr id="6" name="Text 4"/>
          <p:cNvSpPr txBox="1"/>
          <p:nvPr/>
        </p:nvSpPr>
        <p:spPr>
          <a:xfrm>
            <a:off x="685800" y="2880360"/>
            <a:ext cx="3749040" cy="411480"/>
          </a:xfrm>
          <a:prstGeom prst="rect">
            <a:avLst/>
          </a:prstGeom>
          <a:noFill/>
          <a:ln/>
        </p:spPr>
        <p:txBody>
          <a:bodyPr wrap="square" lIns="0" tIns="0" rIns="0" bIns="0" rtlCol="0" anchor="ctr"/>
          <a:lstStyle/>
          <a:p>
            <a:pPr indent="0" marL="0">
              <a:buNone/>
            </a:pPr>
            <a:r>
              <a:rPr lang="en-US" sz="2200" dirty="0">
                <a:solidFill>
                  <a:srgbClr val="2B2B2B"/>
                </a:solidFill>
              </a:rPr>
              <a:t>for loops · REPEAT n TIMES</a:t>
            </a:r>
            <a:endParaRPr lang="en-US" sz="2200" dirty="0"/>
          </a:p>
        </p:txBody>
      </p:sp>
      <p:sp>
        <p:nvSpPr>
          <p:cNvPr id="7" name="Shape 5"/>
          <p:cNvSpPr/>
          <p:nvPr/>
        </p:nvSpPr>
        <p:spPr>
          <a:xfrm>
            <a:off x="713232" y="3611880"/>
            <a:ext cx="237744" cy="237744"/>
          </a:xfrm>
          <a:prstGeom prst="ellipse">
            <a:avLst/>
          </a:prstGeom>
          <a:solidFill>
            <a:srgbClr val="E63C3C"/>
          </a:solidFill>
          <a:ln w="19050">
            <a:solidFill>
              <a:srgbClr val="2B2B2B"/>
            </a:solidFill>
            <a:prstDash val="solid"/>
          </a:ln>
        </p:spPr>
      </p:sp>
      <p:sp>
        <p:nvSpPr>
          <p:cNvPr id="8" name="Shape 6"/>
          <p:cNvSpPr/>
          <p:nvPr/>
        </p:nvSpPr>
        <p:spPr>
          <a:xfrm>
            <a:off x="1097280" y="3611880"/>
            <a:ext cx="237744" cy="237744"/>
          </a:xfrm>
          <a:prstGeom prst="ellipse">
            <a:avLst/>
          </a:prstGeom>
          <a:solidFill>
            <a:srgbClr val="3CBE5A"/>
          </a:solidFill>
          <a:ln w="19050">
            <a:solidFill>
              <a:srgbClr val="2B2B2B"/>
            </a:solidFill>
            <a:prstDash val="solid"/>
          </a:ln>
        </p:spPr>
      </p:sp>
      <p:sp>
        <p:nvSpPr>
          <p:cNvPr id="9" name="Shape 7"/>
          <p:cNvSpPr/>
          <p:nvPr/>
        </p:nvSpPr>
        <p:spPr>
          <a:xfrm>
            <a:off x="1481328" y="3611880"/>
            <a:ext cx="237744" cy="237744"/>
          </a:xfrm>
          <a:prstGeom prst="ellipse">
            <a:avLst/>
          </a:prstGeom>
          <a:solidFill>
            <a:srgbClr val="E63C3C"/>
          </a:solidFill>
          <a:ln w="19050">
            <a:solidFill>
              <a:srgbClr val="2B2B2B"/>
            </a:solidFill>
            <a:prstDash val="solid"/>
          </a:ln>
        </p:spPr>
      </p:sp>
      <p:sp>
        <p:nvSpPr>
          <p:cNvPr id="10" name="Shape 8"/>
          <p:cNvSpPr/>
          <p:nvPr/>
        </p:nvSpPr>
        <p:spPr>
          <a:xfrm>
            <a:off x="1865376" y="3611880"/>
            <a:ext cx="237744" cy="237744"/>
          </a:xfrm>
          <a:prstGeom prst="ellipse">
            <a:avLst/>
          </a:prstGeom>
          <a:solidFill>
            <a:srgbClr val="3CBE5A"/>
          </a:solidFill>
          <a:ln w="19050">
            <a:solidFill>
              <a:srgbClr val="2B2B2B"/>
            </a:solidFill>
            <a:prstDash val="solid"/>
          </a:ln>
        </p:spPr>
      </p:sp>
      <p:sp>
        <p:nvSpPr>
          <p:cNvPr id="11" name="Shape 9"/>
          <p:cNvSpPr/>
          <p:nvPr/>
        </p:nvSpPr>
        <p:spPr>
          <a:xfrm>
            <a:off x="2249424" y="3611880"/>
            <a:ext cx="237744" cy="237744"/>
          </a:xfrm>
          <a:prstGeom prst="ellipse">
            <a:avLst/>
          </a:prstGeom>
          <a:solidFill>
            <a:srgbClr val="E63C3C"/>
          </a:solidFill>
          <a:ln w="19050">
            <a:solidFill>
              <a:srgbClr val="2B2B2B"/>
            </a:solidFill>
            <a:prstDash val="solid"/>
          </a:ln>
        </p:spPr>
      </p:sp>
      <p:sp>
        <p:nvSpPr>
          <p:cNvPr id="12" name="Shape 10"/>
          <p:cNvSpPr/>
          <p:nvPr/>
        </p:nvSpPr>
        <p:spPr>
          <a:xfrm>
            <a:off x="2633472" y="3611880"/>
            <a:ext cx="237744" cy="237744"/>
          </a:xfrm>
          <a:prstGeom prst="ellipse">
            <a:avLst/>
          </a:prstGeom>
          <a:solidFill>
            <a:srgbClr val="3CBE5A"/>
          </a:solidFill>
          <a:ln w="19050">
            <a:solidFill>
              <a:srgbClr val="2B2B2B"/>
            </a:solidFill>
            <a:prstDash val="solid"/>
          </a:ln>
        </p:spPr>
      </p:sp>
      <p:sp>
        <p:nvSpPr>
          <p:cNvPr id="13" name="Shape 11"/>
          <p:cNvSpPr/>
          <p:nvPr/>
        </p:nvSpPr>
        <p:spPr>
          <a:xfrm>
            <a:off x="3017520" y="3611880"/>
            <a:ext cx="237744" cy="237744"/>
          </a:xfrm>
          <a:prstGeom prst="ellipse">
            <a:avLst/>
          </a:prstGeom>
          <a:solidFill>
            <a:srgbClr val="E63C3C"/>
          </a:solidFill>
          <a:ln w="19050">
            <a:solidFill>
              <a:srgbClr val="2B2B2B"/>
            </a:solidFill>
            <a:prstDash val="solid"/>
          </a:ln>
        </p:spPr>
      </p:sp>
      <p:sp>
        <p:nvSpPr>
          <p:cNvPr id="14" name="Shape 12"/>
          <p:cNvSpPr/>
          <p:nvPr/>
        </p:nvSpPr>
        <p:spPr>
          <a:xfrm>
            <a:off x="3401568" y="3611880"/>
            <a:ext cx="237744" cy="237744"/>
          </a:xfrm>
          <a:prstGeom prst="ellipse">
            <a:avLst/>
          </a:prstGeom>
          <a:solidFill>
            <a:srgbClr val="3CBE5A"/>
          </a:solidFill>
          <a:ln w="19050">
            <a:solidFill>
              <a:srgbClr val="2B2B2B"/>
            </a:solidFill>
            <a:prstDash val="solid"/>
          </a:ln>
        </p:spPr>
      </p:sp>
      <p:sp>
        <p:nvSpPr>
          <p:cNvPr id="15" name="Shape 13"/>
          <p:cNvSpPr/>
          <p:nvPr/>
        </p:nvSpPr>
        <p:spPr>
          <a:xfrm>
            <a:off x="3785616" y="3611880"/>
            <a:ext cx="237744" cy="237744"/>
          </a:xfrm>
          <a:prstGeom prst="ellipse">
            <a:avLst/>
          </a:prstGeom>
          <a:solidFill>
            <a:srgbClr val="E63C3C"/>
          </a:solidFill>
          <a:ln w="19050">
            <a:solidFill>
              <a:srgbClr val="2B2B2B"/>
            </a:solidFill>
            <a:prstDash val="solid"/>
          </a:ln>
        </p:spPr>
      </p:sp>
      <p:sp>
        <p:nvSpPr>
          <p:cNvPr id="16" name="Shape 14"/>
          <p:cNvSpPr/>
          <p:nvPr/>
        </p:nvSpPr>
        <p:spPr>
          <a:xfrm>
            <a:off x="4956048" y="749808"/>
            <a:ext cx="3776472" cy="2834640"/>
          </a:xfrm>
          <a:prstGeom prst="rect">
            <a:avLst/>
          </a:prstGeom>
          <a:solidFill>
            <a:srgbClr val="2B2B2B"/>
          </a:solidFill>
          <a:ln w="12700">
            <a:solidFill>
              <a:srgbClr val="2B2B2B"/>
            </a:solidFill>
            <a:prstDash val="solid"/>
          </a:ln>
        </p:spPr>
      </p:sp>
      <p:pic>
        <p:nvPicPr>
          <p:cNvPr id="17" name="Image 0" descr="The finished asteroid field: falling rocks, scrolling stars, a ship with shield rings">    </p:cNvPr>
          <p:cNvPicPr>
            <a:picLocks noChangeAspect="1"/>
          </p:cNvPicPr>
          <p:nvPr/>
        </p:nvPicPr>
        <p:blipFill>
          <a:blip r:embed="rId1"/>
          <a:stretch>
            <a:fillRect/>
          </a:stretch>
        </p:blipFill>
        <p:spPr>
          <a:xfrm>
            <a:off x="4892040" y="685800"/>
            <a:ext cx="3776472" cy="2834640"/>
          </a:xfrm>
          <a:prstGeom prst="rect">
            <a:avLst/>
          </a:prstGeom>
        </p:spPr>
      </p:pic>
      <p:sp>
        <p:nvSpPr>
          <p:cNvPr id="18" name="Text 15"/>
          <p:cNvSpPr txBox="1"/>
          <p:nvPr/>
        </p:nvSpPr>
        <p:spPr>
          <a:xfrm>
            <a:off x="4892040" y="3703320"/>
            <a:ext cx="3776472" cy="365760"/>
          </a:xfrm>
          <a:prstGeom prst="rect">
            <a:avLst/>
          </a:prstGeom>
          <a:noFill/>
          <a:ln/>
        </p:spPr>
        <p:txBody>
          <a:bodyPr wrap="square" lIns="0" tIns="0" rIns="0" bIns="0" rtlCol="0" anchor="ctr"/>
          <a:lstStyle/>
          <a:p>
            <a:pPr algn="ctr" indent="0" marL="0">
              <a:buNone/>
            </a:pPr>
            <a:r>
              <a:rPr lang="en-US" sz="2000" b="1" dirty="0">
                <a:solidFill>
                  <a:srgbClr val="2B2B2B"/>
                </a:solidFill>
              </a:rPr>
              <a:t>Today’s build: it moves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Today</a:t>
            </a:r>
            <a:endParaRPr lang="en-US" sz="3200" dirty="0"/>
          </a:p>
        </p:txBody>
      </p:sp>
      <p:sp>
        <p:nvSpPr>
          <p:cNvPr id="3" name="Shape 1"/>
          <p:cNvSpPr/>
          <p:nvPr/>
        </p:nvSpPr>
        <p:spPr>
          <a:xfrm>
            <a:off x="475488" y="1161288"/>
            <a:ext cx="4023360" cy="1554480"/>
          </a:xfrm>
          <a:prstGeom prst="roundRect">
            <a:avLst>
              <a:gd name="adj" fmla="val 4706"/>
            </a:avLst>
          </a:prstGeom>
          <a:solidFill>
            <a:srgbClr val="2B2B2B"/>
          </a:solidFill>
          <a:ln w="12700">
            <a:solidFill>
              <a:srgbClr val="2B2B2B"/>
            </a:solidFill>
            <a:prstDash val="solid"/>
          </a:ln>
        </p:spPr>
      </p:sp>
      <p:sp>
        <p:nvSpPr>
          <p:cNvPr id="4" name="Shape 2"/>
          <p:cNvSpPr/>
          <p:nvPr/>
        </p:nvSpPr>
        <p:spPr>
          <a:xfrm>
            <a:off x="411480" y="1097280"/>
            <a:ext cx="4023360" cy="1554480"/>
          </a:xfrm>
          <a:prstGeom prst="roundRect">
            <a:avLst>
              <a:gd name="adj" fmla="val 4706"/>
            </a:avLst>
          </a:prstGeom>
          <a:solidFill>
            <a:srgbClr val="FFFFFF"/>
          </a:solidFill>
          <a:ln w="25400">
            <a:solidFill>
              <a:srgbClr val="2B2B2B"/>
            </a:solidFill>
            <a:prstDash val="solid"/>
          </a:ln>
        </p:spPr>
      </p:sp>
      <p:sp>
        <p:nvSpPr>
          <p:cNvPr id="5" name="Shape 3"/>
          <p:cNvSpPr/>
          <p:nvPr/>
        </p:nvSpPr>
        <p:spPr>
          <a:xfrm>
            <a:off x="640080" y="1481328"/>
            <a:ext cx="777240" cy="777240"/>
          </a:xfrm>
          <a:prstGeom prst="roundRect">
            <a:avLst>
              <a:gd name="adj" fmla="val 7059"/>
            </a:avLst>
          </a:prstGeom>
          <a:solidFill>
            <a:srgbClr val="2B2B2B"/>
          </a:solidFill>
          <a:ln w="12700">
            <a:solidFill>
              <a:srgbClr val="2B2B2B"/>
            </a:solidFill>
            <a:prstDash val="solid"/>
          </a:ln>
        </p:spPr>
      </p:sp>
      <p:sp>
        <p:nvSpPr>
          <p:cNvPr id="6" name="Text 4"/>
          <p:cNvSpPr txBox="1"/>
          <p:nvPr/>
        </p:nvSpPr>
        <p:spPr>
          <a:xfrm>
            <a:off x="640080" y="1481328"/>
            <a:ext cx="777240" cy="777240"/>
          </a:xfrm>
          <a:prstGeom prst="rect">
            <a:avLst/>
          </a:prstGeom>
          <a:noFill/>
          <a:ln/>
        </p:spPr>
        <p:txBody>
          <a:bodyPr wrap="square" lIns="0" tIns="0" rIns="0" bIns="0" rtlCol="0" anchor="ctr"/>
          <a:lstStyle/>
          <a:p>
            <a:pPr algn="ctr" indent="0" marL="0">
              <a:buNone/>
            </a:pPr>
            <a:r>
              <a:rPr lang="en-US" sz="2600" dirty="0">
                <a:solidFill>
                  <a:srgbClr val="F4C430"/>
                </a:solidFill>
                <a:latin typeface="Arial Black" pitchFamily="34" charset="0"/>
                <a:ea typeface="Arial Black" pitchFamily="34" charset="-122"/>
                <a:cs typeface="Arial Black" pitchFamily="34" charset="-120"/>
              </a:rPr>
              <a:t>01</a:t>
            </a:r>
            <a:endParaRPr lang="en-US" sz="2600" dirty="0"/>
          </a:p>
        </p:txBody>
      </p:sp>
      <p:sp>
        <p:nvSpPr>
          <p:cNvPr id="7" name="Text 5"/>
          <p:cNvSpPr txBox="1"/>
          <p:nvPr/>
        </p:nvSpPr>
        <p:spPr>
          <a:xfrm>
            <a:off x="1600200" y="1280160"/>
            <a:ext cx="2697480" cy="1188720"/>
          </a:xfrm>
          <a:prstGeom prst="rect">
            <a:avLst/>
          </a:prstGeom>
          <a:noFill/>
          <a:ln/>
        </p:spPr>
        <p:txBody>
          <a:bodyPr wrap="square" lIns="0" tIns="0" rIns="0" bIns="0" rtlCol="0" anchor="ctr"/>
          <a:lstStyle/>
          <a:p>
            <a:pPr indent="0" marL="0">
              <a:buNone/>
            </a:pPr>
            <a:r>
              <a:rPr lang="en-US" sz="2400" b="1" dirty="0">
                <a:solidFill>
                  <a:srgbClr val="2B2B2B"/>
                </a:solidFill>
              </a:rPr>
              <a:t>Count it yourself</a:t>
            </a:r>
            <a:endParaRPr lang="en-US" sz="2400" dirty="0"/>
          </a:p>
          <a:p>
            <a:pPr indent="0" marL="0">
              <a:buNone/>
            </a:pPr>
            <a:r>
              <a:rPr lang="en-US" sz="1800" dirty="0">
                <a:solidFill>
                  <a:srgbClr val="5C4A12"/>
                </a:solidFill>
              </a:rPr>
              <a:t>Yesterday every loop kept its own count.</a:t>
            </a:r>
            <a:endParaRPr lang="en-US" sz="2400" dirty="0"/>
          </a:p>
        </p:txBody>
      </p:sp>
      <p:sp>
        <p:nvSpPr>
          <p:cNvPr id="8" name="Shape 6"/>
          <p:cNvSpPr/>
          <p:nvPr/>
        </p:nvSpPr>
        <p:spPr>
          <a:xfrm>
            <a:off x="4727448" y="1161288"/>
            <a:ext cx="4023360" cy="1554480"/>
          </a:xfrm>
          <a:prstGeom prst="roundRect">
            <a:avLst>
              <a:gd name="adj" fmla="val 4706"/>
            </a:avLst>
          </a:prstGeom>
          <a:solidFill>
            <a:srgbClr val="2B2B2B"/>
          </a:solidFill>
          <a:ln w="12700">
            <a:solidFill>
              <a:srgbClr val="2B2B2B"/>
            </a:solidFill>
            <a:prstDash val="solid"/>
          </a:ln>
        </p:spPr>
      </p:sp>
      <p:sp>
        <p:nvSpPr>
          <p:cNvPr id="9" name="Shape 7"/>
          <p:cNvSpPr/>
          <p:nvPr/>
        </p:nvSpPr>
        <p:spPr>
          <a:xfrm>
            <a:off x="4663440" y="1097280"/>
            <a:ext cx="4023360" cy="1554480"/>
          </a:xfrm>
          <a:prstGeom prst="roundRect">
            <a:avLst>
              <a:gd name="adj" fmla="val 4706"/>
            </a:avLst>
          </a:prstGeom>
          <a:solidFill>
            <a:srgbClr val="FFFFFF"/>
          </a:solidFill>
          <a:ln w="25400">
            <a:solidFill>
              <a:srgbClr val="2B2B2B"/>
            </a:solidFill>
            <a:prstDash val="solid"/>
          </a:ln>
        </p:spPr>
      </p:sp>
      <p:sp>
        <p:nvSpPr>
          <p:cNvPr id="10" name="Shape 8"/>
          <p:cNvSpPr/>
          <p:nvPr/>
        </p:nvSpPr>
        <p:spPr>
          <a:xfrm>
            <a:off x="4892040" y="1481328"/>
            <a:ext cx="777240" cy="777240"/>
          </a:xfrm>
          <a:prstGeom prst="roundRect">
            <a:avLst>
              <a:gd name="adj" fmla="val 7059"/>
            </a:avLst>
          </a:prstGeom>
          <a:solidFill>
            <a:srgbClr val="2B2B2B"/>
          </a:solidFill>
          <a:ln w="12700">
            <a:solidFill>
              <a:srgbClr val="2B2B2B"/>
            </a:solidFill>
            <a:prstDash val="solid"/>
          </a:ln>
        </p:spPr>
      </p:sp>
      <p:sp>
        <p:nvSpPr>
          <p:cNvPr id="11" name="Text 9"/>
          <p:cNvSpPr txBox="1"/>
          <p:nvPr/>
        </p:nvSpPr>
        <p:spPr>
          <a:xfrm>
            <a:off x="4892040" y="1481328"/>
            <a:ext cx="777240" cy="777240"/>
          </a:xfrm>
          <a:prstGeom prst="rect">
            <a:avLst/>
          </a:prstGeom>
          <a:noFill/>
          <a:ln/>
        </p:spPr>
        <p:txBody>
          <a:bodyPr wrap="square" lIns="0" tIns="0" rIns="0" bIns="0" rtlCol="0" anchor="ctr"/>
          <a:lstStyle/>
          <a:p>
            <a:pPr algn="ctr" indent="0" marL="0">
              <a:buNone/>
            </a:pPr>
            <a:r>
              <a:rPr lang="en-US" sz="2600" dirty="0">
                <a:solidFill>
                  <a:srgbClr val="F4C430"/>
                </a:solidFill>
                <a:latin typeface="Arial Black" pitchFamily="34" charset="0"/>
                <a:ea typeface="Arial Black" pitchFamily="34" charset="-122"/>
                <a:cs typeface="Arial Black" pitchFamily="34" charset="-120"/>
              </a:rPr>
              <a:t>02</a:t>
            </a:r>
            <a:endParaRPr lang="en-US" sz="2600" dirty="0"/>
          </a:p>
        </p:txBody>
      </p:sp>
      <p:sp>
        <p:nvSpPr>
          <p:cNvPr id="12" name="Text 10"/>
          <p:cNvSpPr txBox="1"/>
          <p:nvPr/>
        </p:nvSpPr>
        <p:spPr>
          <a:xfrm>
            <a:off x="5852160" y="1280160"/>
            <a:ext cx="2697480" cy="1188720"/>
          </a:xfrm>
          <a:prstGeom prst="rect">
            <a:avLst/>
          </a:prstGeom>
          <a:noFill/>
          <a:ln/>
        </p:spPr>
        <p:txBody>
          <a:bodyPr wrap="square" lIns="0" tIns="0" rIns="0" bIns="0" rtlCol="0" anchor="ctr"/>
          <a:lstStyle/>
          <a:p>
            <a:pPr indent="0" marL="0">
              <a:buNone/>
            </a:pPr>
            <a:r>
              <a:rPr lang="en-US" sz="2400" b="1" dirty="0">
                <a:solidFill>
                  <a:srgbClr val="2B2B2B"/>
                </a:solidFill>
              </a:rPr>
              <a:t>for loops</a:t>
            </a:r>
            <a:endParaRPr lang="en-US" sz="2400" dirty="0"/>
          </a:p>
          <a:p>
            <a:pPr indent="0" marL="0">
              <a:buNone/>
            </a:pPr>
            <a:r>
              <a:rPr lang="en-US" sz="1800" dirty="0">
                <a:solidFill>
                  <a:srgbClr val="5C4A12"/>
                </a:solidFill>
              </a:rPr>
              <a:t>All the counting on one line.</a:t>
            </a:r>
            <a:endParaRPr lang="en-US" sz="2400" dirty="0"/>
          </a:p>
        </p:txBody>
      </p:sp>
      <p:sp>
        <p:nvSpPr>
          <p:cNvPr id="13" name="Shape 11"/>
          <p:cNvSpPr/>
          <p:nvPr/>
        </p:nvSpPr>
        <p:spPr>
          <a:xfrm>
            <a:off x="475488" y="2990088"/>
            <a:ext cx="4023360" cy="1554480"/>
          </a:xfrm>
          <a:prstGeom prst="roundRect">
            <a:avLst>
              <a:gd name="adj" fmla="val 4706"/>
            </a:avLst>
          </a:prstGeom>
          <a:solidFill>
            <a:srgbClr val="2B2B2B"/>
          </a:solidFill>
          <a:ln w="12700">
            <a:solidFill>
              <a:srgbClr val="2B2B2B"/>
            </a:solidFill>
            <a:prstDash val="solid"/>
          </a:ln>
        </p:spPr>
      </p:sp>
      <p:sp>
        <p:nvSpPr>
          <p:cNvPr id="14" name="Shape 12"/>
          <p:cNvSpPr/>
          <p:nvPr/>
        </p:nvSpPr>
        <p:spPr>
          <a:xfrm>
            <a:off x="411480" y="2926080"/>
            <a:ext cx="4023360" cy="1554480"/>
          </a:xfrm>
          <a:prstGeom prst="roundRect">
            <a:avLst>
              <a:gd name="adj" fmla="val 4706"/>
            </a:avLst>
          </a:prstGeom>
          <a:solidFill>
            <a:srgbClr val="FFFFFF"/>
          </a:solidFill>
          <a:ln w="25400">
            <a:solidFill>
              <a:srgbClr val="2B2B2B"/>
            </a:solidFill>
            <a:prstDash val="solid"/>
          </a:ln>
        </p:spPr>
      </p:sp>
      <p:sp>
        <p:nvSpPr>
          <p:cNvPr id="15" name="Shape 13"/>
          <p:cNvSpPr/>
          <p:nvPr/>
        </p:nvSpPr>
        <p:spPr>
          <a:xfrm>
            <a:off x="640080" y="3310128"/>
            <a:ext cx="777240" cy="777240"/>
          </a:xfrm>
          <a:prstGeom prst="roundRect">
            <a:avLst>
              <a:gd name="adj" fmla="val 7059"/>
            </a:avLst>
          </a:prstGeom>
          <a:solidFill>
            <a:srgbClr val="2B2B2B"/>
          </a:solidFill>
          <a:ln w="12700">
            <a:solidFill>
              <a:srgbClr val="2B2B2B"/>
            </a:solidFill>
            <a:prstDash val="solid"/>
          </a:ln>
        </p:spPr>
      </p:sp>
      <p:sp>
        <p:nvSpPr>
          <p:cNvPr id="16" name="Text 14"/>
          <p:cNvSpPr txBox="1"/>
          <p:nvPr/>
        </p:nvSpPr>
        <p:spPr>
          <a:xfrm>
            <a:off x="640080" y="3310128"/>
            <a:ext cx="777240" cy="777240"/>
          </a:xfrm>
          <a:prstGeom prst="rect">
            <a:avLst/>
          </a:prstGeom>
          <a:noFill/>
          <a:ln/>
        </p:spPr>
        <p:txBody>
          <a:bodyPr wrap="square" lIns="0" tIns="0" rIns="0" bIns="0" rtlCol="0" anchor="ctr"/>
          <a:lstStyle/>
          <a:p>
            <a:pPr algn="ctr" indent="0" marL="0">
              <a:buNone/>
            </a:pPr>
            <a:r>
              <a:rPr lang="en-US" sz="2600" dirty="0">
                <a:solidFill>
                  <a:srgbClr val="F4C430"/>
                </a:solidFill>
                <a:latin typeface="Arial Black" pitchFamily="34" charset="0"/>
                <a:ea typeface="Arial Black" pitchFamily="34" charset="-122"/>
                <a:cs typeface="Arial Black" pitchFamily="34" charset="-120"/>
              </a:rPr>
              <a:t>03</a:t>
            </a:r>
            <a:endParaRPr lang="en-US" sz="2600" dirty="0"/>
          </a:p>
        </p:txBody>
      </p:sp>
      <p:sp>
        <p:nvSpPr>
          <p:cNvPr id="17" name="Text 15"/>
          <p:cNvSpPr txBox="1"/>
          <p:nvPr/>
        </p:nvSpPr>
        <p:spPr>
          <a:xfrm>
            <a:off x="1600200" y="3108960"/>
            <a:ext cx="2697480" cy="1188720"/>
          </a:xfrm>
          <a:prstGeom prst="rect">
            <a:avLst/>
          </a:prstGeom>
          <a:noFill/>
          <a:ln/>
        </p:spPr>
        <p:txBody>
          <a:bodyPr wrap="square" lIns="0" tIns="0" rIns="0" bIns="0" rtlCol="0" anchor="ctr"/>
          <a:lstStyle/>
          <a:p>
            <a:pPr indent="0" marL="0">
              <a:buNone/>
            </a:pPr>
            <a:r>
              <a:rPr lang="en-US" sz="2400" b="1" dirty="0">
                <a:solidFill>
                  <a:srgbClr val="2B2B2B"/>
                </a:solidFill>
              </a:rPr>
              <a:t>REPEAT n TIMES</a:t>
            </a:r>
            <a:endParaRPr lang="en-US" sz="2400" dirty="0"/>
          </a:p>
          <a:p>
            <a:pPr indent="0" marL="0">
              <a:buNone/>
            </a:pPr>
            <a:r>
              <a:rPr lang="en-US" sz="1800" dirty="0">
                <a:solidFill>
                  <a:srgbClr val="5C4A12"/>
                </a:solidFill>
              </a:rPr>
              <a:t>The exam’s for loop has no i.</a:t>
            </a:r>
            <a:endParaRPr lang="en-US" sz="2400" dirty="0"/>
          </a:p>
        </p:txBody>
      </p:sp>
      <p:sp>
        <p:nvSpPr>
          <p:cNvPr id="18" name="Shape 16"/>
          <p:cNvSpPr/>
          <p:nvPr/>
        </p:nvSpPr>
        <p:spPr>
          <a:xfrm>
            <a:off x="4727448" y="2990088"/>
            <a:ext cx="4023360" cy="1554480"/>
          </a:xfrm>
          <a:prstGeom prst="roundRect">
            <a:avLst>
              <a:gd name="adj" fmla="val 4706"/>
            </a:avLst>
          </a:prstGeom>
          <a:solidFill>
            <a:srgbClr val="2B2B2B"/>
          </a:solidFill>
          <a:ln w="12700">
            <a:solidFill>
              <a:srgbClr val="2B2B2B"/>
            </a:solidFill>
            <a:prstDash val="solid"/>
          </a:ln>
        </p:spPr>
      </p:sp>
      <p:sp>
        <p:nvSpPr>
          <p:cNvPr id="19" name="Shape 17"/>
          <p:cNvSpPr/>
          <p:nvPr/>
        </p:nvSpPr>
        <p:spPr>
          <a:xfrm>
            <a:off x="4663440" y="2926080"/>
            <a:ext cx="4023360" cy="1554480"/>
          </a:xfrm>
          <a:prstGeom prst="roundRect">
            <a:avLst>
              <a:gd name="adj" fmla="val 4706"/>
            </a:avLst>
          </a:prstGeom>
          <a:solidFill>
            <a:srgbClr val="FFFFFF"/>
          </a:solidFill>
          <a:ln w="25400">
            <a:solidFill>
              <a:srgbClr val="2B2B2B"/>
            </a:solidFill>
            <a:prstDash val="solid"/>
          </a:ln>
        </p:spPr>
      </p:sp>
      <p:sp>
        <p:nvSpPr>
          <p:cNvPr id="20" name="Shape 18"/>
          <p:cNvSpPr/>
          <p:nvPr/>
        </p:nvSpPr>
        <p:spPr>
          <a:xfrm>
            <a:off x="4892040" y="3310128"/>
            <a:ext cx="777240" cy="777240"/>
          </a:xfrm>
          <a:prstGeom prst="roundRect">
            <a:avLst>
              <a:gd name="adj" fmla="val 7059"/>
            </a:avLst>
          </a:prstGeom>
          <a:solidFill>
            <a:srgbClr val="2B2B2B"/>
          </a:solidFill>
          <a:ln w="12700">
            <a:solidFill>
              <a:srgbClr val="2B2B2B"/>
            </a:solidFill>
            <a:prstDash val="solid"/>
          </a:ln>
        </p:spPr>
      </p:sp>
      <p:sp>
        <p:nvSpPr>
          <p:cNvPr id="21" name="Text 19"/>
          <p:cNvSpPr txBox="1"/>
          <p:nvPr/>
        </p:nvSpPr>
        <p:spPr>
          <a:xfrm>
            <a:off x="4892040" y="3310128"/>
            <a:ext cx="777240" cy="777240"/>
          </a:xfrm>
          <a:prstGeom prst="rect">
            <a:avLst/>
          </a:prstGeom>
          <a:noFill/>
          <a:ln/>
        </p:spPr>
        <p:txBody>
          <a:bodyPr wrap="square" lIns="0" tIns="0" rIns="0" bIns="0" rtlCol="0" anchor="ctr"/>
          <a:lstStyle/>
          <a:p>
            <a:pPr algn="ctr" indent="0" marL="0">
              <a:buNone/>
            </a:pPr>
            <a:r>
              <a:rPr lang="en-US" sz="2600" dirty="0">
                <a:solidFill>
                  <a:srgbClr val="F4C430"/>
                </a:solidFill>
                <a:latin typeface="Arial Black" pitchFamily="34" charset="0"/>
                <a:ea typeface="Arial Black" pitchFamily="34" charset="-122"/>
                <a:cs typeface="Arial Black" pitchFamily="34" charset="-120"/>
              </a:rPr>
              <a:t>04</a:t>
            </a:r>
            <a:endParaRPr lang="en-US" sz="2600" dirty="0"/>
          </a:p>
        </p:txBody>
      </p:sp>
      <p:sp>
        <p:nvSpPr>
          <p:cNvPr id="22" name="Text 20"/>
          <p:cNvSpPr txBox="1"/>
          <p:nvPr/>
        </p:nvSpPr>
        <p:spPr>
          <a:xfrm>
            <a:off x="5852160" y="3108960"/>
            <a:ext cx="2697480" cy="1188720"/>
          </a:xfrm>
          <a:prstGeom prst="rect">
            <a:avLst/>
          </a:prstGeom>
          <a:noFill/>
          <a:ln/>
        </p:spPr>
        <p:txBody>
          <a:bodyPr wrap="square" lIns="0" tIns="0" rIns="0" bIns="0" rtlCol="0" anchor="ctr"/>
          <a:lstStyle/>
          <a:p>
            <a:pPr indent="0" marL="0">
              <a:buNone/>
            </a:pPr>
            <a:r>
              <a:rPr lang="en-US" sz="2400" b="1" dirty="0">
                <a:solidFill>
                  <a:srgbClr val="2B2B2B"/>
                </a:solidFill>
              </a:rPr>
              <a:t>Build</a:t>
            </a:r>
            <a:endParaRPr lang="en-US" sz="2400" dirty="0"/>
          </a:p>
          <a:p>
            <a:pPr indent="0" marL="0">
              <a:buNone/>
            </a:pPr>
            <a:r>
              <a:rPr lang="en-US" sz="1800" dirty="0">
                <a:solidFill>
                  <a:srgbClr val="5C4A12"/>
                </a:solidFill>
              </a:rPr>
              <a:t>The asteroid field, one TODO at a time.</a:t>
            </a:r>
            <a:endParaRPr lang="en-US" sz="24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252728" y="1298448"/>
            <a:ext cx="6766560" cy="2651760"/>
          </a:xfrm>
          <a:prstGeom prst="roundRect">
            <a:avLst>
              <a:gd name="adj" fmla="val 2759"/>
            </a:avLst>
          </a:prstGeom>
          <a:solidFill>
            <a:srgbClr val="2B2B2B"/>
          </a:solidFill>
          <a:ln w="12700">
            <a:solidFill>
              <a:srgbClr val="2B2B2B"/>
            </a:solidFill>
            <a:prstDash val="solid"/>
          </a:ln>
        </p:spPr>
      </p:sp>
      <p:sp>
        <p:nvSpPr>
          <p:cNvPr id="3" name="Shape 1"/>
          <p:cNvSpPr/>
          <p:nvPr/>
        </p:nvSpPr>
        <p:spPr>
          <a:xfrm>
            <a:off x="1188720" y="1234440"/>
            <a:ext cx="6766560" cy="2651760"/>
          </a:xfrm>
          <a:prstGeom prst="roundRect">
            <a:avLst>
              <a:gd name="adj" fmla="val 2759"/>
            </a:avLst>
          </a:prstGeom>
          <a:solidFill>
            <a:srgbClr val="FFFFFF"/>
          </a:solidFill>
          <a:ln w="25400">
            <a:solidFill>
              <a:srgbClr val="2B2B2B"/>
            </a:solidFill>
            <a:prstDash val="solid"/>
          </a:ln>
        </p:spPr>
      </p:sp>
      <p:sp>
        <p:nvSpPr>
          <p:cNvPr id="4" name="Shape 2"/>
          <p:cNvSpPr/>
          <p:nvPr/>
        </p:nvSpPr>
        <p:spPr>
          <a:xfrm>
            <a:off x="1600200" y="1874520"/>
            <a:ext cx="1371600" cy="1371600"/>
          </a:xfrm>
          <a:prstGeom prst="roundRect">
            <a:avLst>
              <a:gd name="adj" fmla="val 4000"/>
            </a:avLst>
          </a:prstGeom>
          <a:solidFill>
            <a:srgbClr val="2B2B2B"/>
          </a:solidFill>
          <a:ln w="12700">
            <a:solidFill>
              <a:srgbClr val="2B2B2B"/>
            </a:solidFill>
            <a:prstDash val="solid"/>
          </a:ln>
        </p:spPr>
      </p:sp>
      <p:sp>
        <p:nvSpPr>
          <p:cNvPr id="5" name="Text 3"/>
          <p:cNvSpPr txBox="1"/>
          <p:nvPr/>
        </p:nvSpPr>
        <p:spPr>
          <a:xfrm>
            <a:off x="1600200" y="1874520"/>
            <a:ext cx="1371600" cy="1371600"/>
          </a:xfrm>
          <a:prstGeom prst="rect">
            <a:avLst/>
          </a:prstGeom>
          <a:noFill/>
          <a:ln/>
        </p:spPr>
        <p:txBody>
          <a:bodyPr wrap="square" lIns="0" tIns="0" rIns="0" bIns="0" rtlCol="0" anchor="ctr"/>
          <a:lstStyle/>
          <a:p>
            <a:pPr algn="ctr" indent="0" marL="0">
              <a:buNone/>
            </a:pPr>
            <a:r>
              <a:rPr lang="en-US" sz="4800" dirty="0">
                <a:solidFill>
                  <a:srgbClr val="F4C430"/>
                </a:solidFill>
                <a:latin typeface="Arial Black" pitchFamily="34" charset="0"/>
                <a:ea typeface="Arial Black" pitchFamily="34" charset="-122"/>
                <a:cs typeface="Arial Black" pitchFamily="34" charset="-120"/>
              </a:rPr>
              <a:t>01</a:t>
            </a:r>
            <a:endParaRPr lang="en-US" sz="4800" dirty="0"/>
          </a:p>
        </p:txBody>
      </p:sp>
      <p:sp>
        <p:nvSpPr>
          <p:cNvPr id="6" name="Text 4"/>
          <p:cNvSpPr txBox="1"/>
          <p:nvPr/>
        </p:nvSpPr>
        <p:spPr>
          <a:xfrm>
            <a:off x="3246120" y="1645920"/>
            <a:ext cx="4480560" cy="822960"/>
          </a:xfrm>
          <a:prstGeom prst="rect">
            <a:avLst/>
          </a:prstGeom>
          <a:noFill/>
          <a:ln/>
        </p:spPr>
        <p:txBody>
          <a:bodyPr wrap="square" lIns="0" tIns="0" rIns="0" bIns="0" rtlCol="0" anchor="b"/>
          <a:lstStyle/>
          <a:p>
            <a:pPr indent="0" marL="0">
              <a:buNone/>
            </a:pPr>
            <a:r>
              <a:rPr lang="en-US" sz="3200" dirty="0">
                <a:solidFill>
                  <a:srgbClr val="2B2B2B"/>
                </a:solidFill>
                <a:latin typeface="Arial Black" pitchFamily="34" charset="0"/>
                <a:ea typeface="Arial Black" pitchFamily="34" charset="-122"/>
                <a:cs typeface="Arial Black" pitchFamily="34" charset="-120"/>
              </a:rPr>
              <a:t>Count it yourself</a:t>
            </a:r>
            <a:endParaRPr lang="en-US" sz="3200" dirty="0"/>
          </a:p>
        </p:txBody>
      </p:sp>
      <p:sp>
        <p:nvSpPr>
          <p:cNvPr id="7" name="Text 5"/>
          <p:cNvSpPr txBox="1"/>
          <p:nvPr/>
        </p:nvSpPr>
        <p:spPr>
          <a:xfrm>
            <a:off x="3246120" y="2560320"/>
            <a:ext cx="4480560" cy="914400"/>
          </a:xfrm>
          <a:prstGeom prst="rect">
            <a:avLst/>
          </a:prstGeom>
          <a:noFill/>
          <a:ln/>
        </p:spPr>
        <p:txBody>
          <a:bodyPr wrap="square" lIns="0" tIns="0" rIns="0" bIns="0" rtlCol="0" anchor="t"/>
          <a:lstStyle/>
          <a:p>
            <a:pPr indent="0" marL="0">
              <a:buNone/>
            </a:pPr>
            <a:r>
              <a:rPr lang="en-US" sz="2200" dirty="0">
                <a:solidFill>
                  <a:srgbClr val="5C4A12"/>
                </a:solidFill>
                <a:latin typeface="Calibri" pitchFamily="34" charset="0"/>
                <a:ea typeface="Calibri" pitchFamily="34" charset="-122"/>
                <a:cs typeface="Calibri" pitchFamily="34" charset="-120"/>
              </a:rPr>
              <a:t>Yesterday every loop kept its own count.</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Yesterday’s snowfall</a:t>
            </a:r>
            <a:endParaRPr lang="en-US" sz="3200" dirty="0"/>
          </a:p>
        </p:txBody>
      </p:sp>
      <p:sp>
        <p:nvSpPr>
          <p:cNvPr id="3" name="Shape 1"/>
          <p:cNvSpPr/>
          <p:nvPr/>
        </p:nvSpPr>
        <p:spPr>
          <a:xfrm>
            <a:off x="475488" y="1115568"/>
            <a:ext cx="8321040" cy="1965960"/>
          </a:xfrm>
          <a:prstGeom prst="roundRect">
            <a:avLst>
              <a:gd name="adj" fmla="val 2791"/>
            </a:avLst>
          </a:prstGeom>
          <a:solidFill>
            <a:srgbClr val="2B2B2B"/>
          </a:solidFill>
          <a:ln w="12700">
            <a:solidFill>
              <a:srgbClr val="2B2B2B"/>
            </a:solidFill>
            <a:prstDash val="solid"/>
          </a:ln>
        </p:spPr>
      </p:sp>
      <p:sp>
        <p:nvSpPr>
          <p:cNvPr id="4" name="Shape 2"/>
          <p:cNvSpPr/>
          <p:nvPr/>
        </p:nvSpPr>
        <p:spPr>
          <a:xfrm>
            <a:off x="411480" y="1051560"/>
            <a:ext cx="8321040" cy="1965960"/>
          </a:xfrm>
          <a:prstGeom prst="roundRect">
            <a:avLst>
              <a:gd name="adj" fmla="val 2791"/>
            </a:avLst>
          </a:prstGeom>
          <a:solidFill>
            <a:srgbClr val="1E1E1E"/>
          </a:solidFill>
          <a:ln w="25400">
            <a:solidFill>
              <a:srgbClr val="2B2B2B"/>
            </a:solidFill>
            <a:prstDash val="solid"/>
          </a:ln>
        </p:spPr>
      </p:sp>
      <p:sp>
        <p:nvSpPr>
          <p:cNvPr id="5" name="Text 3"/>
          <p:cNvSpPr txBox="1"/>
          <p:nvPr/>
        </p:nvSpPr>
        <p:spPr>
          <a:xfrm>
            <a:off x="576072" y="1124712"/>
            <a:ext cx="8046720" cy="1819656"/>
          </a:xfrm>
          <a:prstGeom prst="rect">
            <a:avLst/>
          </a:prstGeom>
          <a:noFill/>
          <a:ln/>
        </p:spPr>
        <p:txBody>
          <a:bodyPr wrap="square" lIns="0" tIns="0" rIns="0" bIns="0" rtlCol="0" anchor="t"/>
          <a:lstStyle/>
          <a:p>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flakes</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0</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endParaRPr lang="en-US" sz="2200" dirty="0"/>
          </a:p>
          <a:p>
            <a:pPr indent="0" marL="0">
              <a:lnSpc>
                <a:spcPct val="105000"/>
              </a:lnSpc>
              <a:buNone/>
            </a:pPr>
            <a:r>
              <a:rPr lang="en-US" sz="2200" dirty="0">
                <a:solidFill>
                  <a:srgbClr val="C586C0"/>
                </a:solidFill>
                <a:latin typeface="Courier New" pitchFamily="34" charset="0"/>
                <a:ea typeface="Courier New" pitchFamily="34" charset="-122"/>
                <a:cs typeface="Courier New" pitchFamily="34" charset="-120"/>
              </a:rPr>
              <a:t>while</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flakes</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&lt; </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150</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endParaRPr lang="en-US" sz="2200" dirty="0"/>
          </a:p>
          <a:p>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DCDCAA"/>
                </a:solidFill>
                <a:latin typeface="Courier New" pitchFamily="34" charset="0"/>
                <a:ea typeface="Courier New" pitchFamily="34" charset="-122"/>
                <a:cs typeface="Courier New" pitchFamily="34" charset="-120"/>
              </a:rPr>
              <a:t>circle</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2200" dirty="0">
                <a:solidFill>
                  <a:srgbClr val="DCDCAA"/>
                </a:solidFill>
                <a:latin typeface="Courier New" pitchFamily="34" charset="0"/>
                <a:ea typeface="Courier New" pitchFamily="34" charset="-122"/>
                <a:cs typeface="Courier New" pitchFamily="34" charset="-120"/>
              </a:rPr>
              <a:t>random</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width</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DCDCAA"/>
                </a:solidFill>
                <a:latin typeface="Courier New" pitchFamily="34" charset="0"/>
                <a:ea typeface="Courier New" pitchFamily="34" charset="-122"/>
                <a:cs typeface="Courier New" pitchFamily="34" charset="-120"/>
              </a:rPr>
              <a:t>random</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500</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4</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endParaRPr lang="en-US" sz="2200" dirty="0"/>
          </a:p>
          <a:p>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flakes</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flakes</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1</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endParaRPr lang="en-US" sz="2200" dirty="0"/>
          </a:p>
          <a:p>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endParaRPr lang="en-US" sz="2200" dirty="0"/>
          </a:p>
        </p:txBody>
      </p:sp>
      <p:sp>
        <p:nvSpPr>
          <p:cNvPr id="6" name="Shape 4"/>
          <p:cNvSpPr/>
          <p:nvPr/>
        </p:nvSpPr>
        <p:spPr>
          <a:xfrm>
            <a:off x="475488" y="3355848"/>
            <a:ext cx="4023360" cy="1325880"/>
          </a:xfrm>
          <a:prstGeom prst="roundRect">
            <a:avLst>
              <a:gd name="adj" fmla="val 5517"/>
            </a:avLst>
          </a:prstGeom>
          <a:solidFill>
            <a:srgbClr val="2B2B2B"/>
          </a:solidFill>
          <a:ln w="12700">
            <a:solidFill>
              <a:srgbClr val="2B2B2B"/>
            </a:solidFill>
            <a:prstDash val="solid"/>
          </a:ln>
        </p:spPr>
      </p:sp>
      <p:sp>
        <p:nvSpPr>
          <p:cNvPr id="7" name="Shape 5"/>
          <p:cNvSpPr/>
          <p:nvPr/>
        </p:nvSpPr>
        <p:spPr>
          <a:xfrm>
            <a:off x="411480" y="3291840"/>
            <a:ext cx="4023360" cy="1325880"/>
          </a:xfrm>
          <a:prstGeom prst="roundRect">
            <a:avLst>
              <a:gd name="adj" fmla="val 5517"/>
            </a:avLst>
          </a:prstGeom>
          <a:solidFill>
            <a:srgbClr val="FFFFFF"/>
          </a:solidFill>
          <a:ln w="25400">
            <a:solidFill>
              <a:srgbClr val="2B2B2B"/>
            </a:solidFill>
            <a:prstDash val="solid"/>
          </a:ln>
        </p:spPr>
      </p:sp>
      <p:sp>
        <p:nvSpPr>
          <p:cNvPr id="8" name="Text 6"/>
          <p:cNvSpPr txBox="1"/>
          <p:nvPr/>
        </p:nvSpPr>
        <p:spPr>
          <a:xfrm>
            <a:off x="576072" y="3383280"/>
            <a:ext cx="3694176" cy="1143000"/>
          </a:xfrm>
          <a:prstGeom prst="rect">
            <a:avLst/>
          </a:prstGeom>
          <a:noFill/>
          <a:ln/>
        </p:spPr>
        <p:txBody>
          <a:bodyPr wrap="square" lIns="0" tIns="0" rIns="0" bIns="0" rtlCol="0" anchor="t"/>
          <a:lstStyle/>
          <a:p>
            <a:pPr indent="0" marL="0">
              <a:spcAft>
                <a:spcPts val="400"/>
              </a:spcAft>
              <a:buNone/>
            </a:pPr>
            <a:r>
              <a:rPr lang="en-US" sz="1600" b="1" dirty="0">
                <a:solidFill>
                  <a:srgbClr val="5C4A12"/>
                </a:solidFill>
                <a:latin typeface="Courier New" pitchFamily="34" charset="0"/>
                <a:ea typeface="Courier New" pitchFamily="34" charset="-122"/>
                <a:cs typeface="Courier New" pitchFamily="34" charset="-120"/>
              </a:rPr>
              <a:t>QUESTION 1</a:t>
            </a:r>
            <a:endParaRPr lang="en-US" sz="1600" dirty="0"/>
          </a:p>
          <a:p>
            <a:pPr indent="0" marL="0">
              <a:spcAft>
                <a:spcPts val="600"/>
              </a:spcAft>
              <a:buNone/>
            </a:pPr>
            <a:r>
              <a:rPr lang="en-US" sz="2400" dirty="0">
                <a:solidFill>
                  <a:srgbClr val="2B2B2B"/>
                </a:solidFill>
                <a:latin typeface="Calibri" pitchFamily="34" charset="0"/>
                <a:ea typeface="Calibri" pitchFamily="34" charset="-122"/>
                <a:cs typeface="Calibri" pitchFamily="34" charset="-120"/>
              </a:rPr>
              <a:t>Which </a:t>
            </a:r>
            <a:pPr indent="0" marL="0">
              <a:spcAft>
                <a:spcPts val="600"/>
              </a:spcAft>
              <a:buNone/>
            </a:pPr>
            <a:r>
              <a:rPr lang="en-US" sz="2400" b="1" dirty="0">
                <a:solidFill>
                  <a:srgbClr val="2B2B2B"/>
                </a:solidFill>
                <a:latin typeface="Calibri" pitchFamily="34" charset="0"/>
                <a:ea typeface="Calibri" pitchFamily="34" charset="-122"/>
                <a:cs typeface="Calibri" pitchFamily="34" charset="-120"/>
              </a:rPr>
              <a:t>three</a:t>
            </a:r>
            <a:pPr indent="0" marL="0">
              <a:spcAft>
                <a:spcPts val="600"/>
              </a:spcAft>
              <a:buNone/>
            </a:pPr>
            <a:r>
              <a:rPr lang="en-US" sz="2400" dirty="0">
                <a:solidFill>
                  <a:srgbClr val="2B2B2B"/>
                </a:solidFill>
                <a:latin typeface="Calibri" pitchFamily="34" charset="0"/>
                <a:ea typeface="Calibri" pitchFamily="34" charset="-122"/>
                <a:cs typeface="Calibri" pitchFamily="34" charset="-120"/>
              </a:rPr>
              <a:t> lines are only there to count?</a:t>
            </a:r>
            <a:endParaRPr lang="en-US" sz="1600" dirty="0"/>
          </a:p>
        </p:txBody>
      </p:sp>
      <p:sp>
        <p:nvSpPr>
          <p:cNvPr id="9" name="Shape 7"/>
          <p:cNvSpPr/>
          <p:nvPr/>
        </p:nvSpPr>
        <p:spPr>
          <a:xfrm>
            <a:off x="4773168" y="3355848"/>
            <a:ext cx="4023360" cy="1325880"/>
          </a:xfrm>
          <a:prstGeom prst="roundRect">
            <a:avLst>
              <a:gd name="adj" fmla="val 5517"/>
            </a:avLst>
          </a:prstGeom>
          <a:solidFill>
            <a:srgbClr val="2B2B2B"/>
          </a:solidFill>
          <a:ln w="12700">
            <a:solidFill>
              <a:srgbClr val="2B2B2B"/>
            </a:solidFill>
            <a:prstDash val="solid"/>
          </a:ln>
        </p:spPr>
      </p:sp>
      <p:sp>
        <p:nvSpPr>
          <p:cNvPr id="10" name="Shape 8"/>
          <p:cNvSpPr/>
          <p:nvPr/>
        </p:nvSpPr>
        <p:spPr>
          <a:xfrm>
            <a:off x="4709160" y="3291840"/>
            <a:ext cx="4023360" cy="1325880"/>
          </a:xfrm>
          <a:prstGeom prst="roundRect">
            <a:avLst>
              <a:gd name="adj" fmla="val 5517"/>
            </a:avLst>
          </a:prstGeom>
          <a:solidFill>
            <a:srgbClr val="FFFFFF"/>
          </a:solidFill>
          <a:ln w="25400">
            <a:solidFill>
              <a:srgbClr val="2B2B2B"/>
            </a:solidFill>
            <a:prstDash val="solid"/>
          </a:ln>
        </p:spPr>
      </p:sp>
      <p:sp>
        <p:nvSpPr>
          <p:cNvPr id="11" name="Text 9"/>
          <p:cNvSpPr txBox="1"/>
          <p:nvPr/>
        </p:nvSpPr>
        <p:spPr>
          <a:xfrm>
            <a:off x="4873752" y="3383280"/>
            <a:ext cx="3694176" cy="1143000"/>
          </a:xfrm>
          <a:prstGeom prst="rect">
            <a:avLst/>
          </a:prstGeom>
          <a:noFill/>
          <a:ln/>
        </p:spPr>
        <p:txBody>
          <a:bodyPr wrap="square" lIns="0" tIns="0" rIns="0" bIns="0" rtlCol="0" anchor="t"/>
          <a:lstStyle/>
          <a:p>
            <a:pPr indent="0" marL="0">
              <a:spcAft>
                <a:spcPts val="400"/>
              </a:spcAft>
              <a:buNone/>
            </a:pPr>
            <a:r>
              <a:rPr lang="en-US" sz="1600" b="1" dirty="0">
                <a:solidFill>
                  <a:srgbClr val="5C4A12"/>
                </a:solidFill>
                <a:latin typeface="Courier New" pitchFamily="34" charset="0"/>
                <a:ea typeface="Courier New" pitchFamily="34" charset="-122"/>
                <a:cs typeface="Courier New" pitchFamily="34" charset="-120"/>
              </a:rPr>
              <a:t>QUESTION 2</a:t>
            </a:r>
            <a:endParaRPr lang="en-US" sz="1600" dirty="0"/>
          </a:p>
          <a:p>
            <a:pPr indent="0" marL="0">
              <a:spcAft>
                <a:spcPts val="600"/>
              </a:spcAft>
              <a:buNone/>
            </a:pPr>
            <a:r>
              <a:rPr lang="en-US" sz="2400" dirty="0">
                <a:solidFill>
                  <a:srgbClr val="2B2B2B"/>
                </a:solidFill>
                <a:latin typeface="Calibri" pitchFamily="34" charset="0"/>
                <a:ea typeface="Calibri" pitchFamily="34" charset="-122"/>
                <a:cs typeface="Calibri" pitchFamily="34" charset="-120"/>
              </a:rPr>
              <a:t>Which </a:t>
            </a:r>
            <a:pPr indent="0" marL="0">
              <a:spcAft>
                <a:spcPts val="600"/>
              </a:spcAft>
              <a:buNone/>
            </a:pPr>
            <a:r>
              <a:rPr lang="en-US" sz="2400" b="1" dirty="0">
                <a:solidFill>
                  <a:srgbClr val="2B2B2B"/>
                </a:solidFill>
                <a:latin typeface="Calibri" pitchFamily="34" charset="0"/>
                <a:ea typeface="Calibri" pitchFamily="34" charset="-122"/>
                <a:cs typeface="Calibri" pitchFamily="34" charset="-120"/>
              </a:rPr>
              <a:t>one</a:t>
            </a:r>
            <a:pPr indent="0" marL="0">
              <a:spcAft>
                <a:spcPts val="600"/>
              </a:spcAft>
              <a:buNone/>
            </a:pPr>
            <a:r>
              <a:rPr lang="en-US" sz="2400" dirty="0">
                <a:solidFill>
                  <a:srgbClr val="2B2B2B"/>
                </a:solidFill>
                <a:latin typeface="Calibri" pitchFamily="34" charset="0"/>
                <a:ea typeface="Calibri" pitchFamily="34" charset="-122"/>
                <a:cs typeface="Calibri" pitchFamily="34" charset="-120"/>
              </a:rPr>
              <a:t> line does the actual work?</a:t>
            </a:r>
            <a:endParaRPr lang="en-US" sz="16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252728" y="1298448"/>
            <a:ext cx="6766560" cy="2651760"/>
          </a:xfrm>
          <a:prstGeom prst="roundRect">
            <a:avLst>
              <a:gd name="adj" fmla="val 2759"/>
            </a:avLst>
          </a:prstGeom>
          <a:solidFill>
            <a:srgbClr val="2B2B2B"/>
          </a:solidFill>
          <a:ln w="12700">
            <a:solidFill>
              <a:srgbClr val="2B2B2B"/>
            </a:solidFill>
            <a:prstDash val="solid"/>
          </a:ln>
        </p:spPr>
      </p:sp>
      <p:sp>
        <p:nvSpPr>
          <p:cNvPr id="3" name="Shape 1"/>
          <p:cNvSpPr/>
          <p:nvPr/>
        </p:nvSpPr>
        <p:spPr>
          <a:xfrm>
            <a:off x="1188720" y="1234440"/>
            <a:ext cx="6766560" cy="2651760"/>
          </a:xfrm>
          <a:prstGeom prst="roundRect">
            <a:avLst>
              <a:gd name="adj" fmla="val 2759"/>
            </a:avLst>
          </a:prstGeom>
          <a:solidFill>
            <a:srgbClr val="FFFFFF"/>
          </a:solidFill>
          <a:ln w="25400">
            <a:solidFill>
              <a:srgbClr val="2B2B2B"/>
            </a:solidFill>
            <a:prstDash val="solid"/>
          </a:ln>
        </p:spPr>
      </p:sp>
      <p:sp>
        <p:nvSpPr>
          <p:cNvPr id="4" name="Shape 2"/>
          <p:cNvSpPr/>
          <p:nvPr/>
        </p:nvSpPr>
        <p:spPr>
          <a:xfrm>
            <a:off x="1600200" y="1874520"/>
            <a:ext cx="1371600" cy="1371600"/>
          </a:xfrm>
          <a:prstGeom prst="roundRect">
            <a:avLst>
              <a:gd name="adj" fmla="val 4000"/>
            </a:avLst>
          </a:prstGeom>
          <a:solidFill>
            <a:srgbClr val="2B2B2B"/>
          </a:solidFill>
          <a:ln w="12700">
            <a:solidFill>
              <a:srgbClr val="2B2B2B"/>
            </a:solidFill>
            <a:prstDash val="solid"/>
          </a:ln>
        </p:spPr>
      </p:sp>
      <p:sp>
        <p:nvSpPr>
          <p:cNvPr id="5" name="Text 3"/>
          <p:cNvSpPr txBox="1"/>
          <p:nvPr/>
        </p:nvSpPr>
        <p:spPr>
          <a:xfrm>
            <a:off x="1600200" y="1874520"/>
            <a:ext cx="1371600" cy="1371600"/>
          </a:xfrm>
          <a:prstGeom prst="rect">
            <a:avLst/>
          </a:prstGeom>
          <a:noFill/>
          <a:ln/>
        </p:spPr>
        <p:txBody>
          <a:bodyPr wrap="square" lIns="0" tIns="0" rIns="0" bIns="0" rtlCol="0" anchor="ctr"/>
          <a:lstStyle/>
          <a:p>
            <a:pPr algn="ctr" indent="0" marL="0">
              <a:buNone/>
            </a:pPr>
            <a:r>
              <a:rPr lang="en-US" sz="4800" dirty="0">
                <a:solidFill>
                  <a:srgbClr val="F4C430"/>
                </a:solidFill>
                <a:latin typeface="Arial Black" pitchFamily="34" charset="0"/>
                <a:ea typeface="Arial Black" pitchFamily="34" charset="-122"/>
                <a:cs typeface="Arial Black" pitchFamily="34" charset="-120"/>
              </a:rPr>
              <a:t>02</a:t>
            </a:r>
            <a:endParaRPr lang="en-US" sz="4800" dirty="0"/>
          </a:p>
        </p:txBody>
      </p:sp>
      <p:sp>
        <p:nvSpPr>
          <p:cNvPr id="6" name="Text 4"/>
          <p:cNvSpPr txBox="1"/>
          <p:nvPr/>
        </p:nvSpPr>
        <p:spPr>
          <a:xfrm>
            <a:off x="3246120" y="1645920"/>
            <a:ext cx="4480560" cy="822960"/>
          </a:xfrm>
          <a:prstGeom prst="rect">
            <a:avLst/>
          </a:prstGeom>
          <a:noFill/>
          <a:ln/>
        </p:spPr>
        <p:txBody>
          <a:bodyPr wrap="square" lIns="0" tIns="0" rIns="0" bIns="0" rtlCol="0" anchor="b"/>
          <a:lstStyle/>
          <a:p>
            <a:pPr indent="0" marL="0">
              <a:buNone/>
            </a:pPr>
            <a:r>
              <a:rPr lang="en-US" sz="3200" dirty="0">
                <a:solidFill>
                  <a:srgbClr val="2B2B2B"/>
                </a:solidFill>
                <a:latin typeface="Arial Black" pitchFamily="34" charset="0"/>
                <a:ea typeface="Arial Black" pitchFamily="34" charset="-122"/>
                <a:cs typeface="Arial Black" pitchFamily="34" charset="-120"/>
              </a:rPr>
              <a:t>for loops</a:t>
            </a:r>
            <a:endParaRPr lang="en-US" sz="3200" dirty="0"/>
          </a:p>
        </p:txBody>
      </p:sp>
      <p:sp>
        <p:nvSpPr>
          <p:cNvPr id="7" name="Text 5"/>
          <p:cNvSpPr txBox="1"/>
          <p:nvPr/>
        </p:nvSpPr>
        <p:spPr>
          <a:xfrm>
            <a:off x="3246120" y="2560320"/>
            <a:ext cx="4480560" cy="914400"/>
          </a:xfrm>
          <a:prstGeom prst="rect">
            <a:avLst/>
          </a:prstGeom>
          <a:noFill/>
          <a:ln/>
        </p:spPr>
        <p:txBody>
          <a:bodyPr wrap="square" lIns="0" tIns="0" rIns="0" bIns="0" rtlCol="0" anchor="t"/>
          <a:lstStyle/>
          <a:p>
            <a:pPr indent="0" marL="0">
              <a:buNone/>
            </a:pPr>
            <a:r>
              <a:rPr lang="en-US" sz="2200" dirty="0">
                <a:solidFill>
                  <a:srgbClr val="5C4A12"/>
                </a:solidFill>
                <a:latin typeface="Calibri" pitchFamily="34" charset="0"/>
                <a:ea typeface="Calibri" pitchFamily="34" charset="-122"/>
                <a:cs typeface="Calibri" pitchFamily="34" charset="-120"/>
              </a:rPr>
              <a:t>All the counting on one line.</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A for loop: three jobs, one line</a:t>
            </a:r>
            <a:endParaRPr lang="en-US" sz="3200" dirty="0"/>
          </a:p>
        </p:txBody>
      </p:sp>
      <p:sp>
        <p:nvSpPr>
          <p:cNvPr id="3" name="Shape 1"/>
          <p:cNvSpPr/>
          <p:nvPr/>
        </p:nvSpPr>
        <p:spPr>
          <a:xfrm>
            <a:off x="475488" y="1115568"/>
            <a:ext cx="8321040" cy="1280160"/>
          </a:xfrm>
          <a:prstGeom prst="roundRect">
            <a:avLst>
              <a:gd name="adj" fmla="val 4286"/>
            </a:avLst>
          </a:prstGeom>
          <a:solidFill>
            <a:srgbClr val="2B2B2B"/>
          </a:solidFill>
          <a:ln w="12700">
            <a:solidFill>
              <a:srgbClr val="2B2B2B"/>
            </a:solidFill>
            <a:prstDash val="solid"/>
          </a:ln>
        </p:spPr>
      </p:sp>
      <p:sp>
        <p:nvSpPr>
          <p:cNvPr id="4" name="Shape 2"/>
          <p:cNvSpPr/>
          <p:nvPr/>
        </p:nvSpPr>
        <p:spPr>
          <a:xfrm>
            <a:off x="411480" y="1051560"/>
            <a:ext cx="8321040" cy="1280160"/>
          </a:xfrm>
          <a:prstGeom prst="roundRect">
            <a:avLst>
              <a:gd name="adj" fmla="val 4286"/>
            </a:avLst>
          </a:prstGeom>
          <a:solidFill>
            <a:srgbClr val="1E1E1E"/>
          </a:solidFill>
          <a:ln w="25400">
            <a:solidFill>
              <a:srgbClr val="2B2B2B"/>
            </a:solidFill>
            <a:prstDash val="solid"/>
          </a:ln>
        </p:spPr>
      </p:sp>
      <p:sp>
        <p:nvSpPr>
          <p:cNvPr id="5" name="Text 3"/>
          <p:cNvSpPr txBox="1"/>
          <p:nvPr/>
        </p:nvSpPr>
        <p:spPr>
          <a:xfrm>
            <a:off x="576072" y="1124712"/>
            <a:ext cx="8046720" cy="1133856"/>
          </a:xfrm>
          <a:prstGeom prst="rect">
            <a:avLst/>
          </a:prstGeom>
          <a:noFill/>
          <a:ln/>
        </p:spPr>
        <p:txBody>
          <a:bodyPr wrap="square" lIns="0" tIns="0" rIns="0" bIns="0" rtlCol="0" anchor="t"/>
          <a:lstStyle/>
          <a:p>
            <a:pPr indent="0" marL="0">
              <a:lnSpc>
                <a:spcPct val="105000"/>
              </a:lnSpc>
              <a:buNone/>
            </a:pPr>
            <a:r>
              <a:rPr lang="en-US" sz="2200" dirty="0">
                <a:solidFill>
                  <a:srgbClr val="C586C0"/>
                </a:solidFill>
                <a:latin typeface="Courier New" pitchFamily="34" charset="0"/>
                <a:ea typeface="Courier New" pitchFamily="34" charset="-122"/>
                <a:cs typeface="Courier New" pitchFamily="34" charset="-120"/>
              </a:rPr>
              <a:t>for</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0</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&lt; </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150</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1</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endParaRPr lang="en-US" sz="2200" dirty="0"/>
          </a:p>
          <a:p>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DCDCAA"/>
                </a:solidFill>
                <a:latin typeface="Courier New" pitchFamily="34" charset="0"/>
                <a:ea typeface="Courier New" pitchFamily="34" charset="-122"/>
                <a:cs typeface="Courier New" pitchFamily="34" charset="-120"/>
              </a:rPr>
              <a:t>circle</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2200" dirty="0">
                <a:solidFill>
                  <a:srgbClr val="DCDCAA"/>
                </a:solidFill>
                <a:latin typeface="Courier New" pitchFamily="34" charset="0"/>
                <a:ea typeface="Courier New" pitchFamily="34" charset="-122"/>
                <a:cs typeface="Courier New" pitchFamily="34" charset="-120"/>
              </a:rPr>
              <a:t>random</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width</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DCDCAA"/>
                </a:solidFill>
                <a:latin typeface="Courier New" pitchFamily="34" charset="0"/>
                <a:ea typeface="Courier New" pitchFamily="34" charset="-122"/>
                <a:cs typeface="Courier New" pitchFamily="34" charset="-120"/>
              </a:rPr>
              <a:t>random</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500</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4</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endParaRPr lang="en-US" sz="2200" dirty="0"/>
          </a:p>
          <a:p>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endParaRPr lang="en-US" sz="2200" dirty="0"/>
          </a:p>
        </p:txBody>
      </p:sp>
      <p:sp>
        <p:nvSpPr>
          <p:cNvPr id="6" name="Shape 4"/>
          <p:cNvSpPr/>
          <p:nvPr/>
        </p:nvSpPr>
        <p:spPr>
          <a:xfrm>
            <a:off x="475488" y="2670048"/>
            <a:ext cx="2651760" cy="1417320"/>
          </a:xfrm>
          <a:prstGeom prst="roundRect">
            <a:avLst>
              <a:gd name="adj" fmla="val 5161"/>
            </a:avLst>
          </a:prstGeom>
          <a:solidFill>
            <a:srgbClr val="2B2B2B"/>
          </a:solidFill>
          <a:ln w="12700">
            <a:solidFill>
              <a:srgbClr val="2B2B2B"/>
            </a:solidFill>
            <a:prstDash val="solid"/>
          </a:ln>
        </p:spPr>
      </p:sp>
      <p:sp>
        <p:nvSpPr>
          <p:cNvPr id="7" name="Shape 5"/>
          <p:cNvSpPr/>
          <p:nvPr/>
        </p:nvSpPr>
        <p:spPr>
          <a:xfrm>
            <a:off x="411480" y="2606040"/>
            <a:ext cx="2651760" cy="1417320"/>
          </a:xfrm>
          <a:prstGeom prst="roundRect">
            <a:avLst>
              <a:gd name="adj" fmla="val 5161"/>
            </a:avLst>
          </a:prstGeom>
          <a:solidFill>
            <a:srgbClr val="FFFFFF"/>
          </a:solidFill>
          <a:ln w="25400">
            <a:solidFill>
              <a:srgbClr val="2B2B2B"/>
            </a:solidFill>
            <a:prstDash val="solid"/>
          </a:ln>
        </p:spPr>
      </p:sp>
      <p:sp>
        <p:nvSpPr>
          <p:cNvPr id="8" name="Text 6"/>
          <p:cNvSpPr txBox="1"/>
          <p:nvPr/>
        </p:nvSpPr>
        <p:spPr>
          <a:xfrm>
            <a:off x="576072" y="2697480"/>
            <a:ext cx="2322576" cy="1234440"/>
          </a:xfrm>
          <a:prstGeom prst="rect">
            <a:avLst/>
          </a:prstGeom>
          <a:noFill/>
          <a:ln/>
        </p:spPr>
        <p:txBody>
          <a:bodyPr wrap="square" lIns="0" tIns="0" rIns="0" bIns="0" rtlCol="0" anchor="t"/>
          <a:lstStyle/>
          <a:p>
            <a:pPr indent="0" marL="0">
              <a:spcAft>
                <a:spcPts val="600"/>
              </a:spcAft>
              <a:buNone/>
            </a:pPr>
            <a:r>
              <a:rPr lang="en-US" sz="2200" b="1" dirty="0">
                <a:solidFill>
                  <a:srgbClr val="2B2B2B"/>
                </a:solidFill>
                <a:latin typeface="Courier New" pitchFamily="34" charset="0"/>
                <a:ea typeface="Courier New" pitchFamily="34" charset="-122"/>
                <a:cs typeface="Courier New" pitchFamily="34" charset="-120"/>
              </a:rPr>
              <a:t>let i = 0</a:t>
            </a:r>
            <a:endParaRPr lang="en-US" sz="2200" dirty="0"/>
          </a:p>
          <a:p>
            <a:pPr indent="0" marL="0">
              <a:spcAft>
                <a:spcPts val="600"/>
              </a:spcAft>
              <a:buNone/>
            </a:pPr>
            <a:r>
              <a:rPr lang="en-US" sz="2200" b="1" dirty="0">
                <a:solidFill>
                  <a:srgbClr val="2B2B2B"/>
                </a:solidFill>
                <a:latin typeface="Calibri" pitchFamily="34" charset="0"/>
                <a:ea typeface="Calibri" pitchFamily="34" charset="-122"/>
                <a:cs typeface="Calibri" pitchFamily="34" charset="-120"/>
              </a:rPr>
              <a:t>Start.</a:t>
            </a:r>
            <a:pPr indent="0" marL="0">
              <a:spcAft>
                <a:spcPts val="600"/>
              </a:spcAft>
              <a:buNone/>
            </a:pPr>
            <a:r>
              <a:rPr lang="en-US" sz="2200" dirty="0">
                <a:solidFill>
                  <a:srgbClr val="2B2B2B"/>
                </a:solidFill>
                <a:latin typeface="Calibri" pitchFamily="34" charset="0"/>
                <a:ea typeface="Calibri" pitchFamily="34" charset="-122"/>
                <a:cs typeface="Calibri" pitchFamily="34" charset="-120"/>
              </a:rPr>
              <a:t> Runs once, first.</a:t>
            </a:r>
            <a:endParaRPr lang="en-US" sz="2200" dirty="0"/>
          </a:p>
        </p:txBody>
      </p:sp>
      <p:sp>
        <p:nvSpPr>
          <p:cNvPr id="9" name="Shape 7"/>
          <p:cNvSpPr/>
          <p:nvPr/>
        </p:nvSpPr>
        <p:spPr>
          <a:xfrm>
            <a:off x="3282696" y="2670048"/>
            <a:ext cx="2651760" cy="1417320"/>
          </a:xfrm>
          <a:prstGeom prst="roundRect">
            <a:avLst>
              <a:gd name="adj" fmla="val 5161"/>
            </a:avLst>
          </a:prstGeom>
          <a:solidFill>
            <a:srgbClr val="2B2B2B"/>
          </a:solidFill>
          <a:ln w="12700">
            <a:solidFill>
              <a:srgbClr val="2B2B2B"/>
            </a:solidFill>
            <a:prstDash val="solid"/>
          </a:ln>
        </p:spPr>
      </p:sp>
      <p:sp>
        <p:nvSpPr>
          <p:cNvPr id="10" name="Shape 8"/>
          <p:cNvSpPr/>
          <p:nvPr/>
        </p:nvSpPr>
        <p:spPr>
          <a:xfrm>
            <a:off x="3218688" y="2606040"/>
            <a:ext cx="2651760" cy="1417320"/>
          </a:xfrm>
          <a:prstGeom prst="roundRect">
            <a:avLst>
              <a:gd name="adj" fmla="val 5161"/>
            </a:avLst>
          </a:prstGeom>
          <a:solidFill>
            <a:srgbClr val="FFFFFF"/>
          </a:solidFill>
          <a:ln w="25400">
            <a:solidFill>
              <a:srgbClr val="2B2B2B"/>
            </a:solidFill>
            <a:prstDash val="solid"/>
          </a:ln>
        </p:spPr>
      </p:sp>
      <p:sp>
        <p:nvSpPr>
          <p:cNvPr id="11" name="Text 9"/>
          <p:cNvSpPr txBox="1"/>
          <p:nvPr/>
        </p:nvSpPr>
        <p:spPr>
          <a:xfrm>
            <a:off x="3383280" y="2697480"/>
            <a:ext cx="2322576" cy="1234440"/>
          </a:xfrm>
          <a:prstGeom prst="rect">
            <a:avLst/>
          </a:prstGeom>
          <a:noFill/>
          <a:ln/>
        </p:spPr>
        <p:txBody>
          <a:bodyPr wrap="square" lIns="0" tIns="0" rIns="0" bIns="0" rtlCol="0" anchor="t"/>
          <a:lstStyle/>
          <a:p>
            <a:pPr indent="0" marL="0">
              <a:spcAft>
                <a:spcPts val="600"/>
              </a:spcAft>
              <a:buNone/>
            </a:pPr>
            <a:r>
              <a:rPr lang="en-US" sz="2200" b="1" dirty="0">
                <a:solidFill>
                  <a:srgbClr val="2B2B2B"/>
                </a:solidFill>
                <a:latin typeface="Courier New" pitchFamily="34" charset="0"/>
                <a:ea typeface="Courier New" pitchFamily="34" charset="-122"/>
                <a:cs typeface="Courier New" pitchFamily="34" charset="-120"/>
              </a:rPr>
              <a:t>i &lt; 150</a:t>
            </a:r>
            <a:endParaRPr lang="en-US" sz="2200" dirty="0"/>
          </a:p>
          <a:p>
            <a:pPr indent="0" marL="0">
              <a:spcAft>
                <a:spcPts val="600"/>
              </a:spcAft>
              <a:buNone/>
            </a:pPr>
            <a:r>
              <a:rPr lang="en-US" sz="2200" b="1" dirty="0">
                <a:solidFill>
                  <a:srgbClr val="2B2B2B"/>
                </a:solidFill>
                <a:latin typeface="Calibri" pitchFamily="34" charset="0"/>
                <a:ea typeface="Calibri" pitchFamily="34" charset="-122"/>
                <a:cs typeface="Calibri" pitchFamily="34" charset="-120"/>
              </a:rPr>
              <a:t>Question.</a:t>
            </a:r>
            <a:pPr indent="0" marL="0">
              <a:spcAft>
                <a:spcPts val="600"/>
              </a:spcAft>
              <a:buNone/>
            </a:pPr>
            <a:r>
              <a:rPr lang="en-US" sz="2200" dirty="0">
                <a:solidFill>
                  <a:srgbClr val="2B2B2B"/>
                </a:solidFill>
                <a:latin typeface="Calibri" pitchFamily="34" charset="0"/>
                <a:ea typeface="Calibri" pitchFamily="34" charset="-122"/>
                <a:cs typeface="Calibri" pitchFamily="34" charset="-120"/>
              </a:rPr>
              <a:t> Asked before every trip.</a:t>
            </a:r>
            <a:endParaRPr lang="en-US" sz="2200" dirty="0"/>
          </a:p>
        </p:txBody>
      </p:sp>
      <p:sp>
        <p:nvSpPr>
          <p:cNvPr id="12" name="Shape 10"/>
          <p:cNvSpPr/>
          <p:nvPr/>
        </p:nvSpPr>
        <p:spPr>
          <a:xfrm>
            <a:off x="6089904" y="2670048"/>
            <a:ext cx="2651760" cy="1417320"/>
          </a:xfrm>
          <a:prstGeom prst="roundRect">
            <a:avLst>
              <a:gd name="adj" fmla="val 5161"/>
            </a:avLst>
          </a:prstGeom>
          <a:solidFill>
            <a:srgbClr val="2B2B2B"/>
          </a:solidFill>
          <a:ln w="12700">
            <a:solidFill>
              <a:srgbClr val="2B2B2B"/>
            </a:solidFill>
            <a:prstDash val="solid"/>
          </a:ln>
        </p:spPr>
      </p:sp>
      <p:sp>
        <p:nvSpPr>
          <p:cNvPr id="13" name="Shape 11"/>
          <p:cNvSpPr/>
          <p:nvPr/>
        </p:nvSpPr>
        <p:spPr>
          <a:xfrm>
            <a:off x="6025896" y="2606040"/>
            <a:ext cx="2651760" cy="1417320"/>
          </a:xfrm>
          <a:prstGeom prst="roundRect">
            <a:avLst>
              <a:gd name="adj" fmla="val 5161"/>
            </a:avLst>
          </a:prstGeom>
          <a:solidFill>
            <a:srgbClr val="FFFFFF"/>
          </a:solidFill>
          <a:ln w="25400">
            <a:solidFill>
              <a:srgbClr val="2B2B2B"/>
            </a:solidFill>
            <a:prstDash val="solid"/>
          </a:ln>
        </p:spPr>
      </p:sp>
      <p:sp>
        <p:nvSpPr>
          <p:cNvPr id="14" name="Text 12"/>
          <p:cNvSpPr txBox="1"/>
          <p:nvPr/>
        </p:nvSpPr>
        <p:spPr>
          <a:xfrm>
            <a:off x="6190488" y="2697480"/>
            <a:ext cx="2322576" cy="1234440"/>
          </a:xfrm>
          <a:prstGeom prst="rect">
            <a:avLst/>
          </a:prstGeom>
          <a:noFill/>
          <a:ln/>
        </p:spPr>
        <p:txBody>
          <a:bodyPr wrap="square" lIns="0" tIns="0" rIns="0" bIns="0" rtlCol="0" anchor="t"/>
          <a:lstStyle/>
          <a:p>
            <a:pPr indent="0" marL="0">
              <a:spcAft>
                <a:spcPts val="600"/>
              </a:spcAft>
              <a:buNone/>
            </a:pPr>
            <a:r>
              <a:rPr lang="en-US" sz="2200" b="1" dirty="0">
                <a:solidFill>
                  <a:srgbClr val="2B2B2B"/>
                </a:solidFill>
                <a:latin typeface="Courier New" pitchFamily="34" charset="0"/>
                <a:ea typeface="Courier New" pitchFamily="34" charset="-122"/>
                <a:cs typeface="Courier New" pitchFamily="34" charset="-120"/>
              </a:rPr>
              <a:t>i = i + 1</a:t>
            </a:r>
            <a:endParaRPr lang="en-US" sz="2200" dirty="0"/>
          </a:p>
          <a:p>
            <a:pPr indent="0" marL="0">
              <a:spcAft>
                <a:spcPts val="600"/>
              </a:spcAft>
              <a:buNone/>
            </a:pPr>
            <a:r>
              <a:rPr lang="en-US" sz="2200" b="1" dirty="0">
                <a:solidFill>
                  <a:srgbClr val="2B2B2B"/>
                </a:solidFill>
                <a:latin typeface="Calibri" pitchFamily="34" charset="0"/>
                <a:ea typeface="Calibri" pitchFamily="34" charset="-122"/>
                <a:cs typeface="Calibri" pitchFamily="34" charset="-120"/>
              </a:rPr>
              <a:t>Update.</a:t>
            </a:r>
            <a:pPr indent="0" marL="0">
              <a:spcAft>
                <a:spcPts val="600"/>
              </a:spcAft>
              <a:buNone/>
            </a:pPr>
            <a:r>
              <a:rPr lang="en-US" sz="2200" dirty="0">
                <a:solidFill>
                  <a:srgbClr val="2B2B2B"/>
                </a:solidFill>
                <a:latin typeface="Calibri" pitchFamily="34" charset="0"/>
                <a:ea typeface="Calibri" pitchFamily="34" charset="-122"/>
                <a:cs typeface="Calibri" pitchFamily="34" charset="-120"/>
              </a:rPr>
              <a:t> Runs after every trip.</a:t>
            </a:r>
            <a:endParaRPr lang="en-US" sz="2200" dirty="0"/>
          </a:p>
        </p:txBody>
      </p:sp>
      <p:sp>
        <p:nvSpPr>
          <p:cNvPr id="15" name="Text 13"/>
          <p:cNvSpPr txBox="1"/>
          <p:nvPr/>
        </p:nvSpPr>
        <p:spPr>
          <a:xfrm>
            <a:off x="411480" y="4251960"/>
            <a:ext cx="8321040" cy="457200"/>
          </a:xfrm>
          <a:prstGeom prst="rect">
            <a:avLst/>
          </a:prstGeom>
          <a:noFill/>
          <a:ln/>
        </p:spPr>
        <p:txBody>
          <a:bodyPr wrap="square" lIns="0" tIns="0" rIns="0" bIns="0" rtlCol="0" anchor="ctr"/>
          <a:lstStyle/>
          <a:p>
            <a:pPr indent="0" marL="0">
              <a:buNone/>
            </a:pPr>
            <a:r>
              <a:rPr lang="en-US" sz="2200" b="1" dirty="0">
                <a:solidFill>
                  <a:srgbClr val="2B2B2B"/>
                </a:solidFill>
              </a:rPr>
              <a:t>Semicolons</a:t>
            </a:r>
            <a:pPr indent="0" marL="0">
              <a:buNone/>
            </a:pPr>
            <a:r>
              <a:rPr lang="en-US" sz="2200" dirty="0">
                <a:solidFill>
                  <a:srgbClr val="2B2B2B"/>
                </a:solidFill>
              </a:rPr>
              <a:t> between the three jobs, not commas.</a:t>
            </a:r>
            <a:endParaRPr lang="en-US" sz="22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The order never changes</a:t>
            </a:r>
            <a:endParaRPr lang="en-US" sz="3200" dirty="0"/>
          </a:p>
        </p:txBody>
      </p:sp>
      <p:sp>
        <p:nvSpPr>
          <p:cNvPr id="3" name="Shape 1"/>
          <p:cNvSpPr/>
          <p:nvPr/>
        </p:nvSpPr>
        <p:spPr>
          <a:xfrm>
            <a:off x="475488" y="1115568"/>
            <a:ext cx="5120640" cy="2240280"/>
          </a:xfrm>
          <a:prstGeom prst="roundRect">
            <a:avLst>
              <a:gd name="adj" fmla="val 2449"/>
            </a:avLst>
          </a:prstGeom>
          <a:solidFill>
            <a:srgbClr val="2B2B2B"/>
          </a:solidFill>
          <a:ln w="12700">
            <a:solidFill>
              <a:srgbClr val="2B2B2B"/>
            </a:solidFill>
            <a:prstDash val="solid"/>
          </a:ln>
        </p:spPr>
      </p:sp>
      <p:sp>
        <p:nvSpPr>
          <p:cNvPr id="4" name="Shape 2"/>
          <p:cNvSpPr/>
          <p:nvPr/>
        </p:nvSpPr>
        <p:spPr>
          <a:xfrm>
            <a:off x="411480" y="1051560"/>
            <a:ext cx="5120640" cy="2240280"/>
          </a:xfrm>
          <a:prstGeom prst="roundRect">
            <a:avLst>
              <a:gd name="adj" fmla="val 2449"/>
            </a:avLst>
          </a:prstGeom>
          <a:solidFill>
            <a:srgbClr val="1E1E1E"/>
          </a:solidFill>
          <a:ln w="25400">
            <a:solidFill>
              <a:srgbClr val="2B2B2B"/>
            </a:solidFill>
            <a:prstDash val="solid"/>
          </a:ln>
        </p:spPr>
      </p:sp>
      <p:sp>
        <p:nvSpPr>
          <p:cNvPr id="5" name="Text 3"/>
          <p:cNvSpPr txBox="1"/>
          <p:nvPr/>
        </p:nvSpPr>
        <p:spPr>
          <a:xfrm>
            <a:off x="576072" y="1124712"/>
            <a:ext cx="4846320" cy="2093976"/>
          </a:xfrm>
          <a:prstGeom prst="rect">
            <a:avLst/>
          </a:prstGeom>
          <a:noFill/>
          <a:ln/>
        </p:spPr>
        <p:txBody>
          <a:bodyPr wrap="square" lIns="0" tIns="0" rIns="0" bIns="0" rtlCol="0" anchor="t"/>
          <a:lstStyle/>
          <a:p>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total</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C586C0"/>
                </a:solidFill>
                <a:latin typeface="Courier New" pitchFamily="34" charset="0"/>
                <a:ea typeface="Courier New" pitchFamily="34" charset="-122"/>
                <a:cs typeface="Courier New" pitchFamily="34" charset="-120"/>
              </a:rPr>
              <a:t>for</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&lt;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3</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1</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total</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total</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10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text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total</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20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30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p:txBody>
      </p:sp>
      <p:sp>
        <p:nvSpPr>
          <p:cNvPr id="6" name="Shape 4"/>
          <p:cNvSpPr/>
          <p:nvPr/>
        </p:nvSpPr>
        <p:spPr>
          <a:xfrm>
            <a:off x="5870448" y="1115568"/>
            <a:ext cx="2926080" cy="1783080"/>
          </a:xfrm>
          <a:prstGeom prst="roundRect">
            <a:avLst>
              <a:gd name="adj" fmla="val 4103"/>
            </a:avLst>
          </a:prstGeom>
          <a:solidFill>
            <a:srgbClr val="2B2B2B"/>
          </a:solidFill>
          <a:ln w="12700">
            <a:solidFill>
              <a:srgbClr val="2B2B2B"/>
            </a:solidFill>
            <a:prstDash val="solid"/>
          </a:ln>
        </p:spPr>
      </p:sp>
      <p:sp>
        <p:nvSpPr>
          <p:cNvPr id="7" name="Shape 5"/>
          <p:cNvSpPr/>
          <p:nvPr/>
        </p:nvSpPr>
        <p:spPr>
          <a:xfrm>
            <a:off x="5806440" y="1051560"/>
            <a:ext cx="2926080" cy="1783080"/>
          </a:xfrm>
          <a:prstGeom prst="roundRect">
            <a:avLst>
              <a:gd name="adj" fmla="val 4103"/>
            </a:avLst>
          </a:prstGeom>
          <a:solidFill>
            <a:srgbClr val="FFFFFF"/>
          </a:solidFill>
          <a:ln w="25400">
            <a:solidFill>
              <a:srgbClr val="2B2B2B"/>
            </a:solidFill>
            <a:prstDash val="solid"/>
          </a:ln>
        </p:spPr>
      </p:sp>
      <p:sp>
        <p:nvSpPr>
          <p:cNvPr id="8" name="Text 6"/>
          <p:cNvSpPr txBox="1"/>
          <p:nvPr/>
        </p:nvSpPr>
        <p:spPr>
          <a:xfrm>
            <a:off x="5971032" y="1143000"/>
            <a:ext cx="2596896" cy="1600200"/>
          </a:xfrm>
          <a:prstGeom prst="rect">
            <a:avLst/>
          </a:prstGeom>
          <a:noFill/>
          <a:ln/>
        </p:spPr>
        <p:txBody>
          <a:bodyPr wrap="square" lIns="0" tIns="0" rIns="0" bIns="0" rtlCol="0" anchor="t"/>
          <a:lstStyle/>
          <a:p>
            <a:pPr indent="0" marL="0">
              <a:spcAft>
                <a:spcPts val="400"/>
              </a:spcAft>
              <a:buNone/>
            </a:pPr>
            <a:r>
              <a:rPr lang="en-US" sz="1600" b="1" dirty="0">
                <a:solidFill>
                  <a:srgbClr val="5C4A12"/>
                </a:solidFill>
                <a:latin typeface="Courier New" pitchFamily="34" charset="0"/>
                <a:ea typeface="Courier New" pitchFamily="34" charset="-122"/>
                <a:cs typeface="Courier New" pitchFamily="34" charset="-120"/>
              </a:rPr>
              <a:t>EVERY TIME</a:t>
            </a:r>
            <a:endParaRPr lang="en-US" sz="1600" dirty="0"/>
          </a:p>
          <a:p>
            <a:pPr indent="0" marL="0">
              <a:spcAft>
                <a:spcPts val="600"/>
              </a:spcAft>
              <a:buNone/>
            </a:pPr>
            <a:r>
              <a:rPr lang="en-US" sz="2000" dirty="0">
                <a:solidFill>
                  <a:srgbClr val="2B2B2B"/>
                </a:solidFill>
                <a:latin typeface="Calibri" pitchFamily="34" charset="0"/>
                <a:ea typeface="Calibri" pitchFamily="34" charset="-122"/>
                <a:cs typeface="Calibri" pitchFamily="34" charset="-120"/>
              </a:rPr>
              <a:t>Start once.</a:t>
            </a:r>
            <a:endParaRPr lang="en-US" sz="1600" dirty="0"/>
          </a:p>
          <a:p>
            <a:pPr indent="0" marL="0">
              <a:spcAft>
                <a:spcPts val="600"/>
              </a:spcAft>
              <a:buNone/>
            </a:pPr>
            <a:r>
              <a:rPr lang="en-US" sz="2000" b="1" dirty="0">
                <a:solidFill>
                  <a:srgbClr val="2B2B2B"/>
                </a:solidFill>
                <a:latin typeface="Calibri" pitchFamily="34" charset="0"/>
                <a:ea typeface="Calibri" pitchFamily="34" charset="-122"/>
                <a:cs typeface="Calibri" pitchFamily="34" charset="-120"/>
              </a:rPr>
              <a:t>Then question → body → update → question …</a:t>
            </a:r>
            <a:endParaRPr lang="en-US" sz="1600" dirty="0"/>
          </a:p>
        </p:txBody>
      </p:sp>
      <p:sp>
        <p:nvSpPr>
          <p:cNvPr id="9" name="Shape 7"/>
          <p:cNvSpPr/>
          <p:nvPr/>
        </p:nvSpPr>
        <p:spPr>
          <a:xfrm>
            <a:off x="5870448" y="3127248"/>
            <a:ext cx="2926080" cy="1600200"/>
          </a:xfrm>
          <a:prstGeom prst="roundRect">
            <a:avLst>
              <a:gd name="adj" fmla="val 4571"/>
            </a:avLst>
          </a:prstGeom>
          <a:solidFill>
            <a:srgbClr val="2B2B2B"/>
          </a:solidFill>
          <a:ln w="12700">
            <a:solidFill>
              <a:srgbClr val="2B2B2B"/>
            </a:solidFill>
            <a:prstDash val="solid"/>
          </a:ln>
        </p:spPr>
      </p:sp>
      <p:sp>
        <p:nvSpPr>
          <p:cNvPr id="10" name="Shape 8"/>
          <p:cNvSpPr/>
          <p:nvPr/>
        </p:nvSpPr>
        <p:spPr>
          <a:xfrm>
            <a:off x="5806440" y="3063240"/>
            <a:ext cx="2926080" cy="1600200"/>
          </a:xfrm>
          <a:prstGeom prst="roundRect">
            <a:avLst>
              <a:gd name="adj" fmla="val 4571"/>
            </a:avLst>
          </a:prstGeom>
          <a:solidFill>
            <a:srgbClr val="FFFFFF"/>
          </a:solidFill>
          <a:ln w="25400">
            <a:solidFill>
              <a:srgbClr val="2B2B2B"/>
            </a:solidFill>
            <a:prstDash val="solid"/>
          </a:ln>
        </p:spPr>
      </p:sp>
      <p:sp>
        <p:nvSpPr>
          <p:cNvPr id="11" name="Text 9"/>
          <p:cNvSpPr txBox="1"/>
          <p:nvPr/>
        </p:nvSpPr>
        <p:spPr>
          <a:xfrm>
            <a:off x="5971032" y="3154680"/>
            <a:ext cx="2596896" cy="1417320"/>
          </a:xfrm>
          <a:prstGeom prst="rect">
            <a:avLst/>
          </a:prstGeom>
          <a:noFill/>
          <a:ln/>
        </p:spPr>
        <p:txBody>
          <a:bodyPr wrap="square" lIns="0" tIns="0" rIns="0" bIns="0" rtlCol="0" anchor="t"/>
          <a:lstStyle/>
          <a:p>
            <a:pPr indent="0" marL="0">
              <a:spcAft>
                <a:spcPts val="400"/>
              </a:spcAft>
              <a:buNone/>
            </a:pPr>
            <a:r>
              <a:rPr lang="en-US" sz="1600" b="1" dirty="0">
                <a:solidFill>
                  <a:srgbClr val="5C4A12"/>
                </a:solidFill>
                <a:latin typeface="Courier New" pitchFamily="34" charset="0"/>
                <a:ea typeface="Courier New" pitchFamily="34" charset="-122"/>
                <a:cs typeface="Courier New" pitchFamily="34" charset="-120"/>
              </a:rPr>
              <a:t>WHEN DOES LINE 5 RUN?</a:t>
            </a:r>
            <a:endParaRPr lang="en-US" sz="1600" dirty="0"/>
          </a:p>
          <a:p>
            <a:pPr indent="0" marL="0">
              <a:spcAft>
                <a:spcPts val="600"/>
              </a:spcAft>
              <a:buNone/>
            </a:pPr>
            <a:r>
              <a:rPr lang="en-US" sz="2000" dirty="0">
                <a:solidFill>
                  <a:srgbClr val="2B2B2B"/>
                </a:solidFill>
                <a:latin typeface="Calibri" pitchFamily="34" charset="0"/>
                <a:ea typeface="Calibri" pitchFamily="34" charset="-122"/>
                <a:cs typeface="Calibri" pitchFamily="34" charset="-120"/>
              </a:rPr>
              <a:t>When the question says </a:t>
            </a:r>
            <a:pPr indent="0" marL="0">
              <a:spcAft>
                <a:spcPts val="600"/>
              </a:spcAft>
              <a:buNone/>
            </a:pPr>
            <a:r>
              <a:rPr lang="en-US" sz="2000" b="1" dirty="0">
                <a:solidFill>
                  <a:srgbClr val="2B2B2B"/>
                </a:solidFill>
                <a:latin typeface="Calibri" pitchFamily="34" charset="0"/>
                <a:ea typeface="Calibri" pitchFamily="34" charset="-122"/>
                <a:cs typeface="Calibri" pitchFamily="34" charset="-120"/>
              </a:rPr>
              <a:t>false</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 i is 3, total is 30.</a:t>
            </a:r>
            <a:endParaRPr lang="en-US" sz="16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Count from zero</a:t>
            </a:r>
            <a:endParaRPr lang="en-US" sz="3200" dirty="0"/>
          </a:p>
        </p:txBody>
      </p:sp>
      <p:sp>
        <p:nvSpPr>
          <p:cNvPr id="3" name="Shape 1"/>
          <p:cNvSpPr/>
          <p:nvPr/>
        </p:nvSpPr>
        <p:spPr>
          <a:xfrm>
            <a:off x="475488" y="1115568"/>
            <a:ext cx="4572000" cy="2834640"/>
          </a:xfrm>
          <a:prstGeom prst="rect">
            <a:avLst/>
          </a:prstGeom>
          <a:solidFill>
            <a:srgbClr val="2B2B2B"/>
          </a:solidFill>
          <a:ln w="12700">
            <a:solidFill>
              <a:srgbClr val="2B2B2B"/>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4572000" cy="914400"/>
        </p:xfrm>
        <a:graphic>
          <a:graphicData uri="http://schemas.openxmlformats.org/drawingml/2006/table">
            <a:tbl>
              <a:tblPr/>
              <a:tblGrid>
                <a:gridCol w="1280160"/>
                <a:gridCol w="1737360"/>
                <a:gridCol w="1554480"/>
              </a:tblGrid>
              <a:tr h="566928">
                <a:tc>
                  <a:txBody>
                    <a:bodyPr/>
                    <a:lstStyle/>
                    <a:p>
                      <a:pPr indent="0" marL="0">
                        <a:buNone/>
                      </a:pPr>
                      <a:r>
                        <a:rPr lang="en-US" sz="2000" b="1" dirty="0">
                          <a:solidFill>
                            <a:srgbClr val="F4C430"/>
                          </a:solidFill>
                          <a:latin typeface="Courier New" pitchFamily="34" charset="0"/>
                          <a:ea typeface="Courier New" pitchFamily="34" charset="-122"/>
                          <a:cs typeface="Courier New" pitchFamily="34" charset="-120"/>
                        </a:rPr>
                        <a:t>i</a:t>
                      </a:r>
                      <a:endParaRPr lang="en-US" sz="20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2B2B2B"/>
                    </a:solidFill>
                  </a:tcPr>
                </a:tc>
                <a:tc>
                  <a:txBody>
                    <a:bodyPr/>
                    <a:lstStyle/>
                    <a:p>
                      <a:pPr indent="0" marL="0">
                        <a:buNone/>
                      </a:pPr>
                      <a:r>
                        <a:rPr lang="en-US" sz="2000" b="1" dirty="0">
                          <a:solidFill>
                            <a:srgbClr val="F4C430"/>
                          </a:solidFill>
                          <a:latin typeface="Courier New" pitchFamily="34" charset="0"/>
                          <a:ea typeface="Courier New" pitchFamily="34" charset="-122"/>
                          <a:cs typeface="Courier New" pitchFamily="34" charset="-120"/>
                        </a:rPr>
                        <a:t>i &lt; 3?</a:t>
                      </a:r>
                      <a:endParaRPr lang="en-US" sz="20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2B2B2B"/>
                    </a:solidFill>
                  </a:tcPr>
                </a:tc>
                <a:tc>
                  <a:txBody>
                    <a:bodyPr/>
                    <a:lstStyle/>
                    <a:p>
                      <a:pPr indent="0" marL="0">
                        <a:buNone/>
                      </a:pPr>
                      <a:r>
                        <a:rPr lang="en-US" sz="2000" b="1" dirty="0">
                          <a:solidFill>
                            <a:srgbClr val="F4C430"/>
                          </a:solidFill>
                          <a:latin typeface="Courier New" pitchFamily="34" charset="0"/>
                          <a:ea typeface="Courier New" pitchFamily="34" charset="-122"/>
                          <a:cs typeface="Courier New" pitchFamily="34" charset="-120"/>
                        </a:rPr>
                        <a:t>total</a:t>
                      </a:r>
                      <a:endParaRPr lang="en-US" sz="20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2B2B2B"/>
                    </a:solidFill>
                  </a:tcPr>
                </a:tc>
              </a:tr>
              <a:tr h="566928">
                <a:tc>
                  <a:txBody>
                    <a:bodyPr/>
                    <a:lstStyle/>
                    <a:p>
                      <a:pPr indent="0" marL="0">
                        <a:buNone/>
                      </a:pPr>
                      <a:r>
                        <a:rPr lang="en-US" sz="2200" dirty="0">
                          <a:solidFill>
                            <a:srgbClr val="2B2B2B"/>
                          </a:solidFill>
                          <a:latin typeface="Courier New" pitchFamily="34" charset="0"/>
                          <a:ea typeface="Courier New" pitchFamily="34" charset="-122"/>
                          <a:cs typeface="Courier New" pitchFamily="34" charset="-120"/>
                        </a:rPr>
                        <a:t>0</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2200" dirty="0">
                          <a:solidFill>
                            <a:srgbClr val="2B2B2B"/>
                          </a:solidFill>
                          <a:latin typeface="Courier New" pitchFamily="34" charset="0"/>
                          <a:ea typeface="Courier New" pitchFamily="34" charset="-122"/>
                          <a:cs typeface="Courier New" pitchFamily="34" charset="-120"/>
                        </a:rPr>
                        <a:t>true</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2200" dirty="0">
                          <a:solidFill>
                            <a:srgbClr val="2B2B2B"/>
                          </a:solidFill>
                          <a:latin typeface="Courier New" pitchFamily="34" charset="0"/>
                          <a:ea typeface="Courier New" pitchFamily="34" charset="-122"/>
                          <a:cs typeface="Courier New" pitchFamily="34" charset="-120"/>
                        </a:rPr>
                        <a:t>10</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r>
              <a:tr h="566928">
                <a:tc>
                  <a:txBody>
                    <a:bodyPr/>
                    <a:lstStyle/>
                    <a:p>
                      <a:pPr indent="0" marL="0">
                        <a:buNone/>
                      </a:pPr>
                      <a:r>
                        <a:rPr lang="en-US" sz="2200" dirty="0">
                          <a:solidFill>
                            <a:srgbClr val="2B2B2B"/>
                          </a:solidFill>
                          <a:latin typeface="Courier New" pitchFamily="34" charset="0"/>
                          <a:ea typeface="Courier New" pitchFamily="34" charset="-122"/>
                          <a:cs typeface="Courier New" pitchFamily="34" charset="-120"/>
                        </a:rPr>
                        <a:t>1</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2200" dirty="0">
                          <a:solidFill>
                            <a:srgbClr val="2B2B2B"/>
                          </a:solidFill>
                          <a:latin typeface="Courier New" pitchFamily="34" charset="0"/>
                          <a:ea typeface="Courier New" pitchFamily="34" charset="-122"/>
                          <a:cs typeface="Courier New" pitchFamily="34" charset="-120"/>
                        </a:rPr>
                        <a:t>true</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2200" dirty="0">
                          <a:solidFill>
                            <a:srgbClr val="2B2B2B"/>
                          </a:solidFill>
                          <a:latin typeface="Courier New" pitchFamily="34" charset="0"/>
                          <a:ea typeface="Courier New" pitchFamily="34" charset="-122"/>
                          <a:cs typeface="Courier New" pitchFamily="34" charset="-120"/>
                        </a:rPr>
                        <a:t>20</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r>
              <a:tr h="566928">
                <a:tc>
                  <a:txBody>
                    <a:bodyPr/>
                    <a:lstStyle/>
                    <a:p>
                      <a:pPr indent="0" marL="0">
                        <a:buNone/>
                      </a:pPr>
                      <a:r>
                        <a:rPr lang="en-US" sz="2200" dirty="0">
                          <a:solidFill>
                            <a:srgbClr val="2B2B2B"/>
                          </a:solidFill>
                          <a:latin typeface="Courier New" pitchFamily="34" charset="0"/>
                          <a:ea typeface="Courier New" pitchFamily="34" charset="-122"/>
                          <a:cs typeface="Courier New" pitchFamily="34" charset="-120"/>
                        </a:rPr>
                        <a:t>2</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2200" dirty="0">
                          <a:solidFill>
                            <a:srgbClr val="2B2B2B"/>
                          </a:solidFill>
                          <a:latin typeface="Courier New" pitchFamily="34" charset="0"/>
                          <a:ea typeface="Courier New" pitchFamily="34" charset="-122"/>
                          <a:cs typeface="Courier New" pitchFamily="34" charset="-120"/>
                        </a:rPr>
                        <a:t>true</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2200" dirty="0">
                          <a:solidFill>
                            <a:srgbClr val="2B2B2B"/>
                          </a:solidFill>
                          <a:latin typeface="Courier New" pitchFamily="34" charset="0"/>
                          <a:ea typeface="Courier New" pitchFamily="34" charset="-122"/>
                          <a:cs typeface="Courier New" pitchFamily="34" charset="-120"/>
                        </a:rPr>
                        <a:t>30</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r>
              <a:tr h="566928">
                <a:tc>
                  <a:txBody>
                    <a:bodyPr/>
                    <a:lstStyle/>
                    <a:p>
                      <a:pPr indent="0" marL="0">
                        <a:buNone/>
                      </a:pPr>
                      <a:r>
                        <a:rPr lang="en-US" sz="2200" dirty="0">
                          <a:solidFill>
                            <a:srgbClr val="2B2B2B"/>
                          </a:solidFill>
                          <a:latin typeface="Courier New" pitchFamily="34" charset="0"/>
                          <a:ea typeface="Courier New" pitchFamily="34" charset="-122"/>
                          <a:cs typeface="Courier New" pitchFamily="34" charset="-120"/>
                        </a:rPr>
                        <a:t>3</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BE3E3"/>
                    </a:solidFill>
                  </a:tcPr>
                </a:tc>
                <a:tc>
                  <a:txBody>
                    <a:bodyPr/>
                    <a:lstStyle/>
                    <a:p>
                      <a:pPr indent="0" marL="0">
                        <a:buNone/>
                      </a:pPr>
                      <a:r>
                        <a:rPr lang="en-US" sz="2200" dirty="0">
                          <a:solidFill>
                            <a:srgbClr val="2B2B2B"/>
                          </a:solidFill>
                          <a:latin typeface="Courier New" pitchFamily="34" charset="0"/>
                          <a:ea typeface="Courier New" pitchFamily="34" charset="-122"/>
                          <a:cs typeface="Courier New" pitchFamily="34" charset="-120"/>
                        </a:rPr>
                        <a:t>false</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BE3E3"/>
                    </a:solidFill>
                  </a:tcPr>
                </a:tc>
                <a:tc>
                  <a:txBody>
                    <a:bodyPr/>
                    <a:lstStyle/>
                    <a:p>
                      <a:pPr indent="0" marL="0">
                        <a:buNone/>
                      </a:pPr>
                      <a:r>
                        <a:rPr lang="en-US" sz="2200" dirty="0">
                          <a:solidFill>
                            <a:srgbClr val="2B2B2B"/>
                          </a:solidFill>
                          <a:latin typeface="Courier New" pitchFamily="34" charset="0"/>
                          <a:ea typeface="Courier New" pitchFamily="34" charset="-122"/>
                          <a:cs typeface="Courier New" pitchFamily="34" charset="-120"/>
                        </a:rPr>
                        <a:t>stop</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BE3E3"/>
                    </a:solidFill>
                  </a:tcPr>
                </a:tc>
              </a:tr>
            </a:tbl>
          </a:graphicData>
        </a:graphic>
      </p:graphicFrame>
      <p:sp>
        <p:nvSpPr>
          <p:cNvPr id="5" name="Shape 2"/>
          <p:cNvSpPr/>
          <p:nvPr/>
        </p:nvSpPr>
        <p:spPr>
          <a:xfrm>
            <a:off x="5413248" y="1115568"/>
            <a:ext cx="3383280" cy="1600200"/>
          </a:xfrm>
          <a:prstGeom prst="roundRect">
            <a:avLst>
              <a:gd name="adj" fmla="val 4571"/>
            </a:avLst>
          </a:prstGeom>
          <a:solidFill>
            <a:srgbClr val="2B2B2B"/>
          </a:solidFill>
          <a:ln w="12700">
            <a:solidFill>
              <a:srgbClr val="2B2B2B"/>
            </a:solidFill>
            <a:prstDash val="solid"/>
          </a:ln>
        </p:spPr>
      </p:sp>
      <p:sp>
        <p:nvSpPr>
          <p:cNvPr id="6" name="Shape 3"/>
          <p:cNvSpPr/>
          <p:nvPr/>
        </p:nvSpPr>
        <p:spPr>
          <a:xfrm>
            <a:off x="5349240" y="1051560"/>
            <a:ext cx="3383280" cy="1600200"/>
          </a:xfrm>
          <a:prstGeom prst="roundRect">
            <a:avLst>
              <a:gd name="adj" fmla="val 4571"/>
            </a:avLst>
          </a:prstGeom>
          <a:solidFill>
            <a:srgbClr val="FFFFFF"/>
          </a:solidFill>
          <a:ln w="25400">
            <a:solidFill>
              <a:srgbClr val="2B2B2B"/>
            </a:solidFill>
            <a:prstDash val="solid"/>
          </a:ln>
        </p:spPr>
      </p:sp>
      <p:sp>
        <p:nvSpPr>
          <p:cNvPr id="7" name="Text 4"/>
          <p:cNvSpPr txBox="1"/>
          <p:nvPr/>
        </p:nvSpPr>
        <p:spPr>
          <a:xfrm>
            <a:off x="5513832" y="1143000"/>
            <a:ext cx="3054096" cy="1417320"/>
          </a:xfrm>
          <a:prstGeom prst="rect">
            <a:avLst/>
          </a:prstGeom>
          <a:noFill/>
          <a:ln/>
        </p:spPr>
        <p:txBody>
          <a:bodyPr wrap="square" lIns="0" tIns="0" rIns="0" bIns="0" rtlCol="0" anchor="t"/>
          <a:lstStyle/>
          <a:p>
            <a:pPr indent="0" marL="0">
              <a:spcAft>
                <a:spcPts val="400"/>
              </a:spcAft>
              <a:buNone/>
            </a:pPr>
            <a:r>
              <a:rPr lang="en-US" sz="1600" b="1" dirty="0">
                <a:solidFill>
                  <a:srgbClr val="5C4A12"/>
                </a:solidFill>
                <a:latin typeface="Courier New" pitchFamily="34" charset="0"/>
                <a:ea typeface="Courier New" pitchFamily="34" charset="-122"/>
                <a:cs typeface="Courier New" pitchFamily="34" charset="-120"/>
              </a:rPr>
              <a:t>THREE TRIPS</a:t>
            </a:r>
            <a:endParaRPr lang="en-US" sz="1600" dirty="0"/>
          </a:p>
          <a:p>
            <a:pPr indent="0" marL="0">
              <a:spcAft>
                <a:spcPts val="600"/>
              </a:spcAft>
              <a:buNone/>
            </a:pPr>
            <a:r>
              <a:rPr lang="en-US" sz="2200" dirty="0">
                <a:solidFill>
                  <a:srgbClr val="2B2B2B"/>
                </a:solidFill>
                <a:latin typeface="Calibri" pitchFamily="34" charset="0"/>
                <a:ea typeface="Calibri" pitchFamily="34" charset="-122"/>
                <a:cs typeface="Calibri" pitchFamily="34" charset="-120"/>
              </a:rPr>
              <a:t>i was 0, 1, 2. That is </a:t>
            </a:r>
            <a:pPr indent="0" marL="0">
              <a:spcAft>
                <a:spcPts val="600"/>
              </a:spcAft>
              <a:buNone/>
            </a:pPr>
            <a:r>
              <a:rPr lang="en-US" sz="2200" b="1" dirty="0">
                <a:solidFill>
                  <a:srgbClr val="2B2B2B"/>
                </a:solidFill>
                <a:latin typeface="Calibri" pitchFamily="34" charset="0"/>
                <a:ea typeface="Calibri" pitchFamily="34" charset="-122"/>
                <a:cs typeface="Calibri" pitchFamily="34" charset="-120"/>
              </a:rPr>
              <a:t>3</a:t>
            </a:r>
            <a:pPr indent="0" marL="0">
              <a:spcAft>
                <a:spcPts val="600"/>
              </a:spcAft>
              <a:buNone/>
            </a:pPr>
            <a:r>
              <a:rPr lang="en-US" sz="2200" dirty="0">
                <a:solidFill>
                  <a:srgbClr val="2B2B2B"/>
                </a:solidFill>
                <a:latin typeface="Calibri" pitchFamily="34" charset="0"/>
                <a:ea typeface="Calibri" pitchFamily="34" charset="-122"/>
                <a:cs typeface="Calibri" pitchFamily="34" charset="-120"/>
              </a:rPr>
              <a:t> trips. i ended at 3.</a:t>
            </a:r>
            <a:endParaRPr lang="en-US" sz="1600" dirty="0"/>
          </a:p>
        </p:txBody>
      </p:sp>
      <p:sp>
        <p:nvSpPr>
          <p:cNvPr id="8" name="Shape 5"/>
          <p:cNvSpPr/>
          <p:nvPr/>
        </p:nvSpPr>
        <p:spPr>
          <a:xfrm>
            <a:off x="5413248" y="2944368"/>
            <a:ext cx="3383280" cy="1737360"/>
          </a:xfrm>
          <a:prstGeom prst="roundRect">
            <a:avLst>
              <a:gd name="adj" fmla="val 4211"/>
            </a:avLst>
          </a:prstGeom>
          <a:solidFill>
            <a:srgbClr val="2B2B2B"/>
          </a:solidFill>
          <a:ln w="12700">
            <a:solidFill>
              <a:srgbClr val="2B2B2B"/>
            </a:solidFill>
            <a:prstDash val="solid"/>
          </a:ln>
        </p:spPr>
      </p:sp>
      <p:sp>
        <p:nvSpPr>
          <p:cNvPr id="9" name="Shape 6"/>
          <p:cNvSpPr/>
          <p:nvPr/>
        </p:nvSpPr>
        <p:spPr>
          <a:xfrm>
            <a:off x="5349240" y="2880360"/>
            <a:ext cx="3383280" cy="1737360"/>
          </a:xfrm>
          <a:prstGeom prst="roundRect">
            <a:avLst>
              <a:gd name="adj" fmla="val 4211"/>
            </a:avLst>
          </a:prstGeom>
          <a:solidFill>
            <a:srgbClr val="FFFFFF"/>
          </a:solidFill>
          <a:ln w="25400">
            <a:solidFill>
              <a:srgbClr val="2B2B2B"/>
            </a:solidFill>
            <a:prstDash val="solid"/>
          </a:ln>
        </p:spPr>
      </p:sp>
      <p:sp>
        <p:nvSpPr>
          <p:cNvPr id="10" name="Text 7"/>
          <p:cNvSpPr txBox="1"/>
          <p:nvPr/>
        </p:nvSpPr>
        <p:spPr>
          <a:xfrm>
            <a:off x="5513832" y="2971800"/>
            <a:ext cx="3054096" cy="1554480"/>
          </a:xfrm>
          <a:prstGeom prst="rect">
            <a:avLst/>
          </a:prstGeom>
          <a:noFill/>
          <a:ln/>
        </p:spPr>
        <p:txBody>
          <a:bodyPr wrap="square" lIns="0" tIns="0" rIns="0" bIns="0" rtlCol="0" anchor="t"/>
          <a:lstStyle/>
          <a:p>
            <a:pPr indent="0" marL="0">
              <a:spcAft>
                <a:spcPts val="400"/>
              </a:spcAft>
              <a:buNone/>
            </a:pPr>
            <a:r>
              <a:rPr lang="en-US" sz="1600" b="1" dirty="0">
                <a:solidFill>
                  <a:srgbClr val="5C4A12"/>
                </a:solidFill>
                <a:latin typeface="Courier New" pitchFamily="34" charset="0"/>
                <a:ea typeface="Courier New" pitchFamily="34" charset="-122"/>
                <a:cs typeface="Courier New" pitchFamily="34" charset="-120"/>
              </a:rPr>
              <a:t>PREDICT</a:t>
            </a:r>
            <a:endParaRPr lang="en-US" sz="1600" dirty="0"/>
          </a:p>
          <a:p>
            <a:pPr indent="0" marL="0">
              <a:spcAft>
                <a:spcPts val="600"/>
              </a:spcAft>
              <a:buNone/>
            </a:pPr>
            <a:r>
              <a:rPr lang="en-US" sz="2200" dirty="0">
                <a:solidFill>
                  <a:srgbClr val="2B2B2B"/>
                </a:solidFill>
                <a:latin typeface="Calibri" pitchFamily="34" charset="0"/>
                <a:ea typeface="Calibri" pitchFamily="34" charset="-122"/>
                <a:cs typeface="Calibri" pitchFamily="34" charset="-120"/>
              </a:rPr>
              <a:t>Change </a:t>
            </a:r>
            <a:pPr indent="0" marL="0">
              <a:spcAft>
                <a:spcPts val="600"/>
              </a:spcAft>
              <a:buNone/>
            </a:pPr>
            <a:r>
              <a:rPr lang="en-US" sz="2200" dirty="0">
                <a:solidFill>
                  <a:srgbClr val="2B2B2B"/>
                </a:solidFill>
                <a:latin typeface="Courier New" pitchFamily="34" charset="0"/>
                <a:ea typeface="Courier New" pitchFamily="34" charset="-122"/>
                <a:cs typeface="Courier New" pitchFamily="34" charset="-120"/>
              </a:rPr>
              <a:t>i &lt; 3</a:t>
            </a:r>
            <a:pPr indent="0" marL="0">
              <a:spcAft>
                <a:spcPts val="600"/>
              </a:spcAft>
              <a:buNone/>
            </a:pPr>
            <a:r>
              <a:rPr lang="en-US" sz="2200" dirty="0">
                <a:solidFill>
                  <a:srgbClr val="2B2B2B"/>
                </a:solidFill>
                <a:latin typeface="Calibri" pitchFamily="34" charset="0"/>
                <a:ea typeface="Calibri" pitchFamily="34" charset="-122"/>
                <a:cs typeface="Calibri" pitchFamily="34" charset="-120"/>
              </a:rPr>
              <a:t> to </a:t>
            </a:r>
            <a:pPr indent="0" marL="0">
              <a:spcAft>
                <a:spcPts val="600"/>
              </a:spcAft>
              <a:buNone/>
            </a:pPr>
            <a:r>
              <a:rPr lang="en-US" sz="2200" dirty="0">
                <a:solidFill>
                  <a:srgbClr val="2B2B2B"/>
                </a:solidFill>
                <a:latin typeface="Courier New" pitchFamily="34" charset="0"/>
                <a:ea typeface="Courier New" pitchFamily="34" charset="-122"/>
                <a:cs typeface="Courier New" pitchFamily="34" charset="-120"/>
              </a:rPr>
              <a:t>i &lt;= 3</a:t>
            </a:r>
            <a:pPr indent="0" marL="0">
              <a:spcAft>
                <a:spcPts val="600"/>
              </a:spcAft>
              <a:buNone/>
            </a:pPr>
            <a:r>
              <a:rPr lang="en-US" sz="2200" dirty="0">
                <a:solidFill>
                  <a:srgbClr val="2B2B2B"/>
                </a:solidFill>
                <a:latin typeface="Calibri" pitchFamily="34" charset="0"/>
                <a:ea typeface="Calibri" pitchFamily="34" charset="-122"/>
                <a:cs typeface="Calibri" pitchFamily="34" charset="-120"/>
              </a:rPr>
              <a:t>. How many trips? total?</a:t>
            </a:r>
            <a:endParaRPr lang="en-US" sz="16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Lab 1: snowfall with a for loop</a:t>
            </a:r>
            <a:endParaRPr lang="en-US" sz="3200" dirty="0"/>
          </a:p>
        </p:txBody>
      </p:sp>
      <p:sp>
        <p:nvSpPr>
          <p:cNvPr id="3" name="Shape 1"/>
          <p:cNvSpPr/>
          <p:nvPr/>
        </p:nvSpPr>
        <p:spPr>
          <a:xfrm>
            <a:off x="475488" y="1115568"/>
            <a:ext cx="8321040" cy="1828800"/>
          </a:xfrm>
          <a:prstGeom prst="roundRect">
            <a:avLst>
              <a:gd name="adj" fmla="val 3000"/>
            </a:avLst>
          </a:prstGeom>
          <a:solidFill>
            <a:srgbClr val="2B2B2B"/>
          </a:solidFill>
          <a:ln w="12700">
            <a:solidFill>
              <a:srgbClr val="2B2B2B"/>
            </a:solidFill>
            <a:prstDash val="solid"/>
          </a:ln>
        </p:spPr>
      </p:sp>
      <p:sp>
        <p:nvSpPr>
          <p:cNvPr id="4" name="Shape 2"/>
          <p:cNvSpPr/>
          <p:nvPr/>
        </p:nvSpPr>
        <p:spPr>
          <a:xfrm>
            <a:off x="411480" y="1051560"/>
            <a:ext cx="8321040" cy="1828800"/>
          </a:xfrm>
          <a:prstGeom prst="roundRect">
            <a:avLst>
              <a:gd name="adj" fmla="val 3000"/>
            </a:avLst>
          </a:prstGeom>
          <a:solidFill>
            <a:srgbClr val="1E1E1E"/>
          </a:solidFill>
          <a:ln w="25400">
            <a:solidFill>
              <a:srgbClr val="2B2B2B"/>
            </a:solidFill>
            <a:prstDash val="solid"/>
          </a:ln>
        </p:spPr>
      </p:sp>
      <p:sp>
        <p:nvSpPr>
          <p:cNvPr id="5" name="Text 3"/>
          <p:cNvSpPr txBox="1"/>
          <p:nvPr/>
        </p:nvSpPr>
        <p:spPr>
          <a:xfrm>
            <a:off x="576072" y="1124712"/>
            <a:ext cx="8046720" cy="1682496"/>
          </a:xfrm>
          <a:prstGeom prst="rect">
            <a:avLst/>
          </a:prstGeom>
          <a:noFill/>
          <a:ln/>
        </p:spPr>
        <p:txBody>
          <a:bodyPr wrap="square" lIns="0" tIns="0" rIns="0" bIns="0" rtlCol="0" anchor="t"/>
          <a:lstStyle/>
          <a:p>
            <a:pPr indent="0" marL="0">
              <a:lnSpc>
                <a:spcPct val="105000"/>
              </a:lnSpc>
              <a:buNone/>
            </a:pPr>
            <a:r>
              <a:rPr lang="en-US" sz="22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flakes</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0</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endParaRPr lang="en-US" sz="2200" dirty="0"/>
          </a:p>
          <a:p>
            <a:pPr indent="0" marL="0">
              <a:lnSpc>
                <a:spcPct val="105000"/>
              </a:lnSpc>
              <a:buNone/>
            </a:pPr>
            <a:r>
              <a:rPr lang="en-US" sz="2200" dirty="0">
                <a:solidFill>
                  <a:srgbClr val="C586C0"/>
                </a:solidFill>
                <a:latin typeface="Courier New" pitchFamily="34" charset="0"/>
                <a:ea typeface="Courier New" pitchFamily="34" charset="-122"/>
                <a:cs typeface="Courier New" pitchFamily="34" charset="-120"/>
              </a:rPr>
              <a:t>for</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0</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&lt; </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100</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1</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endParaRPr lang="en-US" sz="2200" dirty="0"/>
          </a:p>
          <a:p>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DCDCAA"/>
                </a:solidFill>
                <a:latin typeface="Courier New" pitchFamily="34" charset="0"/>
                <a:ea typeface="Courier New" pitchFamily="34" charset="-122"/>
                <a:cs typeface="Courier New" pitchFamily="34" charset="-120"/>
              </a:rPr>
              <a:t>circle</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2200" dirty="0">
                <a:solidFill>
                  <a:srgbClr val="DCDCAA"/>
                </a:solidFill>
                <a:latin typeface="Courier New" pitchFamily="34" charset="0"/>
                <a:ea typeface="Courier New" pitchFamily="34" charset="-122"/>
                <a:cs typeface="Courier New" pitchFamily="34" charset="-120"/>
              </a:rPr>
              <a:t>random</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800</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DCDCAA"/>
                </a:solidFill>
                <a:latin typeface="Courier New" pitchFamily="34" charset="0"/>
                <a:ea typeface="Courier New" pitchFamily="34" charset="-122"/>
                <a:cs typeface="Courier New" pitchFamily="34" charset="-120"/>
              </a:rPr>
              <a:t>random</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600</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6</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endParaRPr lang="en-US" sz="2200" dirty="0"/>
          </a:p>
          <a:p>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flakes</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flakes</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1</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endParaRPr lang="en-US" sz="2200" dirty="0"/>
          </a:p>
          <a:p>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endParaRPr lang="en-US" sz="2200" dirty="0"/>
          </a:p>
        </p:txBody>
      </p:sp>
      <p:sp>
        <p:nvSpPr>
          <p:cNvPr id="6" name="Text 4"/>
          <p:cNvSpPr txBox="1"/>
          <p:nvPr/>
        </p:nvSpPr>
        <p:spPr>
          <a:xfrm>
            <a:off x="411480" y="3108960"/>
            <a:ext cx="8229600" cy="274320"/>
          </a:xfrm>
          <a:prstGeom prst="rect">
            <a:avLst/>
          </a:prstGeom>
          <a:noFill/>
          <a:ln/>
        </p:spPr>
        <p:txBody>
          <a:bodyPr wrap="square" lIns="0" tIns="0" rIns="0" bIns="0" rtlCol="0" anchor="ctr"/>
          <a:lstStyle/>
          <a:p>
            <a:pPr indent="0" marL="0">
              <a:buNone/>
            </a:pPr>
            <a:r>
              <a:rPr lang="en-US" sz="1600" b="1" dirty="0">
                <a:solidFill>
                  <a:srgbClr val="5C4A12"/>
                </a:solidFill>
                <a:latin typeface="Courier New" pitchFamily="34" charset="0"/>
                <a:ea typeface="Courier New" pitchFamily="34" charset="-122"/>
                <a:cs typeface="Courier New" pitchFamily="34" charset="-120"/>
              </a:rPr>
              <a:t>TRY, IN ORDER. PREDICT BEFORE EVERY RUN.</a:t>
            </a:r>
            <a:endParaRPr lang="en-US" sz="1600" dirty="0"/>
          </a:p>
        </p:txBody>
      </p:sp>
      <p:sp>
        <p:nvSpPr>
          <p:cNvPr id="7" name="Shape 5"/>
          <p:cNvSpPr/>
          <p:nvPr/>
        </p:nvSpPr>
        <p:spPr>
          <a:xfrm>
            <a:off x="475488" y="3538728"/>
            <a:ext cx="2651760" cy="822960"/>
          </a:xfrm>
          <a:prstGeom prst="roundRect">
            <a:avLst>
              <a:gd name="adj" fmla="val 8889"/>
            </a:avLst>
          </a:prstGeom>
          <a:solidFill>
            <a:srgbClr val="2B2B2B"/>
          </a:solidFill>
          <a:ln w="12700">
            <a:solidFill>
              <a:srgbClr val="2B2B2B"/>
            </a:solidFill>
            <a:prstDash val="solid"/>
          </a:ln>
        </p:spPr>
      </p:sp>
      <p:sp>
        <p:nvSpPr>
          <p:cNvPr id="8" name="Shape 6"/>
          <p:cNvSpPr/>
          <p:nvPr/>
        </p:nvSpPr>
        <p:spPr>
          <a:xfrm>
            <a:off x="411480" y="3474720"/>
            <a:ext cx="2651760" cy="822960"/>
          </a:xfrm>
          <a:prstGeom prst="roundRect">
            <a:avLst>
              <a:gd name="adj" fmla="val 8889"/>
            </a:avLst>
          </a:prstGeom>
          <a:solidFill>
            <a:srgbClr val="FFFFFF"/>
          </a:solidFill>
          <a:ln w="25400">
            <a:solidFill>
              <a:srgbClr val="2B2B2B"/>
            </a:solidFill>
            <a:prstDash val="solid"/>
          </a:ln>
        </p:spPr>
      </p:sp>
      <p:sp>
        <p:nvSpPr>
          <p:cNvPr id="9" name="Text 7"/>
          <p:cNvSpPr txBox="1"/>
          <p:nvPr/>
        </p:nvSpPr>
        <p:spPr>
          <a:xfrm>
            <a:off x="576072" y="3566160"/>
            <a:ext cx="2322576" cy="640080"/>
          </a:xfrm>
          <a:prstGeom prst="rect">
            <a:avLst/>
          </a:prstGeom>
          <a:noFill/>
          <a:ln/>
        </p:spPr>
        <p:txBody>
          <a:bodyPr wrap="square" lIns="0" tIns="0" rIns="0" bIns="0" rtlCol="0" anchor="ctr"/>
          <a:lstStyle/>
          <a:p>
            <a:pPr indent="0" marL="0">
              <a:spcAft>
                <a:spcPts val="600"/>
              </a:spcAft>
              <a:buNone/>
            </a:pPr>
            <a:r>
              <a:rPr lang="en-US" sz="2200" b="1" dirty="0">
                <a:solidFill>
                  <a:srgbClr val="2B2B2B"/>
                </a:solidFill>
                <a:latin typeface="Courier New" pitchFamily="34" charset="0"/>
                <a:ea typeface="Courier New" pitchFamily="34" charset="-122"/>
                <a:cs typeface="Courier New" pitchFamily="34" charset="-120"/>
              </a:rPr>
              <a:t>100</a:t>
            </a:r>
            <a:pPr indent="0" marL="0">
              <a:spcAft>
                <a:spcPts val="600"/>
              </a:spcAft>
              <a:buNone/>
            </a:pPr>
            <a:r>
              <a:rPr lang="en-US" sz="2200" dirty="0">
                <a:solidFill>
                  <a:srgbClr val="2B2B2B"/>
                </a:solidFill>
                <a:latin typeface="Calibri" pitchFamily="34" charset="0"/>
                <a:ea typeface="Calibri" pitchFamily="34" charset="-122"/>
                <a:cs typeface="Calibri" pitchFamily="34" charset="-120"/>
              </a:rPr>
              <a:t> → </a:t>
            </a:r>
            <a:pPr indent="0" marL="0">
              <a:spcAft>
                <a:spcPts val="600"/>
              </a:spcAft>
              <a:buNone/>
            </a:pPr>
            <a:r>
              <a:rPr lang="en-US" sz="2200" b="1" dirty="0">
                <a:solidFill>
                  <a:srgbClr val="2B2B2B"/>
                </a:solidFill>
                <a:latin typeface="Courier New" pitchFamily="34" charset="0"/>
                <a:ea typeface="Courier New" pitchFamily="34" charset="-122"/>
                <a:cs typeface="Courier New" pitchFamily="34" charset="-120"/>
              </a:rPr>
              <a:t>500</a:t>
            </a:r>
            <a:endParaRPr lang="en-US" sz="2200" dirty="0"/>
          </a:p>
        </p:txBody>
      </p:sp>
      <p:sp>
        <p:nvSpPr>
          <p:cNvPr id="10" name="Shape 8"/>
          <p:cNvSpPr/>
          <p:nvPr/>
        </p:nvSpPr>
        <p:spPr>
          <a:xfrm>
            <a:off x="3282696" y="3538728"/>
            <a:ext cx="2651760" cy="822960"/>
          </a:xfrm>
          <a:prstGeom prst="roundRect">
            <a:avLst>
              <a:gd name="adj" fmla="val 8889"/>
            </a:avLst>
          </a:prstGeom>
          <a:solidFill>
            <a:srgbClr val="2B2B2B"/>
          </a:solidFill>
          <a:ln w="12700">
            <a:solidFill>
              <a:srgbClr val="2B2B2B"/>
            </a:solidFill>
            <a:prstDash val="solid"/>
          </a:ln>
        </p:spPr>
      </p:sp>
      <p:sp>
        <p:nvSpPr>
          <p:cNvPr id="11" name="Shape 9"/>
          <p:cNvSpPr/>
          <p:nvPr/>
        </p:nvSpPr>
        <p:spPr>
          <a:xfrm>
            <a:off x="3218688" y="3474720"/>
            <a:ext cx="2651760" cy="822960"/>
          </a:xfrm>
          <a:prstGeom prst="roundRect">
            <a:avLst>
              <a:gd name="adj" fmla="val 8889"/>
            </a:avLst>
          </a:prstGeom>
          <a:solidFill>
            <a:srgbClr val="FFFFFF"/>
          </a:solidFill>
          <a:ln w="25400">
            <a:solidFill>
              <a:srgbClr val="2B2B2B"/>
            </a:solidFill>
            <a:prstDash val="solid"/>
          </a:ln>
        </p:spPr>
      </p:sp>
      <p:sp>
        <p:nvSpPr>
          <p:cNvPr id="12" name="Text 10"/>
          <p:cNvSpPr txBox="1"/>
          <p:nvPr/>
        </p:nvSpPr>
        <p:spPr>
          <a:xfrm>
            <a:off x="3383280" y="3566160"/>
            <a:ext cx="2322576" cy="640080"/>
          </a:xfrm>
          <a:prstGeom prst="rect">
            <a:avLst/>
          </a:prstGeom>
          <a:noFill/>
          <a:ln/>
        </p:spPr>
        <p:txBody>
          <a:bodyPr wrap="square" lIns="0" tIns="0" rIns="0" bIns="0" rtlCol="0" anchor="ctr"/>
          <a:lstStyle/>
          <a:p>
            <a:pPr indent="0" marL="0">
              <a:spcAft>
                <a:spcPts val="600"/>
              </a:spcAft>
              <a:buNone/>
            </a:pPr>
            <a:r>
              <a:rPr lang="en-US" sz="2200" b="1" dirty="0">
                <a:solidFill>
                  <a:srgbClr val="2B2B2B"/>
                </a:solidFill>
                <a:latin typeface="Courier New" pitchFamily="34" charset="0"/>
                <a:ea typeface="Courier New" pitchFamily="34" charset="-122"/>
                <a:cs typeface="Courier New" pitchFamily="34" charset="-120"/>
              </a:rPr>
              <a:t>let i = 0</a:t>
            </a:r>
            <a:pPr indent="0" marL="0">
              <a:spcAft>
                <a:spcPts val="600"/>
              </a:spcAft>
              <a:buNone/>
            </a:pPr>
            <a:r>
              <a:rPr lang="en-US" sz="2200" dirty="0">
                <a:solidFill>
                  <a:srgbClr val="2B2B2B"/>
                </a:solidFill>
                <a:latin typeface="Calibri" pitchFamily="34" charset="0"/>
                <a:ea typeface="Calibri" pitchFamily="34" charset="-122"/>
                <a:cs typeface="Calibri" pitchFamily="34" charset="-120"/>
              </a:rPr>
              <a:t> → </a:t>
            </a:r>
            <a:pPr indent="0" marL="0">
              <a:spcAft>
                <a:spcPts val="600"/>
              </a:spcAft>
              <a:buNone/>
            </a:pPr>
            <a:r>
              <a:rPr lang="en-US" sz="2200" b="1" dirty="0">
                <a:solidFill>
                  <a:srgbClr val="2B2B2B"/>
                </a:solidFill>
                <a:latin typeface="Courier New" pitchFamily="34" charset="0"/>
                <a:ea typeface="Courier New" pitchFamily="34" charset="-122"/>
                <a:cs typeface="Courier New" pitchFamily="34" charset="-120"/>
              </a:rPr>
              <a:t>let i = 1</a:t>
            </a:r>
            <a:endParaRPr lang="en-US" sz="2200" dirty="0"/>
          </a:p>
        </p:txBody>
      </p:sp>
      <p:sp>
        <p:nvSpPr>
          <p:cNvPr id="13" name="Shape 11"/>
          <p:cNvSpPr/>
          <p:nvPr/>
        </p:nvSpPr>
        <p:spPr>
          <a:xfrm>
            <a:off x="6089904" y="3538728"/>
            <a:ext cx="2651760" cy="822960"/>
          </a:xfrm>
          <a:prstGeom prst="roundRect">
            <a:avLst>
              <a:gd name="adj" fmla="val 8889"/>
            </a:avLst>
          </a:prstGeom>
          <a:solidFill>
            <a:srgbClr val="2B2B2B"/>
          </a:solidFill>
          <a:ln w="12700">
            <a:solidFill>
              <a:srgbClr val="2B2B2B"/>
            </a:solidFill>
            <a:prstDash val="solid"/>
          </a:ln>
        </p:spPr>
      </p:sp>
      <p:sp>
        <p:nvSpPr>
          <p:cNvPr id="14" name="Shape 12"/>
          <p:cNvSpPr/>
          <p:nvPr/>
        </p:nvSpPr>
        <p:spPr>
          <a:xfrm>
            <a:off x="6025896" y="3474720"/>
            <a:ext cx="2651760" cy="822960"/>
          </a:xfrm>
          <a:prstGeom prst="roundRect">
            <a:avLst>
              <a:gd name="adj" fmla="val 8889"/>
            </a:avLst>
          </a:prstGeom>
          <a:solidFill>
            <a:srgbClr val="FFFFFF"/>
          </a:solidFill>
          <a:ln w="25400">
            <a:solidFill>
              <a:srgbClr val="2B2B2B"/>
            </a:solidFill>
            <a:prstDash val="solid"/>
          </a:ln>
        </p:spPr>
      </p:sp>
      <p:sp>
        <p:nvSpPr>
          <p:cNvPr id="15" name="Text 13"/>
          <p:cNvSpPr txBox="1"/>
          <p:nvPr/>
        </p:nvSpPr>
        <p:spPr>
          <a:xfrm>
            <a:off x="6190488" y="3566160"/>
            <a:ext cx="2322576" cy="640080"/>
          </a:xfrm>
          <a:prstGeom prst="rect">
            <a:avLst/>
          </a:prstGeom>
          <a:noFill/>
          <a:ln/>
        </p:spPr>
        <p:txBody>
          <a:bodyPr wrap="square" lIns="0" tIns="0" rIns="0" bIns="0" rtlCol="0" anchor="ctr"/>
          <a:lstStyle/>
          <a:p>
            <a:pPr indent="0" marL="0">
              <a:spcAft>
                <a:spcPts val="600"/>
              </a:spcAft>
              <a:buNone/>
            </a:pPr>
            <a:r>
              <a:rPr lang="en-US" sz="2200" b="1" dirty="0">
                <a:solidFill>
                  <a:srgbClr val="2B2B2B"/>
                </a:solidFill>
                <a:latin typeface="Courier New" pitchFamily="34" charset="0"/>
                <a:ea typeface="Courier New" pitchFamily="34" charset="-122"/>
                <a:cs typeface="Courier New" pitchFamily="34" charset="-120"/>
              </a:rPr>
              <a:t>&lt;</a:t>
            </a:r>
            <a:pPr indent="0" marL="0">
              <a:spcAft>
                <a:spcPts val="600"/>
              </a:spcAft>
              <a:buNone/>
            </a:pPr>
            <a:r>
              <a:rPr lang="en-US" sz="2200" dirty="0">
                <a:solidFill>
                  <a:srgbClr val="2B2B2B"/>
                </a:solidFill>
                <a:latin typeface="Calibri" pitchFamily="34" charset="0"/>
                <a:ea typeface="Calibri" pitchFamily="34" charset="-122"/>
                <a:cs typeface="Calibri" pitchFamily="34" charset="-120"/>
              </a:rPr>
              <a:t> → </a:t>
            </a:r>
            <a:pPr indent="0" marL="0">
              <a:spcAft>
                <a:spcPts val="600"/>
              </a:spcAft>
              <a:buNone/>
            </a:pPr>
            <a:r>
              <a:rPr lang="en-US" sz="2200" b="1" dirty="0">
                <a:solidFill>
                  <a:srgbClr val="2B2B2B"/>
                </a:solidFill>
                <a:latin typeface="Courier New" pitchFamily="34" charset="0"/>
                <a:ea typeface="Courier New" pitchFamily="34" charset="-122"/>
                <a:cs typeface="Courier New" pitchFamily="34" charset="-120"/>
              </a:rPr>
              <a:t>&lt;=</a:t>
            </a:r>
            <a:endParaRPr lang="en-US" sz="2200" dirty="0"/>
          </a:p>
        </p:txBody>
      </p:sp>
      <p:sp>
        <p:nvSpPr>
          <p:cNvPr id="16" name="Text 14"/>
          <p:cNvSpPr txBox="1"/>
          <p:nvPr/>
        </p:nvSpPr>
        <p:spPr>
          <a:xfrm>
            <a:off x="411480" y="4434840"/>
            <a:ext cx="7863840" cy="365760"/>
          </a:xfrm>
          <a:prstGeom prst="rect">
            <a:avLst/>
          </a:prstGeom>
          <a:noFill/>
          <a:ln/>
        </p:spPr>
        <p:txBody>
          <a:bodyPr wrap="square" lIns="0" tIns="0" rIns="0" bIns="0" rtlCol="0" anchor="ctr"/>
          <a:lstStyle/>
          <a:p>
            <a:pPr indent="0" marL="0">
              <a:buNone/>
            </a:pPr>
            <a:r>
              <a:rPr lang="en-US" sz="1800" dirty="0">
                <a:solidFill>
                  <a:srgbClr val="5C4A12"/>
                </a:solidFill>
              </a:rPr>
              <a:t>Run and edit it live in the interactive lesson page.</a:t>
            </a:r>
            <a:endParaRPr lang="en-US" sz="18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How many trips?</a:t>
            </a:r>
            <a:endParaRPr lang="en-US" sz="3200" dirty="0"/>
          </a:p>
        </p:txBody>
      </p:sp>
      <p:sp>
        <p:nvSpPr>
          <p:cNvPr id="3" name="Shape 1"/>
          <p:cNvSpPr/>
          <p:nvPr/>
        </p:nvSpPr>
        <p:spPr>
          <a:xfrm>
            <a:off x="475488" y="1115568"/>
            <a:ext cx="4754880" cy="2834640"/>
          </a:xfrm>
          <a:prstGeom prst="rect">
            <a:avLst/>
          </a:prstGeom>
          <a:solidFill>
            <a:srgbClr val="2B2B2B"/>
          </a:solidFill>
          <a:ln w="12700">
            <a:solidFill>
              <a:srgbClr val="2B2B2B"/>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4754880" cy="914400"/>
        </p:xfrm>
        <a:graphic>
          <a:graphicData uri="http://schemas.openxmlformats.org/drawingml/2006/table">
            <a:tbl>
              <a:tblPr/>
              <a:tblGrid>
                <a:gridCol w="3566160"/>
                <a:gridCol w="1188720"/>
              </a:tblGrid>
              <a:tr h="566928">
                <a:tc>
                  <a:txBody>
                    <a:bodyPr/>
                    <a:lstStyle/>
                    <a:p>
                      <a:pPr indent="0" marL="0">
                        <a:buNone/>
                      </a:pPr>
                      <a:r>
                        <a:rPr lang="en-US" sz="2000" b="1" dirty="0">
                          <a:solidFill>
                            <a:srgbClr val="F4C430"/>
                          </a:solidFill>
                          <a:latin typeface="Courier New" pitchFamily="34" charset="0"/>
                          <a:ea typeface="Courier New" pitchFamily="34" charset="-122"/>
                          <a:cs typeface="Courier New" pitchFamily="34" charset="-120"/>
                        </a:rPr>
                        <a:t>header</a:t>
                      </a:r>
                      <a:endParaRPr lang="en-US" sz="20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2B2B2B"/>
                    </a:solidFill>
                  </a:tcPr>
                </a:tc>
                <a:tc>
                  <a:txBody>
                    <a:bodyPr/>
                    <a:lstStyle/>
                    <a:p>
                      <a:pPr indent="0" marL="0">
                        <a:buNone/>
                      </a:pPr>
                      <a:r>
                        <a:rPr lang="en-US" sz="2000" b="1" dirty="0">
                          <a:solidFill>
                            <a:srgbClr val="F4C430"/>
                          </a:solidFill>
                          <a:latin typeface="Courier New" pitchFamily="34" charset="0"/>
                          <a:ea typeface="Courier New" pitchFamily="34" charset="-122"/>
                          <a:cs typeface="Courier New" pitchFamily="34" charset="-120"/>
                        </a:rPr>
                        <a:t>trips</a:t>
                      </a:r>
                      <a:endParaRPr lang="en-US" sz="20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2B2B2B"/>
                    </a:solidFill>
                  </a:tcPr>
                </a:tc>
              </a:tr>
              <a:tr h="566928">
                <a:tc>
                  <a:txBody>
                    <a:bodyPr/>
                    <a:lstStyle/>
                    <a:p>
                      <a:pPr indent="0" marL="0">
                        <a:buNone/>
                      </a:pPr>
                      <a:r>
                        <a:rPr lang="en-US" sz="2200" dirty="0">
                          <a:solidFill>
                            <a:srgbClr val="2B2B2B"/>
                          </a:solidFill>
                          <a:latin typeface="Courier New" pitchFamily="34" charset="0"/>
                          <a:ea typeface="Courier New" pitchFamily="34" charset="-122"/>
                          <a:cs typeface="Courier New" pitchFamily="34" charset="-120"/>
                        </a:rPr>
                        <a:t>let i = 0; i &lt; 5</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2200" dirty="0">
                          <a:solidFill>
                            <a:srgbClr val="2B2B2B"/>
                          </a:solidFill>
                          <a:latin typeface="Courier New" pitchFamily="34" charset="0"/>
                          <a:ea typeface="Courier New" pitchFamily="34" charset="-122"/>
                          <a:cs typeface="Courier New" pitchFamily="34" charset="-120"/>
                        </a:rPr>
                        <a:t>5</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r>
              <a:tr h="566928">
                <a:tc>
                  <a:txBody>
                    <a:bodyPr/>
                    <a:lstStyle/>
                    <a:p>
                      <a:pPr indent="0" marL="0">
                        <a:buNone/>
                      </a:pPr>
                      <a:r>
                        <a:rPr lang="en-US" sz="2200" dirty="0">
                          <a:solidFill>
                            <a:srgbClr val="2B2B2B"/>
                          </a:solidFill>
                          <a:latin typeface="Courier New" pitchFamily="34" charset="0"/>
                          <a:ea typeface="Courier New" pitchFamily="34" charset="-122"/>
                          <a:cs typeface="Courier New" pitchFamily="34" charset="-120"/>
                        </a:rPr>
                        <a:t>let i = 1; i &lt;= 5</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2200" dirty="0">
                          <a:solidFill>
                            <a:srgbClr val="2B2B2B"/>
                          </a:solidFill>
                          <a:latin typeface="Courier New" pitchFamily="34" charset="0"/>
                          <a:ea typeface="Courier New" pitchFamily="34" charset="-122"/>
                          <a:cs typeface="Courier New" pitchFamily="34" charset="-120"/>
                        </a:rPr>
                        <a:t>5</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r>
              <a:tr h="566928">
                <a:tc>
                  <a:txBody>
                    <a:bodyPr/>
                    <a:lstStyle/>
                    <a:p>
                      <a:pPr indent="0" marL="0">
                        <a:buNone/>
                      </a:pPr>
                      <a:r>
                        <a:rPr lang="en-US" sz="2200" dirty="0">
                          <a:solidFill>
                            <a:srgbClr val="2B2B2B"/>
                          </a:solidFill>
                          <a:latin typeface="Courier New" pitchFamily="34" charset="0"/>
                          <a:ea typeface="Courier New" pitchFamily="34" charset="-122"/>
                          <a:cs typeface="Courier New" pitchFamily="34" charset="-120"/>
                        </a:rPr>
                        <a:t>let i = 0; i &lt;= 5</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2200" b="1" dirty="0">
                          <a:solidFill>
                            <a:srgbClr val="2B2B2B"/>
                          </a:solidFill>
                          <a:latin typeface="Courier New" pitchFamily="34" charset="0"/>
                          <a:ea typeface="Courier New" pitchFamily="34" charset="-122"/>
                          <a:cs typeface="Courier New" pitchFamily="34" charset="-120"/>
                        </a:rPr>
                        <a:t>6</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r>
              <a:tr h="566928">
                <a:tc>
                  <a:txBody>
                    <a:bodyPr/>
                    <a:lstStyle/>
                    <a:p>
                      <a:pPr indent="0" marL="0">
                        <a:buNone/>
                      </a:pPr>
                      <a:r>
                        <a:rPr lang="en-US" sz="2200" dirty="0">
                          <a:solidFill>
                            <a:srgbClr val="2B2B2B"/>
                          </a:solidFill>
                          <a:latin typeface="Courier New" pitchFamily="34" charset="0"/>
                          <a:ea typeface="Courier New" pitchFamily="34" charset="-122"/>
                          <a:cs typeface="Courier New" pitchFamily="34" charset="-120"/>
                        </a:rPr>
                        <a:t>let i = 1; i &lt; 5</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2200" b="1" dirty="0">
                          <a:solidFill>
                            <a:srgbClr val="2B2B2B"/>
                          </a:solidFill>
                          <a:latin typeface="Courier New" pitchFamily="34" charset="0"/>
                          <a:ea typeface="Courier New" pitchFamily="34" charset="-122"/>
                          <a:cs typeface="Courier New" pitchFamily="34" charset="-120"/>
                        </a:rPr>
                        <a:t>4</a:t>
                      </a:r>
                      <a:endParaRPr lang="en-US" sz="22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r>
            </a:tbl>
          </a:graphicData>
        </a:graphic>
      </p:graphicFrame>
      <p:sp>
        <p:nvSpPr>
          <p:cNvPr id="5" name="Shape 2"/>
          <p:cNvSpPr/>
          <p:nvPr/>
        </p:nvSpPr>
        <p:spPr>
          <a:xfrm>
            <a:off x="5550408" y="1115568"/>
            <a:ext cx="3246120" cy="1828800"/>
          </a:xfrm>
          <a:prstGeom prst="roundRect">
            <a:avLst>
              <a:gd name="adj" fmla="val 4000"/>
            </a:avLst>
          </a:prstGeom>
          <a:solidFill>
            <a:srgbClr val="2B2B2B"/>
          </a:solidFill>
          <a:ln w="12700">
            <a:solidFill>
              <a:srgbClr val="2B2B2B"/>
            </a:solidFill>
            <a:prstDash val="solid"/>
          </a:ln>
        </p:spPr>
      </p:sp>
      <p:sp>
        <p:nvSpPr>
          <p:cNvPr id="6" name="Shape 3"/>
          <p:cNvSpPr/>
          <p:nvPr/>
        </p:nvSpPr>
        <p:spPr>
          <a:xfrm>
            <a:off x="5486400" y="1051560"/>
            <a:ext cx="3246120" cy="1828800"/>
          </a:xfrm>
          <a:prstGeom prst="roundRect">
            <a:avLst>
              <a:gd name="adj" fmla="val 4000"/>
            </a:avLst>
          </a:prstGeom>
          <a:solidFill>
            <a:srgbClr val="FFFFFF"/>
          </a:solidFill>
          <a:ln w="25400">
            <a:solidFill>
              <a:srgbClr val="2B2B2B"/>
            </a:solidFill>
            <a:prstDash val="solid"/>
          </a:ln>
        </p:spPr>
      </p:sp>
      <p:sp>
        <p:nvSpPr>
          <p:cNvPr id="7" name="Text 4"/>
          <p:cNvSpPr txBox="1"/>
          <p:nvPr/>
        </p:nvSpPr>
        <p:spPr>
          <a:xfrm>
            <a:off x="5650992" y="1143000"/>
            <a:ext cx="2916936" cy="1645920"/>
          </a:xfrm>
          <a:prstGeom prst="rect">
            <a:avLst/>
          </a:prstGeom>
          <a:noFill/>
          <a:ln/>
        </p:spPr>
        <p:txBody>
          <a:bodyPr wrap="square" lIns="0" tIns="0" rIns="0" bIns="0" rtlCol="0" anchor="t"/>
          <a:lstStyle/>
          <a:p>
            <a:pPr indent="0" marL="0">
              <a:spcAft>
                <a:spcPts val="400"/>
              </a:spcAft>
              <a:buNone/>
            </a:pPr>
            <a:r>
              <a:rPr lang="en-US" sz="1600" b="1" dirty="0">
                <a:solidFill>
                  <a:srgbClr val="5C4A12"/>
                </a:solidFill>
                <a:latin typeface="Courier New" pitchFamily="34" charset="0"/>
                <a:ea typeface="Courier New" pitchFamily="34" charset="-122"/>
                <a:cs typeface="Courier New" pitchFamily="34" charset="-120"/>
              </a:rPr>
              <a:t>THE HABIT</a:t>
            </a:r>
            <a:endParaRPr lang="en-US" sz="1600" dirty="0"/>
          </a:p>
          <a:p>
            <a:pPr indent="0" marL="0">
              <a:spcAft>
                <a:spcPts val="600"/>
              </a:spcAft>
              <a:buNone/>
            </a:pPr>
            <a:r>
              <a:rPr lang="en-US" sz="2200" dirty="0">
                <a:solidFill>
                  <a:srgbClr val="2B2B2B"/>
                </a:solidFill>
                <a:latin typeface="Calibri" pitchFamily="34" charset="0"/>
                <a:ea typeface="Calibri" pitchFamily="34" charset="-122"/>
                <a:cs typeface="Calibri" pitchFamily="34" charset="-120"/>
              </a:rPr>
              <a:t>Start at </a:t>
            </a:r>
            <a:pPr indent="0" marL="0">
              <a:spcAft>
                <a:spcPts val="600"/>
              </a:spcAft>
              <a:buNone/>
            </a:pPr>
            <a:r>
              <a:rPr lang="en-US" sz="2200" b="1" dirty="0">
                <a:solidFill>
                  <a:srgbClr val="2B2B2B"/>
                </a:solidFill>
                <a:latin typeface="Calibri" pitchFamily="34" charset="0"/>
                <a:ea typeface="Calibri" pitchFamily="34" charset="-122"/>
                <a:cs typeface="Calibri" pitchFamily="34" charset="-120"/>
              </a:rPr>
              <a:t>0</a:t>
            </a:r>
            <a:pPr indent="0" marL="0">
              <a:spcAft>
                <a:spcPts val="600"/>
              </a:spcAft>
              <a:buNone/>
            </a:pPr>
            <a:r>
              <a:rPr lang="en-US" sz="2200" dirty="0">
                <a:solidFill>
                  <a:srgbClr val="2B2B2B"/>
                </a:solidFill>
                <a:latin typeface="Calibri" pitchFamily="34" charset="0"/>
                <a:ea typeface="Calibri" pitchFamily="34" charset="-122"/>
                <a:cs typeface="Calibri" pitchFamily="34" charset="-120"/>
              </a:rPr>
              <a:t>, use </a:t>
            </a:r>
            <a:pPr indent="0" marL="0">
              <a:spcAft>
                <a:spcPts val="600"/>
              </a:spcAft>
              <a:buNone/>
            </a:pPr>
            <a:r>
              <a:rPr lang="en-US" sz="2200" b="1" dirty="0">
                <a:solidFill>
                  <a:srgbClr val="2B2B2B"/>
                </a:solidFill>
                <a:latin typeface="Courier New" pitchFamily="34" charset="0"/>
                <a:ea typeface="Courier New" pitchFamily="34" charset="-122"/>
                <a:cs typeface="Courier New" pitchFamily="34" charset="-120"/>
              </a:rPr>
              <a:t>&lt;</a:t>
            </a:r>
            <a:pPr indent="0" marL="0">
              <a:spcAft>
                <a:spcPts val="600"/>
              </a:spcAft>
              <a:buNone/>
            </a:pPr>
            <a:r>
              <a:rPr lang="en-US" sz="2200" dirty="0">
                <a:solidFill>
                  <a:srgbClr val="2B2B2B"/>
                </a:solidFill>
                <a:latin typeface="Calibri" pitchFamily="34" charset="0"/>
                <a:ea typeface="Calibri" pitchFamily="34" charset="-122"/>
                <a:cs typeface="Calibri" pitchFamily="34" charset="-120"/>
              </a:rPr>
              <a:t>. The number after &lt; is the number of trips.</a:t>
            </a:r>
            <a:endParaRPr lang="en-US" sz="1600" dirty="0"/>
          </a:p>
        </p:txBody>
      </p:sp>
      <p:sp>
        <p:nvSpPr>
          <p:cNvPr id="8" name="Shape 5"/>
          <p:cNvSpPr/>
          <p:nvPr/>
        </p:nvSpPr>
        <p:spPr>
          <a:xfrm>
            <a:off x="5550408" y="3172968"/>
            <a:ext cx="3246120" cy="1508760"/>
          </a:xfrm>
          <a:prstGeom prst="roundRect">
            <a:avLst>
              <a:gd name="adj" fmla="val 4848"/>
            </a:avLst>
          </a:prstGeom>
          <a:solidFill>
            <a:srgbClr val="2B2B2B"/>
          </a:solidFill>
          <a:ln w="12700">
            <a:solidFill>
              <a:srgbClr val="2B2B2B"/>
            </a:solidFill>
            <a:prstDash val="solid"/>
          </a:ln>
        </p:spPr>
      </p:sp>
      <p:sp>
        <p:nvSpPr>
          <p:cNvPr id="9" name="Shape 6"/>
          <p:cNvSpPr/>
          <p:nvPr/>
        </p:nvSpPr>
        <p:spPr>
          <a:xfrm>
            <a:off x="5486400" y="3108960"/>
            <a:ext cx="3246120" cy="1508760"/>
          </a:xfrm>
          <a:prstGeom prst="roundRect">
            <a:avLst>
              <a:gd name="adj" fmla="val 4848"/>
            </a:avLst>
          </a:prstGeom>
          <a:solidFill>
            <a:srgbClr val="FFFFFF"/>
          </a:solidFill>
          <a:ln w="25400">
            <a:solidFill>
              <a:srgbClr val="2B2B2B"/>
            </a:solidFill>
            <a:prstDash val="solid"/>
          </a:ln>
        </p:spPr>
      </p:sp>
      <p:sp>
        <p:nvSpPr>
          <p:cNvPr id="10" name="Text 7"/>
          <p:cNvSpPr txBox="1"/>
          <p:nvPr/>
        </p:nvSpPr>
        <p:spPr>
          <a:xfrm>
            <a:off x="5650992" y="3200400"/>
            <a:ext cx="2916936" cy="1325880"/>
          </a:xfrm>
          <a:prstGeom prst="rect">
            <a:avLst/>
          </a:prstGeom>
          <a:noFill/>
          <a:ln/>
        </p:spPr>
        <p:txBody>
          <a:bodyPr wrap="square" lIns="0" tIns="0" rIns="0" bIns="0" rtlCol="0" anchor="t"/>
          <a:lstStyle/>
          <a:p>
            <a:pPr indent="0" marL="0">
              <a:spcAft>
                <a:spcPts val="400"/>
              </a:spcAft>
              <a:buNone/>
            </a:pPr>
            <a:r>
              <a:rPr lang="en-US" sz="1600" b="1" dirty="0">
                <a:solidFill>
                  <a:srgbClr val="5C4A12"/>
                </a:solidFill>
                <a:latin typeface="Courier New" pitchFamily="34" charset="0"/>
                <a:ea typeface="Courier New" pitchFamily="34" charset="-122"/>
                <a:cs typeface="Courier New" pitchFamily="34" charset="-120"/>
              </a:rPr>
              <a:t>I++</a:t>
            </a:r>
            <a:endParaRPr lang="en-US" sz="1600" dirty="0"/>
          </a:p>
          <a:p>
            <a:pPr indent="0" marL="0">
              <a:spcAft>
                <a:spcPts val="600"/>
              </a:spcAft>
              <a:buNone/>
            </a:pPr>
            <a:r>
              <a:rPr lang="en-US" sz="2200" dirty="0">
                <a:solidFill>
                  <a:srgbClr val="2B2B2B"/>
                </a:solidFill>
                <a:latin typeface="Calibri" pitchFamily="34" charset="0"/>
                <a:ea typeface="Calibri" pitchFamily="34" charset="-122"/>
                <a:cs typeface="Calibri" pitchFamily="34" charset="-120"/>
              </a:rPr>
              <a:t>Short for </a:t>
            </a:r>
            <a:pPr indent="0" marL="0">
              <a:spcAft>
                <a:spcPts val="600"/>
              </a:spcAft>
              <a:buNone/>
            </a:pPr>
            <a:r>
              <a:rPr lang="en-US" sz="2200" dirty="0">
                <a:solidFill>
                  <a:srgbClr val="2B2B2B"/>
                </a:solidFill>
                <a:latin typeface="Courier New" pitchFamily="34" charset="0"/>
                <a:ea typeface="Courier New" pitchFamily="34" charset="-122"/>
                <a:cs typeface="Courier New" pitchFamily="34" charset="-120"/>
              </a:rPr>
              <a:t>i = i + 1</a:t>
            </a:r>
            <a:endParaRPr lang="en-US" sz="1600" dirty="0"/>
          </a:p>
          <a:p>
            <a:pPr indent="0" marL="0">
              <a:spcAft>
                <a:spcPts val="600"/>
              </a:spcAft>
              <a:buNone/>
            </a:pPr>
            <a:r>
              <a:rPr lang="en-US" sz="2200" dirty="0">
                <a:solidFill>
                  <a:srgbClr val="2B2B2B"/>
                </a:solidFill>
                <a:latin typeface="Calibri" pitchFamily="34" charset="0"/>
                <a:ea typeface="Calibri" pitchFamily="34" charset="-122"/>
                <a:cs typeface="Calibri" pitchFamily="34" charset="-120"/>
              </a:rPr>
              <a:t>The starter uses it.</a:t>
            </a:r>
            <a:endParaRPr lang="en-US" sz="16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while or for?</a:t>
            </a:r>
            <a:endParaRPr lang="en-US" sz="3200" dirty="0"/>
          </a:p>
        </p:txBody>
      </p:sp>
      <p:sp>
        <p:nvSpPr>
          <p:cNvPr id="3" name="Shape 1"/>
          <p:cNvSpPr/>
          <p:nvPr/>
        </p:nvSpPr>
        <p:spPr>
          <a:xfrm>
            <a:off x="475488" y="1115568"/>
            <a:ext cx="4023360" cy="2148840"/>
          </a:xfrm>
          <a:prstGeom prst="roundRect">
            <a:avLst>
              <a:gd name="adj" fmla="val 3404"/>
            </a:avLst>
          </a:prstGeom>
          <a:solidFill>
            <a:srgbClr val="2B2B2B"/>
          </a:solidFill>
          <a:ln w="12700">
            <a:solidFill>
              <a:srgbClr val="2B2B2B"/>
            </a:solidFill>
            <a:prstDash val="solid"/>
          </a:ln>
        </p:spPr>
      </p:sp>
      <p:sp>
        <p:nvSpPr>
          <p:cNvPr id="4" name="Shape 2"/>
          <p:cNvSpPr/>
          <p:nvPr/>
        </p:nvSpPr>
        <p:spPr>
          <a:xfrm>
            <a:off x="411480" y="1051560"/>
            <a:ext cx="4023360" cy="2148840"/>
          </a:xfrm>
          <a:prstGeom prst="roundRect">
            <a:avLst>
              <a:gd name="adj" fmla="val 3404"/>
            </a:avLst>
          </a:prstGeom>
          <a:solidFill>
            <a:srgbClr val="FFFFFF"/>
          </a:solidFill>
          <a:ln w="25400">
            <a:solidFill>
              <a:srgbClr val="2B2B2B"/>
            </a:solidFill>
            <a:prstDash val="solid"/>
          </a:ln>
        </p:spPr>
      </p:sp>
      <p:sp>
        <p:nvSpPr>
          <p:cNvPr id="5" name="Text 3"/>
          <p:cNvSpPr txBox="1"/>
          <p:nvPr/>
        </p:nvSpPr>
        <p:spPr>
          <a:xfrm>
            <a:off x="576072" y="1143000"/>
            <a:ext cx="3694176" cy="1965960"/>
          </a:xfrm>
          <a:prstGeom prst="rect">
            <a:avLst/>
          </a:prstGeom>
          <a:noFill/>
          <a:ln/>
        </p:spPr>
        <p:txBody>
          <a:bodyPr wrap="square" lIns="0" tIns="0" rIns="0" bIns="0" rtlCol="0" anchor="t"/>
          <a:lstStyle/>
          <a:p>
            <a:pPr indent="0" marL="0">
              <a:spcAft>
                <a:spcPts val="600"/>
              </a:spcAft>
              <a:buNone/>
            </a:pPr>
            <a:r>
              <a:rPr lang="en-US" sz="2200" b="1" dirty="0">
                <a:solidFill>
                  <a:srgbClr val="2B2B2B"/>
                </a:solidFill>
                <a:latin typeface="Calibri" pitchFamily="34" charset="0"/>
                <a:ea typeface="Calibri" pitchFamily="34" charset="-122"/>
                <a:cs typeface="Calibri" pitchFamily="34" charset="-120"/>
              </a:rPr>
              <a:t>Know how many? → for</a:t>
            </a:r>
            <a:endParaRPr lang="en-US" sz="2200" dirty="0"/>
          </a:p>
          <a:p>
            <a:pPr indent="0" marL="0">
              <a:spcAft>
                <a:spcPts val="600"/>
              </a:spcAft>
              <a:buNone/>
            </a:pPr>
            <a:r>
              <a:rPr lang="en-US" sz="2200" dirty="0">
                <a:solidFill>
                  <a:srgbClr val="2B2B2B"/>
                </a:solidFill>
                <a:latin typeface="Calibri" pitchFamily="34" charset="0"/>
                <a:ea typeface="Calibri" pitchFamily="34" charset="-122"/>
                <a:cs typeface="Calibri" pitchFamily="34" charset="-120"/>
              </a:rPr>
              <a:t>200 stars. 6 rocks. 3 lives.</a:t>
            </a:r>
            <a:endParaRPr lang="en-US" sz="2200" dirty="0"/>
          </a:p>
          <a:p>
            <a:pPr indent="0" marL="0">
              <a:spcAft>
                <a:spcPts val="600"/>
              </a:spcAft>
              <a:buNone/>
            </a:pPr>
            <a:r>
              <a:rPr lang="en-US" sz="2200" dirty="0">
                <a:solidFill>
                  <a:srgbClr val="2B2B2B"/>
                </a:solidFill>
                <a:latin typeface="Calibri" pitchFamily="34" charset="0"/>
                <a:ea typeface="Calibri" pitchFamily="34" charset="-122"/>
                <a:cs typeface="Calibri" pitchFamily="34" charset="-120"/>
              </a:rPr>
              <a:t>Exam: </a:t>
            </a:r>
            <a:pPr indent="0" marL="0">
              <a:spcAft>
                <a:spcPts val="600"/>
              </a:spcAft>
              <a:buNone/>
            </a:pPr>
            <a:r>
              <a:rPr lang="en-US" sz="2200" b="1" dirty="0">
                <a:solidFill>
                  <a:srgbClr val="2B2B2B"/>
                </a:solidFill>
                <a:latin typeface="Calibri" pitchFamily="34" charset="0"/>
                <a:ea typeface="Calibri" pitchFamily="34" charset="-122"/>
                <a:cs typeface="Calibri" pitchFamily="34" charset="-120"/>
              </a:rPr>
              <a:t>REPEAT n TIMES</a:t>
            </a:r>
            <a:endParaRPr lang="en-US" sz="2200" dirty="0"/>
          </a:p>
        </p:txBody>
      </p:sp>
      <p:sp>
        <p:nvSpPr>
          <p:cNvPr id="6" name="Shape 4"/>
          <p:cNvSpPr/>
          <p:nvPr/>
        </p:nvSpPr>
        <p:spPr>
          <a:xfrm>
            <a:off x="4773168" y="1115568"/>
            <a:ext cx="4023360" cy="2148840"/>
          </a:xfrm>
          <a:prstGeom prst="roundRect">
            <a:avLst>
              <a:gd name="adj" fmla="val 3404"/>
            </a:avLst>
          </a:prstGeom>
          <a:solidFill>
            <a:srgbClr val="2B2B2B"/>
          </a:solidFill>
          <a:ln w="12700">
            <a:solidFill>
              <a:srgbClr val="2B2B2B"/>
            </a:solidFill>
            <a:prstDash val="solid"/>
          </a:ln>
        </p:spPr>
      </p:sp>
      <p:sp>
        <p:nvSpPr>
          <p:cNvPr id="7" name="Shape 5"/>
          <p:cNvSpPr/>
          <p:nvPr/>
        </p:nvSpPr>
        <p:spPr>
          <a:xfrm>
            <a:off x="4709160" y="1051560"/>
            <a:ext cx="4023360" cy="2148840"/>
          </a:xfrm>
          <a:prstGeom prst="roundRect">
            <a:avLst>
              <a:gd name="adj" fmla="val 3404"/>
            </a:avLst>
          </a:prstGeom>
          <a:solidFill>
            <a:srgbClr val="FFFFFF"/>
          </a:solidFill>
          <a:ln w="25400">
            <a:solidFill>
              <a:srgbClr val="2B2B2B"/>
            </a:solidFill>
            <a:prstDash val="solid"/>
          </a:ln>
        </p:spPr>
      </p:sp>
      <p:sp>
        <p:nvSpPr>
          <p:cNvPr id="8" name="Text 6"/>
          <p:cNvSpPr txBox="1"/>
          <p:nvPr/>
        </p:nvSpPr>
        <p:spPr>
          <a:xfrm>
            <a:off x="4873752" y="1143000"/>
            <a:ext cx="3694176" cy="1965960"/>
          </a:xfrm>
          <a:prstGeom prst="rect">
            <a:avLst/>
          </a:prstGeom>
          <a:noFill/>
          <a:ln/>
        </p:spPr>
        <p:txBody>
          <a:bodyPr wrap="square" lIns="0" tIns="0" rIns="0" bIns="0" rtlCol="0" anchor="t"/>
          <a:lstStyle/>
          <a:p>
            <a:pPr indent="0" marL="0">
              <a:spcAft>
                <a:spcPts val="600"/>
              </a:spcAft>
              <a:buNone/>
            </a:pPr>
            <a:r>
              <a:rPr lang="en-US" sz="2200" b="1" dirty="0">
                <a:solidFill>
                  <a:srgbClr val="2B2B2B"/>
                </a:solidFill>
                <a:latin typeface="Calibri" pitchFamily="34" charset="0"/>
                <a:ea typeface="Calibri" pitchFamily="34" charset="-122"/>
                <a:cs typeface="Calibri" pitchFamily="34" charset="-120"/>
              </a:rPr>
              <a:t>Until something happens? → while</a:t>
            </a:r>
            <a:endParaRPr lang="en-US" sz="2200" dirty="0"/>
          </a:p>
          <a:p>
            <a:pPr indent="0" marL="0">
              <a:spcAft>
                <a:spcPts val="600"/>
              </a:spcAft>
              <a:buNone/>
            </a:pPr>
            <a:r>
              <a:rPr lang="en-US" sz="2200" dirty="0">
                <a:solidFill>
                  <a:srgbClr val="2B2B2B"/>
                </a:solidFill>
                <a:latin typeface="Calibri" pitchFamily="34" charset="0"/>
                <a:ea typeface="Calibri" pitchFamily="34" charset="-122"/>
                <a:cs typeface="Calibri" pitchFamily="34" charset="-120"/>
              </a:rPr>
              <a:t>Until x passes the edge.</a:t>
            </a:r>
            <a:endParaRPr lang="en-US" sz="2200" dirty="0"/>
          </a:p>
          <a:p>
            <a:pPr indent="0" marL="0">
              <a:spcAft>
                <a:spcPts val="600"/>
              </a:spcAft>
              <a:buNone/>
            </a:pPr>
            <a:r>
              <a:rPr lang="en-US" sz="2200" dirty="0">
                <a:solidFill>
                  <a:srgbClr val="2B2B2B"/>
                </a:solidFill>
                <a:latin typeface="Calibri" pitchFamily="34" charset="0"/>
                <a:ea typeface="Calibri" pitchFamily="34" charset="-122"/>
                <a:cs typeface="Calibri" pitchFamily="34" charset="-120"/>
              </a:rPr>
              <a:t>Exam: </a:t>
            </a:r>
            <a:pPr indent="0" marL="0">
              <a:spcAft>
                <a:spcPts val="600"/>
              </a:spcAft>
              <a:buNone/>
            </a:pPr>
            <a:r>
              <a:rPr lang="en-US" sz="2200" b="1" dirty="0">
                <a:solidFill>
                  <a:srgbClr val="2B2B2B"/>
                </a:solidFill>
                <a:latin typeface="Calibri" pitchFamily="34" charset="0"/>
                <a:ea typeface="Calibri" pitchFamily="34" charset="-122"/>
                <a:cs typeface="Calibri" pitchFamily="34" charset="-120"/>
              </a:rPr>
              <a:t>REPEAT UNTIL</a:t>
            </a:r>
            <a:endParaRPr lang="en-US" sz="2200" dirty="0"/>
          </a:p>
        </p:txBody>
      </p:sp>
      <p:sp>
        <p:nvSpPr>
          <p:cNvPr id="9" name="Shape 7"/>
          <p:cNvSpPr/>
          <p:nvPr/>
        </p:nvSpPr>
        <p:spPr>
          <a:xfrm>
            <a:off x="475488" y="3584448"/>
            <a:ext cx="8321040" cy="1097280"/>
          </a:xfrm>
          <a:prstGeom prst="roundRect">
            <a:avLst>
              <a:gd name="adj" fmla="val 6667"/>
            </a:avLst>
          </a:prstGeom>
          <a:solidFill>
            <a:srgbClr val="2B2B2B"/>
          </a:solidFill>
          <a:ln w="12700">
            <a:solidFill>
              <a:srgbClr val="2B2B2B"/>
            </a:solidFill>
            <a:prstDash val="solid"/>
          </a:ln>
        </p:spPr>
      </p:sp>
      <p:sp>
        <p:nvSpPr>
          <p:cNvPr id="10" name="Shape 8"/>
          <p:cNvSpPr/>
          <p:nvPr/>
        </p:nvSpPr>
        <p:spPr>
          <a:xfrm>
            <a:off x="411480" y="3520440"/>
            <a:ext cx="8321040" cy="1097280"/>
          </a:xfrm>
          <a:prstGeom prst="roundRect">
            <a:avLst>
              <a:gd name="adj" fmla="val 6667"/>
            </a:avLst>
          </a:prstGeom>
          <a:solidFill>
            <a:srgbClr val="2B2B2B"/>
          </a:solidFill>
          <a:ln w="25400">
            <a:solidFill>
              <a:srgbClr val="2B2B2B"/>
            </a:solidFill>
            <a:prstDash val="solid"/>
          </a:ln>
        </p:spPr>
      </p:sp>
      <p:sp>
        <p:nvSpPr>
          <p:cNvPr id="11" name="Text 9"/>
          <p:cNvSpPr txBox="1"/>
          <p:nvPr/>
        </p:nvSpPr>
        <p:spPr>
          <a:xfrm>
            <a:off x="576072" y="3611880"/>
            <a:ext cx="7991856" cy="914400"/>
          </a:xfrm>
          <a:prstGeom prst="rect">
            <a:avLst/>
          </a:prstGeom>
          <a:noFill/>
          <a:ln/>
        </p:spPr>
        <p:txBody>
          <a:bodyPr wrap="square" lIns="0" tIns="0" rIns="0" bIns="0" rtlCol="0" anchor="t"/>
          <a:lstStyle/>
          <a:p>
            <a:pPr indent="0" marL="0">
              <a:spcAft>
                <a:spcPts val="400"/>
              </a:spcAft>
              <a:buNone/>
            </a:pPr>
            <a:r>
              <a:rPr lang="en-US" sz="1600" b="1" dirty="0">
                <a:solidFill>
                  <a:srgbClr val="F4C430"/>
                </a:solidFill>
                <a:latin typeface="Courier New" pitchFamily="34" charset="0"/>
                <a:ea typeface="Courier New" pitchFamily="34" charset="-122"/>
                <a:cs typeface="Courier New" pitchFamily="34" charset="-120"/>
              </a:rPr>
              <a:t>BOTH WORK</a:t>
            </a:r>
            <a:endParaRPr lang="en-US" sz="1600" dirty="0"/>
          </a:p>
          <a:p>
            <a:pPr indent="0" marL="0">
              <a:spcAft>
                <a:spcPts val="600"/>
              </a:spcAft>
              <a:buNone/>
            </a:pPr>
            <a:r>
              <a:rPr lang="en-US" sz="2200" dirty="0">
                <a:solidFill>
                  <a:srgbClr val="FFFFFF"/>
                </a:solidFill>
                <a:latin typeface="Calibri" pitchFamily="34" charset="0"/>
                <a:ea typeface="Calibri" pitchFamily="34" charset="-122"/>
                <a:cs typeface="Calibri" pitchFamily="34" charset="-120"/>
              </a:rPr>
              <a:t>Anything one can do, the other can. Pick the one that </a:t>
            </a:r>
            <a:pPr indent="0" marL="0">
              <a:spcAft>
                <a:spcPts val="600"/>
              </a:spcAft>
              <a:buNone/>
            </a:pPr>
            <a:r>
              <a:rPr lang="en-US" sz="2200" b="1" dirty="0">
                <a:solidFill>
                  <a:srgbClr val="FFFFFF"/>
                </a:solidFill>
                <a:latin typeface="Calibri" pitchFamily="34" charset="0"/>
                <a:ea typeface="Calibri" pitchFamily="34" charset="-122"/>
                <a:cs typeface="Calibri" pitchFamily="34" charset="-120"/>
              </a:rPr>
              <a:t>says what you mean.</a:t>
            </a:r>
            <a:endParaRPr lang="en-US" sz="16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1252728" y="1298448"/>
            <a:ext cx="6766560" cy="2651760"/>
          </a:xfrm>
          <a:prstGeom prst="roundRect">
            <a:avLst>
              <a:gd name="adj" fmla="val 2759"/>
            </a:avLst>
          </a:prstGeom>
          <a:solidFill>
            <a:srgbClr val="2B2B2B"/>
          </a:solidFill>
          <a:ln w="12700">
            <a:solidFill>
              <a:srgbClr val="2B2B2B"/>
            </a:solidFill>
            <a:prstDash val="solid"/>
          </a:ln>
        </p:spPr>
      </p:sp>
      <p:sp>
        <p:nvSpPr>
          <p:cNvPr id="3" name="Shape 1"/>
          <p:cNvSpPr/>
          <p:nvPr/>
        </p:nvSpPr>
        <p:spPr>
          <a:xfrm>
            <a:off x="1188720" y="1234440"/>
            <a:ext cx="6766560" cy="2651760"/>
          </a:xfrm>
          <a:prstGeom prst="roundRect">
            <a:avLst>
              <a:gd name="adj" fmla="val 2759"/>
            </a:avLst>
          </a:prstGeom>
          <a:solidFill>
            <a:srgbClr val="FFFFFF"/>
          </a:solidFill>
          <a:ln w="25400">
            <a:solidFill>
              <a:srgbClr val="2B2B2B"/>
            </a:solidFill>
            <a:prstDash val="solid"/>
          </a:ln>
        </p:spPr>
      </p:sp>
      <p:sp>
        <p:nvSpPr>
          <p:cNvPr id="4" name="Shape 2"/>
          <p:cNvSpPr/>
          <p:nvPr/>
        </p:nvSpPr>
        <p:spPr>
          <a:xfrm>
            <a:off x="1600200" y="1874520"/>
            <a:ext cx="1371600" cy="1371600"/>
          </a:xfrm>
          <a:prstGeom prst="roundRect">
            <a:avLst>
              <a:gd name="adj" fmla="val 4000"/>
            </a:avLst>
          </a:prstGeom>
          <a:solidFill>
            <a:srgbClr val="2B2B2B"/>
          </a:solidFill>
          <a:ln w="12700">
            <a:solidFill>
              <a:srgbClr val="2B2B2B"/>
            </a:solidFill>
            <a:prstDash val="solid"/>
          </a:ln>
        </p:spPr>
      </p:sp>
      <p:sp>
        <p:nvSpPr>
          <p:cNvPr id="5" name="Text 3"/>
          <p:cNvSpPr txBox="1"/>
          <p:nvPr/>
        </p:nvSpPr>
        <p:spPr>
          <a:xfrm>
            <a:off x="1600200" y="1874520"/>
            <a:ext cx="1371600" cy="1371600"/>
          </a:xfrm>
          <a:prstGeom prst="rect">
            <a:avLst/>
          </a:prstGeom>
          <a:noFill/>
          <a:ln/>
        </p:spPr>
        <p:txBody>
          <a:bodyPr wrap="square" lIns="0" tIns="0" rIns="0" bIns="0" rtlCol="0" anchor="ctr"/>
          <a:lstStyle/>
          <a:p>
            <a:pPr algn="ctr" indent="0" marL="0">
              <a:buNone/>
            </a:pPr>
            <a:r>
              <a:rPr lang="en-US" sz="4800" dirty="0">
                <a:solidFill>
                  <a:srgbClr val="F4C430"/>
                </a:solidFill>
                <a:latin typeface="Arial Black" pitchFamily="34" charset="0"/>
                <a:ea typeface="Arial Black" pitchFamily="34" charset="-122"/>
                <a:cs typeface="Arial Black" pitchFamily="34" charset="-120"/>
              </a:rPr>
              <a:t>03</a:t>
            </a:r>
            <a:endParaRPr lang="en-US" sz="4800" dirty="0"/>
          </a:p>
        </p:txBody>
      </p:sp>
      <p:sp>
        <p:nvSpPr>
          <p:cNvPr id="6" name="Text 4"/>
          <p:cNvSpPr txBox="1"/>
          <p:nvPr/>
        </p:nvSpPr>
        <p:spPr>
          <a:xfrm>
            <a:off x="3246120" y="1645920"/>
            <a:ext cx="4480560" cy="822960"/>
          </a:xfrm>
          <a:prstGeom prst="rect">
            <a:avLst/>
          </a:prstGeom>
          <a:noFill/>
          <a:ln/>
        </p:spPr>
        <p:txBody>
          <a:bodyPr wrap="square" lIns="0" tIns="0" rIns="0" bIns="0" rtlCol="0" anchor="b"/>
          <a:lstStyle/>
          <a:p>
            <a:pPr indent="0" marL="0">
              <a:buNone/>
            </a:pPr>
            <a:r>
              <a:rPr lang="en-US" sz="3200" dirty="0">
                <a:solidFill>
                  <a:srgbClr val="2B2B2B"/>
                </a:solidFill>
                <a:latin typeface="Arial Black" pitchFamily="34" charset="0"/>
                <a:ea typeface="Arial Black" pitchFamily="34" charset="-122"/>
                <a:cs typeface="Arial Black" pitchFamily="34" charset="-120"/>
              </a:rPr>
              <a:t>REPEAT n TIMES</a:t>
            </a:r>
            <a:endParaRPr lang="en-US" sz="3200" dirty="0"/>
          </a:p>
        </p:txBody>
      </p:sp>
      <p:sp>
        <p:nvSpPr>
          <p:cNvPr id="7" name="Text 5"/>
          <p:cNvSpPr txBox="1"/>
          <p:nvPr/>
        </p:nvSpPr>
        <p:spPr>
          <a:xfrm>
            <a:off x="3246120" y="2560320"/>
            <a:ext cx="4480560" cy="914400"/>
          </a:xfrm>
          <a:prstGeom prst="rect">
            <a:avLst/>
          </a:prstGeom>
          <a:noFill/>
          <a:ln/>
        </p:spPr>
        <p:txBody>
          <a:bodyPr wrap="square" lIns="0" tIns="0" rIns="0" bIns="0" rtlCol="0" anchor="t"/>
          <a:lstStyle/>
          <a:p>
            <a:pPr indent="0" marL="0">
              <a:buNone/>
            </a:pPr>
            <a:r>
              <a:rPr lang="en-US" sz="2200" dirty="0">
                <a:solidFill>
                  <a:srgbClr val="5C4A12"/>
                </a:solidFill>
                <a:latin typeface="Calibri" pitchFamily="34" charset="0"/>
                <a:ea typeface="Calibri" pitchFamily="34" charset="-122"/>
                <a:cs typeface="Calibri" pitchFamily="34" charset="-120"/>
              </a:rPr>
              <a:t>The exam’s for loop has no i.</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Same loop, two languages</a:t>
            </a:r>
            <a:endParaRPr lang="en-US" sz="3200" dirty="0"/>
          </a:p>
        </p:txBody>
      </p:sp>
      <p:sp>
        <p:nvSpPr>
          <p:cNvPr id="3" name="Text 1"/>
          <p:cNvSpPr txBox="1"/>
          <p:nvPr/>
        </p:nvSpPr>
        <p:spPr>
          <a:xfrm>
            <a:off x="411480" y="1005840"/>
            <a:ext cx="8229600" cy="274320"/>
          </a:xfrm>
          <a:prstGeom prst="rect">
            <a:avLst/>
          </a:prstGeom>
          <a:noFill/>
          <a:ln/>
        </p:spPr>
        <p:txBody>
          <a:bodyPr wrap="square" lIns="0" tIns="0" rIns="0" bIns="0" rtlCol="0" anchor="ctr"/>
          <a:lstStyle/>
          <a:p>
            <a:pPr indent="0" marL="0">
              <a:buNone/>
            </a:pPr>
            <a:r>
              <a:rPr lang="en-US" sz="1600" b="1" dirty="0">
                <a:solidFill>
                  <a:srgbClr val="5C4A12"/>
                </a:solidFill>
                <a:latin typeface="Courier New" pitchFamily="34" charset="0"/>
                <a:ea typeface="Courier New" pitchFamily="34" charset="-122"/>
                <a:cs typeface="Courier New" pitchFamily="34" charset="-120"/>
              </a:rPr>
              <a:t>JAVASCRIPT</a:t>
            </a:r>
            <a:endParaRPr lang="en-US" sz="1600" dirty="0"/>
          </a:p>
        </p:txBody>
      </p:sp>
      <p:sp>
        <p:nvSpPr>
          <p:cNvPr id="4" name="Shape 2"/>
          <p:cNvSpPr/>
          <p:nvPr/>
        </p:nvSpPr>
        <p:spPr>
          <a:xfrm>
            <a:off x="475488" y="1389888"/>
            <a:ext cx="8321040" cy="1325880"/>
          </a:xfrm>
          <a:prstGeom prst="roundRect">
            <a:avLst>
              <a:gd name="adj" fmla="val 4138"/>
            </a:avLst>
          </a:prstGeom>
          <a:solidFill>
            <a:srgbClr val="2B2B2B"/>
          </a:solidFill>
          <a:ln w="12700">
            <a:solidFill>
              <a:srgbClr val="2B2B2B"/>
            </a:solidFill>
            <a:prstDash val="solid"/>
          </a:ln>
        </p:spPr>
      </p:sp>
      <p:sp>
        <p:nvSpPr>
          <p:cNvPr id="5" name="Shape 3"/>
          <p:cNvSpPr/>
          <p:nvPr/>
        </p:nvSpPr>
        <p:spPr>
          <a:xfrm>
            <a:off x="411480" y="1325880"/>
            <a:ext cx="8321040" cy="1325880"/>
          </a:xfrm>
          <a:prstGeom prst="roundRect">
            <a:avLst>
              <a:gd name="adj" fmla="val 4138"/>
            </a:avLst>
          </a:prstGeom>
          <a:solidFill>
            <a:srgbClr val="1E1E1E"/>
          </a:solidFill>
          <a:ln w="25400">
            <a:solidFill>
              <a:srgbClr val="2B2B2B"/>
            </a:solidFill>
            <a:prstDash val="solid"/>
          </a:ln>
        </p:spPr>
      </p:sp>
      <p:sp>
        <p:nvSpPr>
          <p:cNvPr id="6" name="Text 4"/>
          <p:cNvSpPr txBox="1"/>
          <p:nvPr/>
        </p:nvSpPr>
        <p:spPr>
          <a:xfrm>
            <a:off x="576072" y="1399032"/>
            <a:ext cx="8046720" cy="1179576"/>
          </a:xfrm>
          <a:prstGeom prst="rect">
            <a:avLst/>
          </a:prstGeom>
          <a:noFill/>
          <a:ln/>
        </p:spPr>
        <p:txBody>
          <a:bodyPr wrap="square" lIns="0" tIns="0" rIns="0" bIns="0" rtlCol="0" anchor="t"/>
          <a:lstStyle/>
          <a:p>
            <a:pPr indent="0" marL="0">
              <a:lnSpc>
                <a:spcPct val="105000"/>
              </a:lnSpc>
              <a:buNone/>
            </a:pPr>
            <a:r>
              <a:rPr lang="en-US" sz="2200" dirty="0">
                <a:solidFill>
                  <a:srgbClr val="C586C0"/>
                </a:solidFill>
                <a:latin typeface="Courier New" pitchFamily="34" charset="0"/>
                <a:ea typeface="Courier New" pitchFamily="34" charset="-122"/>
                <a:cs typeface="Courier New" pitchFamily="34" charset="-120"/>
              </a:rPr>
              <a:t>for</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0</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&lt; </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200</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endParaRPr lang="en-US" sz="2200" dirty="0"/>
          </a:p>
          <a:p>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DCDCAA"/>
                </a:solidFill>
                <a:latin typeface="Courier New" pitchFamily="34" charset="0"/>
                <a:ea typeface="Courier New" pitchFamily="34" charset="-122"/>
                <a:cs typeface="Courier New" pitchFamily="34" charset="-120"/>
              </a:rPr>
              <a:t>circle</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2200" dirty="0">
                <a:solidFill>
                  <a:srgbClr val="DCDCAA"/>
                </a:solidFill>
                <a:latin typeface="Courier New" pitchFamily="34" charset="0"/>
                <a:ea typeface="Courier New" pitchFamily="34" charset="-122"/>
                <a:cs typeface="Courier New" pitchFamily="34" charset="-120"/>
              </a:rPr>
              <a:t>random</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800</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DCDCAA"/>
                </a:solidFill>
                <a:latin typeface="Courier New" pitchFamily="34" charset="0"/>
                <a:ea typeface="Courier New" pitchFamily="34" charset="-122"/>
                <a:cs typeface="Courier New" pitchFamily="34" charset="-120"/>
              </a:rPr>
              <a:t>random</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600</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200" dirty="0">
                <a:solidFill>
                  <a:srgbClr val="B5CEA8"/>
                </a:solidFill>
                <a:latin typeface="Courier New" pitchFamily="34" charset="0"/>
                <a:ea typeface="Courier New" pitchFamily="34" charset="-122"/>
                <a:cs typeface="Courier New" pitchFamily="34" charset="-120"/>
              </a:rPr>
              <a:t>2</a:t>
            </a:r>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endParaRPr lang="en-US" sz="2200" dirty="0"/>
          </a:p>
          <a:p>
            <a:pPr indent="0" marL="0">
              <a:lnSpc>
                <a:spcPct val="105000"/>
              </a:lnSpc>
              <a:buNone/>
            </a:pPr>
            <a:r>
              <a:rPr lang="en-US" sz="2200" dirty="0">
                <a:solidFill>
                  <a:srgbClr val="D4D4D4"/>
                </a:solidFill>
                <a:latin typeface="Courier New" pitchFamily="34" charset="0"/>
                <a:ea typeface="Courier New" pitchFamily="34" charset="-122"/>
                <a:cs typeface="Courier New" pitchFamily="34" charset="-120"/>
              </a:rPr>
              <a:t>}</a:t>
            </a:r>
            <a:endParaRPr lang="en-US" sz="2200" dirty="0"/>
          </a:p>
        </p:txBody>
      </p:sp>
      <p:sp>
        <p:nvSpPr>
          <p:cNvPr id="7" name="Text 5"/>
          <p:cNvSpPr txBox="1"/>
          <p:nvPr/>
        </p:nvSpPr>
        <p:spPr>
          <a:xfrm>
            <a:off x="411480" y="2834640"/>
            <a:ext cx="8229600" cy="274320"/>
          </a:xfrm>
          <a:prstGeom prst="rect">
            <a:avLst/>
          </a:prstGeom>
          <a:noFill/>
          <a:ln/>
        </p:spPr>
        <p:txBody>
          <a:bodyPr wrap="square" lIns="0" tIns="0" rIns="0" bIns="0" rtlCol="0" anchor="ctr"/>
          <a:lstStyle/>
          <a:p>
            <a:pPr indent="0" marL="0">
              <a:buNone/>
            </a:pPr>
            <a:r>
              <a:rPr lang="en-US" sz="1600" b="1" dirty="0">
                <a:solidFill>
                  <a:srgbClr val="5C4A12"/>
                </a:solidFill>
                <a:latin typeface="Courier New" pitchFamily="34" charset="0"/>
                <a:ea typeface="Courier New" pitchFamily="34" charset="-122"/>
                <a:cs typeface="Courier New" pitchFamily="34" charset="-120"/>
              </a:rPr>
              <a:t>AP EXAM</a:t>
            </a:r>
            <a:endParaRPr lang="en-US" sz="1600" dirty="0"/>
          </a:p>
        </p:txBody>
      </p:sp>
      <p:sp>
        <p:nvSpPr>
          <p:cNvPr id="8" name="Shape 6"/>
          <p:cNvSpPr/>
          <p:nvPr/>
        </p:nvSpPr>
        <p:spPr>
          <a:xfrm>
            <a:off x="475488" y="3218688"/>
            <a:ext cx="8321040" cy="1508760"/>
          </a:xfrm>
          <a:prstGeom prst="roundRect">
            <a:avLst>
              <a:gd name="adj" fmla="val 3636"/>
            </a:avLst>
          </a:prstGeom>
          <a:solidFill>
            <a:srgbClr val="2B2B2B"/>
          </a:solidFill>
          <a:ln w="12700">
            <a:solidFill>
              <a:srgbClr val="2B2B2B"/>
            </a:solidFill>
            <a:prstDash val="solid"/>
          </a:ln>
        </p:spPr>
      </p:sp>
      <p:sp>
        <p:nvSpPr>
          <p:cNvPr id="9" name="Shape 7"/>
          <p:cNvSpPr/>
          <p:nvPr/>
        </p:nvSpPr>
        <p:spPr>
          <a:xfrm>
            <a:off x="411480" y="3154680"/>
            <a:ext cx="8321040" cy="1508760"/>
          </a:xfrm>
          <a:prstGeom prst="roundRect">
            <a:avLst>
              <a:gd name="adj" fmla="val 3636"/>
            </a:avLst>
          </a:prstGeom>
          <a:solidFill>
            <a:srgbClr val="1E1E1E"/>
          </a:solidFill>
          <a:ln w="25400">
            <a:solidFill>
              <a:srgbClr val="2B2B2B"/>
            </a:solidFill>
            <a:prstDash val="solid"/>
          </a:ln>
        </p:spPr>
      </p:sp>
      <p:sp>
        <p:nvSpPr>
          <p:cNvPr id="10" name="Text 8"/>
          <p:cNvSpPr txBox="1"/>
          <p:nvPr/>
        </p:nvSpPr>
        <p:spPr>
          <a:xfrm>
            <a:off x="576072" y="3227832"/>
            <a:ext cx="8046720" cy="1362456"/>
          </a:xfrm>
          <a:prstGeom prst="rect">
            <a:avLst/>
          </a:prstGeom>
          <a:noFill/>
          <a:ln/>
        </p:spPr>
        <p:txBody>
          <a:bodyPr wrap="square" lIns="0" tIns="0" rIns="0" bIns="0" rtlCol="0" anchor="t"/>
          <a:lstStyle/>
          <a:p>
            <a:pPr indent="0" marL="0">
              <a:lnSpc>
                <a:spcPct val="105000"/>
              </a:lnSpc>
              <a:buNone/>
            </a:pPr>
            <a:r>
              <a:rPr lang="en-US" sz="2200" dirty="0">
                <a:solidFill>
                  <a:srgbClr val="F4E4A8"/>
                </a:solidFill>
                <a:latin typeface="Courier New" pitchFamily="34" charset="0"/>
                <a:ea typeface="Courier New" pitchFamily="34" charset="-122"/>
                <a:cs typeface="Courier New" pitchFamily="34" charset="-120"/>
              </a:rPr>
              <a:t>REPEAT 200 TIMES</a:t>
            </a:r>
            <a:endParaRPr lang="en-US" sz="2200" dirty="0"/>
          </a:p>
          <a:p>
            <a:pPr indent="0" marL="0">
              <a:lnSpc>
                <a:spcPct val="105000"/>
              </a:lnSpc>
              <a:buNone/>
            </a:pPr>
            <a:r>
              <a:rPr lang="en-US" sz="2200" dirty="0">
                <a:solidFill>
                  <a:srgbClr val="F4E4A8"/>
                </a:solidFill>
                <a:latin typeface="Courier New" pitchFamily="34" charset="0"/>
                <a:ea typeface="Courier New" pitchFamily="34" charset="-122"/>
                <a:cs typeface="Courier New" pitchFamily="34" charset="-120"/>
              </a:rPr>
              <a:t>{</a:t>
            </a:r>
            <a:endParaRPr lang="en-US" sz="2200" dirty="0"/>
          </a:p>
          <a:p>
            <a:pPr indent="0" marL="0">
              <a:lnSpc>
                <a:spcPct val="105000"/>
              </a:lnSpc>
              <a:buNone/>
            </a:pPr>
            <a:r>
              <a:rPr lang="en-US" sz="2200" dirty="0">
                <a:solidFill>
                  <a:srgbClr val="F4E4A8"/>
                </a:solidFill>
                <a:latin typeface="Courier New" pitchFamily="34" charset="0"/>
                <a:ea typeface="Courier New" pitchFamily="34" charset="-122"/>
                <a:cs typeface="Courier New" pitchFamily="34" charset="-120"/>
              </a:rPr>
              <a:t>  circle(RANDOM(1, 800), RANDOM(1, 600), 2)</a:t>
            </a:r>
            <a:endParaRPr lang="en-US" sz="2200" dirty="0"/>
          </a:p>
          <a:p>
            <a:pPr indent="0" marL="0">
              <a:lnSpc>
                <a:spcPct val="105000"/>
              </a:lnSpc>
              <a:buNone/>
            </a:pPr>
            <a:r>
              <a:rPr lang="en-US" sz="2200" dirty="0">
                <a:solidFill>
                  <a:srgbClr val="F4E4A8"/>
                </a:solidFill>
                <a:latin typeface="Courier New" pitchFamily="34" charset="0"/>
                <a:ea typeface="Courier New" pitchFamily="34" charset="-122"/>
                <a:cs typeface="Courier New" pitchFamily="34" charset="-120"/>
              </a:rPr>
              <a:t>}</a:t>
            </a:r>
            <a:endParaRPr lang="en-US" sz="22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Translate it</a:t>
            </a:r>
            <a:endParaRPr lang="en-US" sz="3200" dirty="0"/>
          </a:p>
        </p:txBody>
      </p:sp>
      <p:sp>
        <p:nvSpPr>
          <p:cNvPr id="3" name="Shape 1"/>
          <p:cNvSpPr/>
          <p:nvPr/>
        </p:nvSpPr>
        <p:spPr>
          <a:xfrm>
            <a:off x="475488" y="1115568"/>
            <a:ext cx="8321040" cy="1700784"/>
          </a:xfrm>
          <a:prstGeom prst="rect">
            <a:avLst/>
          </a:prstGeom>
          <a:solidFill>
            <a:srgbClr val="2B2B2B"/>
          </a:solidFill>
          <a:ln w="12700">
            <a:solidFill>
              <a:srgbClr val="2B2B2B"/>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8321040" cy="914400"/>
        </p:xfrm>
        <a:graphic>
          <a:graphicData uri="http://schemas.openxmlformats.org/drawingml/2006/table">
            <a:tbl>
              <a:tblPr/>
              <a:tblGrid>
                <a:gridCol w="3291840"/>
                <a:gridCol w="5029200"/>
              </a:tblGrid>
              <a:tr h="566928">
                <a:tc>
                  <a:txBody>
                    <a:bodyPr/>
                    <a:lstStyle/>
                    <a:p>
                      <a:pPr indent="0" marL="0">
                        <a:buNone/>
                      </a:pPr>
                      <a:r>
                        <a:rPr lang="en-US" sz="2000" b="1" dirty="0">
                          <a:solidFill>
                            <a:srgbClr val="F4C430"/>
                          </a:solidFill>
                          <a:latin typeface="Courier New" pitchFamily="34" charset="0"/>
                          <a:ea typeface="Courier New" pitchFamily="34" charset="-122"/>
                          <a:cs typeface="Courier New" pitchFamily="34" charset="-120"/>
                        </a:rPr>
                        <a:t>AP exam</a:t>
                      </a:r>
                      <a:endParaRPr lang="en-US" sz="20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2B2B2B"/>
                    </a:solidFill>
                  </a:tcPr>
                </a:tc>
                <a:tc>
                  <a:txBody>
                    <a:bodyPr/>
                    <a:lstStyle/>
                    <a:p>
                      <a:pPr indent="0" marL="0">
                        <a:buNone/>
                      </a:pPr>
                      <a:r>
                        <a:rPr lang="en-US" sz="2000" b="1" dirty="0">
                          <a:solidFill>
                            <a:srgbClr val="F4C430"/>
                          </a:solidFill>
                          <a:latin typeface="Courier New" pitchFamily="34" charset="0"/>
                          <a:ea typeface="Courier New" pitchFamily="34" charset="-122"/>
                          <a:cs typeface="Courier New" pitchFamily="34" charset="-120"/>
                        </a:rPr>
                        <a:t>JavaScript</a:t>
                      </a:r>
                      <a:endParaRPr lang="en-US" sz="20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2B2B2B"/>
                    </a:solidFill>
                  </a:tcPr>
                </a:tc>
              </a:tr>
              <a:tr h="566928">
                <a:tc>
                  <a:txBody>
                    <a:bodyPr/>
                    <a:lstStyle/>
                    <a:p>
                      <a:pPr indent="0" marL="0">
                        <a:buNone/>
                      </a:pPr>
                      <a:r>
                        <a:rPr lang="en-US" sz="2000" dirty="0">
                          <a:solidFill>
                            <a:srgbClr val="2B2B2B"/>
                          </a:solidFill>
                          <a:latin typeface="Courier New" pitchFamily="34" charset="0"/>
                          <a:ea typeface="Courier New" pitchFamily="34" charset="-122"/>
                          <a:cs typeface="Courier New" pitchFamily="34" charset="-120"/>
                        </a:rPr>
                        <a:t>REPEAT 200 TIMES</a:t>
                      </a:r>
                      <a:endParaRPr lang="en-US" sz="20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2000" dirty="0">
                          <a:solidFill>
                            <a:srgbClr val="2B2B2B"/>
                          </a:solidFill>
                          <a:latin typeface="Courier New" pitchFamily="34" charset="0"/>
                          <a:ea typeface="Courier New" pitchFamily="34" charset="-122"/>
                          <a:cs typeface="Courier New" pitchFamily="34" charset="-120"/>
                        </a:rPr>
                        <a:t>for (let i = 0; i &lt; 200; i++)</a:t>
                      </a:r>
                      <a:endParaRPr lang="en-US" sz="20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r>
              <a:tr h="566928">
                <a:tc>
                  <a:txBody>
                    <a:bodyPr/>
                    <a:lstStyle/>
                    <a:p>
                      <a:pPr indent="0" marL="0">
                        <a:buNone/>
                      </a:pPr>
                      <a:r>
                        <a:rPr lang="en-US" sz="2000" dirty="0">
                          <a:solidFill>
                            <a:srgbClr val="2B2B2B"/>
                          </a:solidFill>
                          <a:latin typeface="Courier New" pitchFamily="34" charset="0"/>
                          <a:ea typeface="Courier New" pitchFamily="34" charset="-122"/>
                          <a:cs typeface="Courier New" pitchFamily="34" charset="-120"/>
                        </a:rPr>
                        <a:t>REPEAT rocks TIMES</a:t>
                      </a:r>
                      <a:endParaRPr lang="en-US" sz="20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c>
                  <a:txBody>
                    <a:bodyPr/>
                    <a:lstStyle/>
                    <a:p>
                      <a:pPr indent="0" marL="0">
                        <a:buNone/>
                      </a:pPr>
                      <a:r>
                        <a:rPr lang="en-US" sz="2000" dirty="0">
                          <a:solidFill>
                            <a:srgbClr val="2B2B2B"/>
                          </a:solidFill>
                          <a:latin typeface="Courier New" pitchFamily="34" charset="0"/>
                          <a:ea typeface="Courier New" pitchFamily="34" charset="-122"/>
                          <a:cs typeface="Courier New" pitchFamily="34" charset="-120"/>
                        </a:rPr>
                        <a:t>for (let i = 0; i &lt; rocks; i++)</a:t>
                      </a:r>
                      <a:endParaRPr lang="en-US" sz="2000" dirty="0">
                        <a:latin typeface="Courier New" charset="0"/>
                        <a:ea typeface="Courier New" charset="0"/>
                        <a:cs typeface="Courier New" charset="0"/>
                      </a:endParaRPr>
                    </a:p>
                  </a:txBody>
                  <a:tcPr marL="137160" marR="137160" marT="45720" marB="45720">
                    <a:lnL w="12700" cap="flat" cmpd="sng" algn="ctr">
                      <a:solidFill>
                        <a:srgbClr val="D9D2BC"/>
                      </a:solidFill>
                      <a:prstDash val="solid"/>
                      <a:round/>
                      <a:headEnd type="none" w="med" len="med"/>
                      <a:tailEnd type="none" w="med" len="med"/>
                    </a:lnL>
                    <a:lnR w="12700" cap="flat" cmpd="sng" algn="ctr">
                      <a:solidFill>
                        <a:srgbClr val="D9D2BC"/>
                      </a:solidFill>
                      <a:prstDash val="solid"/>
                      <a:round/>
                      <a:headEnd type="none" w="med" len="med"/>
                      <a:tailEnd type="none" w="med" len="med"/>
                    </a:lnR>
                    <a:lnT w="12700" cap="flat" cmpd="sng" algn="ctr">
                      <a:solidFill>
                        <a:srgbClr val="D9D2BC"/>
                      </a:solidFill>
                      <a:prstDash val="solid"/>
                      <a:round/>
                      <a:headEnd type="none" w="med" len="med"/>
                      <a:tailEnd type="none" w="med" len="med"/>
                    </a:lnT>
                    <a:lnB w="12700" cap="flat" cmpd="sng" algn="ctr">
                      <a:solidFill>
                        <a:srgbClr val="D9D2BC"/>
                      </a:solidFill>
                      <a:prstDash val="solid"/>
                      <a:round/>
                      <a:headEnd type="none" w="med" len="med"/>
                      <a:tailEnd type="none" w="med" len="med"/>
                    </a:lnB>
                    <a:solidFill>
                      <a:srgbClr val="FFFFFF"/>
                    </a:solidFill>
                  </a:tcPr>
                </a:tc>
              </a:tr>
            </a:tbl>
          </a:graphicData>
        </a:graphic>
      </p:graphicFrame>
      <p:sp>
        <p:nvSpPr>
          <p:cNvPr id="5" name="Shape 2"/>
          <p:cNvSpPr/>
          <p:nvPr/>
        </p:nvSpPr>
        <p:spPr>
          <a:xfrm>
            <a:off x="475488" y="3218688"/>
            <a:ext cx="8321040" cy="1463040"/>
          </a:xfrm>
          <a:prstGeom prst="roundRect">
            <a:avLst>
              <a:gd name="adj" fmla="val 5000"/>
            </a:avLst>
          </a:prstGeom>
          <a:solidFill>
            <a:srgbClr val="2B2B2B"/>
          </a:solidFill>
          <a:ln w="12700">
            <a:solidFill>
              <a:srgbClr val="2B2B2B"/>
            </a:solidFill>
            <a:prstDash val="solid"/>
          </a:ln>
        </p:spPr>
      </p:sp>
      <p:sp>
        <p:nvSpPr>
          <p:cNvPr id="6" name="Shape 3"/>
          <p:cNvSpPr/>
          <p:nvPr/>
        </p:nvSpPr>
        <p:spPr>
          <a:xfrm>
            <a:off x="411480" y="3154680"/>
            <a:ext cx="8321040" cy="1463040"/>
          </a:xfrm>
          <a:prstGeom prst="roundRect">
            <a:avLst>
              <a:gd name="adj" fmla="val 5000"/>
            </a:avLst>
          </a:prstGeom>
          <a:solidFill>
            <a:srgbClr val="FFFFFF"/>
          </a:solidFill>
          <a:ln w="25400">
            <a:solidFill>
              <a:srgbClr val="2B2B2B"/>
            </a:solidFill>
            <a:prstDash val="solid"/>
          </a:ln>
        </p:spPr>
      </p:sp>
      <p:sp>
        <p:nvSpPr>
          <p:cNvPr id="7" name="Text 4"/>
          <p:cNvSpPr txBox="1"/>
          <p:nvPr/>
        </p:nvSpPr>
        <p:spPr>
          <a:xfrm>
            <a:off x="576072" y="3246120"/>
            <a:ext cx="7991856" cy="1280160"/>
          </a:xfrm>
          <a:prstGeom prst="rect">
            <a:avLst/>
          </a:prstGeom>
          <a:noFill/>
          <a:ln/>
        </p:spPr>
        <p:txBody>
          <a:bodyPr wrap="square" lIns="0" tIns="0" rIns="0" bIns="0" rtlCol="0" anchor="t"/>
          <a:lstStyle/>
          <a:p>
            <a:pPr indent="0" marL="0">
              <a:spcAft>
                <a:spcPts val="400"/>
              </a:spcAft>
              <a:buNone/>
            </a:pPr>
            <a:r>
              <a:rPr lang="en-US" sz="1600" b="1" dirty="0">
                <a:solidFill>
                  <a:srgbClr val="5C4A12"/>
                </a:solidFill>
                <a:latin typeface="Courier New" pitchFamily="34" charset="0"/>
                <a:ea typeface="Courier New" pitchFamily="34" charset="-122"/>
                <a:cs typeface="Courier New" pitchFamily="34" charset="-120"/>
              </a:rPr>
              <a:t>NO LOOP VARIABLE ON THE EXAM</a:t>
            </a:r>
            <a:endParaRPr lang="en-US" sz="1600" dirty="0"/>
          </a:p>
          <a:p>
            <a:pPr indent="0" marL="0">
              <a:spcAft>
                <a:spcPts val="600"/>
              </a:spcAft>
              <a:buNone/>
            </a:pPr>
            <a:r>
              <a:rPr lang="en-US" sz="2200" dirty="0">
                <a:solidFill>
                  <a:srgbClr val="2B2B2B"/>
                </a:solidFill>
                <a:latin typeface="Calibri" pitchFamily="34" charset="0"/>
                <a:ea typeface="Calibri" pitchFamily="34" charset="-122"/>
                <a:cs typeface="Calibri" pitchFamily="34" charset="-120"/>
              </a:rPr>
              <a:t>If it needs a counter, it makes one itself: </a:t>
            </a:r>
            <a:pPr indent="0" marL="0">
              <a:spcAft>
                <a:spcPts val="600"/>
              </a:spcAft>
              <a:buNone/>
            </a:pPr>
            <a:r>
              <a:rPr lang="en-US" sz="2200" b="1" dirty="0">
                <a:solidFill>
                  <a:srgbClr val="2B2B2B"/>
                </a:solidFill>
                <a:latin typeface="Courier New" pitchFamily="34" charset="0"/>
                <a:ea typeface="Courier New" pitchFamily="34" charset="-122"/>
                <a:cs typeface="Courier New" pitchFamily="34" charset="-120"/>
              </a:rPr>
              <a:t>d ← 60</a:t>
            </a:r>
            <a:pPr indent="0" marL="0">
              <a:spcAft>
                <a:spcPts val="600"/>
              </a:spcAft>
              <a:buNone/>
            </a:pPr>
            <a:r>
              <a:rPr lang="en-US" sz="2200" dirty="0">
                <a:solidFill>
                  <a:srgbClr val="2B2B2B"/>
                </a:solidFill>
                <a:latin typeface="Calibri" pitchFamily="34" charset="0"/>
                <a:ea typeface="Calibri" pitchFamily="34" charset="-122"/>
                <a:cs typeface="Calibri" pitchFamily="34" charset="-120"/>
              </a:rPr>
              <a:t> … </a:t>
            </a:r>
            <a:pPr indent="0" marL="0">
              <a:spcAft>
                <a:spcPts val="600"/>
              </a:spcAft>
              <a:buNone/>
            </a:pPr>
            <a:r>
              <a:rPr lang="en-US" sz="2200" b="1" dirty="0">
                <a:solidFill>
                  <a:srgbClr val="2B2B2B"/>
                </a:solidFill>
                <a:latin typeface="Courier New" pitchFamily="34" charset="0"/>
                <a:ea typeface="Courier New" pitchFamily="34" charset="-122"/>
                <a:cs typeface="Courier New" pitchFamily="34" charset="-120"/>
              </a:rPr>
              <a:t>d ← d + 30</a:t>
            </a:r>
            <a:endParaRPr lang="en-US" sz="16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1252728" y="1298448"/>
            <a:ext cx="6766560" cy="2651760"/>
          </a:xfrm>
          <a:prstGeom prst="roundRect">
            <a:avLst>
              <a:gd name="adj" fmla="val 2759"/>
            </a:avLst>
          </a:prstGeom>
          <a:solidFill>
            <a:srgbClr val="2B2B2B"/>
          </a:solidFill>
          <a:ln w="12700">
            <a:solidFill>
              <a:srgbClr val="2B2B2B"/>
            </a:solidFill>
            <a:prstDash val="solid"/>
          </a:ln>
        </p:spPr>
      </p:sp>
      <p:sp>
        <p:nvSpPr>
          <p:cNvPr id="3" name="Shape 1"/>
          <p:cNvSpPr/>
          <p:nvPr/>
        </p:nvSpPr>
        <p:spPr>
          <a:xfrm>
            <a:off x="1188720" y="1234440"/>
            <a:ext cx="6766560" cy="2651760"/>
          </a:xfrm>
          <a:prstGeom prst="roundRect">
            <a:avLst>
              <a:gd name="adj" fmla="val 2759"/>
            </a:avLst>
          </a:prstGeom>
          <a:solidFill>
            <a:srgbClr val="FFFFFF"/>
          </a:solidFill>
          <a:ln w="25400">
            <a:solidFill>
              <a:srgbClr val="2B2B2B"/>
            </a:solidFill>
            <a:prstDash val="solid"/>
          </a:ln>
        </p:spPr>
      </p:sp>
      <p:sp>
        <p:nvSpPr>
          <p:cNvPr id="4" name="Shape 2"/>
          <p:cNvSpPr/>
          <p:nvPr/>
        </p:nvSpPr>
        <p:spPr>
          <a:xfrm>
            <a:off x="1600200" y="1874520"/>
            <a:ext cx="1371600" cy="1371600"/>
          </a:xfrm>
          <a:prstGeom prst="roundRect">
            <a:avLst>
              <a:gd name="adj" fmla="val 4000"/>
            </a:avLst>
          </a:prstGeom>
          <a:solidFill>
            <a:srgbClr val="2B2B2B"/>
          </a:solidFill>
          <a:ln w="12700">
            <a:solidFill>
              <a:srgbClr val="2B2B2B"/>
            </a:solidFill>
            <a:prstDash val="solid"/>
          </a:ln>
        </p:spPr>
      </p:sp>
      <p:sp>
        <p:nvSpPr>
          <p:cNvPr id="5" name="Text 3"/>
          <p:cNvSpPr txBox="1"/>
          <p:nvPr/>
        </p:nvSpPr>
        <p:spPr>
          <a:xfrm>
            <a:off x="1600200" y="1874520"/>
            <a:ext cx="1371600" cy="1371600"/>
          </a:xfrm>
          <a:prstGeom prst="rect">
            <a:avLst/>
          </a:prstGeom>
          <a:noFill/>
          <a:ln/>
        </p:spPr>
        <p:txBody>
          <a:bodyPr wrap="square" lIns="0" tIns="0" rIns="0" bIns="0" rtlCol="0" anchor="ctr"/>
          <a:lstStyle/>
          <a:p>
            <a:pPr algn="ctr" indent="0" marL="0">
              <a:buNone/>
            </a:pPr>
            <a:r>
              <a:rPr lang="en-US" sz="4800" dirty="0">
                <a:solidFill>
                  <a:srgbClr val="F4C430"/>
                </a:solidFill>
                <a:latin typeface="Arial Black" pitchFamily="34" charset="0"/>
                <a:ea typeface="Arial Black" pitchFamily="34" charset="-122"/>
                <a:cs typeface="Arial Black" pitchFamily="34" charset="-120"/>
              </a:rPr>
              <a:t>04</a:t>
            </a:r>
            <a:endParaRPr lang="en-US" sz="4800" dirty="0"/>
          </a:p>
        </p:txBody>
      </p:sp>
      <p:sp>
        <p:nvSpPr>
          <p:cNvPr id="6" name="Text 4"/>
          <p:cNvSpPr txBox="1"/>
          <p:nvPr/>
        </p:nvSpPr>
        <p:spPr>
          <a:xfrm>
            <a:off x="3246120" y="1645920"/>
            <a:ext cx="4480560" cy="822960"/>
          </a:xfrm>
          <a:prstGeom prst="rect">
            <a:avLst/>
          </a:prstGeom>
          <a:noFill/>
          <a:ln/>
        </p:spPr>
        <p:txBody>
          <a:bodyPr wrap="square" lIns="0" tIns="0" rIns="0" bIns="0" rtlCol="0" anchor="b"/>
          <a:lstStyle/>
          <a:p>
            <a:pPr indent="0" marL="0">
              <a:buNone/>
            </a:pPr>
            <a:r>
              <a:rPr lang="en-US" sz="3200" dirty="0">
                <a:solidFill>
                  <a:srgbClr val="2B2B2B"/>
                </a:solidFill>
                <a:latin typeface="Arial Black" pitchFamily="34" charset="0"/>
                <a:ea typeface="Arial Black" pitchFamily="34" charset="-122"/>
                <a:cs typeface="Arial Black" pitchFamily="34" charset="-120"/>
              </a:rPr>
              <a:t>Build</a:t>
            </a:r>
            <a:endParaRPr lang="en-US" sz="3200" dirty="0"/>
          </a:p>
        </p:txBody>
      </p:sp>
      <p:sp>
        <p:nvSpPr>
          <p:cNvPr id="7" name="Text 5"/>
          <p:cNvSpPr txBox="1"/>
          <p:nvPr/>
        </p:nvSpPr>
        <p:spPr>
          <a:xfrm>
            <a:off x="3246120" y="2560320"/>
            <a:ext cx="4480560" cy="914400"/>
          </a:xfrm>
          <a:prstGeom prst="rect">
            <a:avLst/>
          </a:prstGeom>
          <a:noFill/>
          <a:ln/>
        </p:spPr>
        <p:txBody>
          <a:bodyPr wrap="square" lIns="0" tIns="0" rIns="0" bIns="0" rtlCol="0" anchor="t"/>
          <a:lstStyle/>
          <a:p>
            <a:pPr indent="0" marL="0">
              <a:buNone/>
            </a:pPr>
            <a:r>
              <a:rPr lang="en-US" sz="2200" dirty="0">
                <a:solidFill>
                  <a:srgbClr val="5C4A12"/>
                </a:solidFill>
                <a:latin typeface="Calibri" pitchFamily="34" charset="0"/>
                <a:ea typeface="Calibri" pitchFamily="34" charset="-122"/>
                <a:cs typeface="Calibri" pitchFamily="34" charset="-120"/>
              </a:rPr>
              <a:t>The asteroid field, one TODO at a time.</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Open the starter</a:t>
            </a:r>
            <a:endParaRPr lang="en-US" sz="3200" dirty="0"/>
          </a:p>
        </p:txBody>
      </p:sp>
      <p:sp>
        <p:nvSpPr>
          <p:cNvPr id="3" name="Shape 1"/>
          <p:cNvSpPr/>
          <p:nvPr/>
        </p:nvSpPr>
        <p:spPr>
          <a:xfrm>
            <a:off x="411480" y="1051560"/>
            <a:ext cx="548640" cy="548640"/>
          </a:xfrm>
          <a:prstGeom prst="roundRect">
            <a:avLst>
              <a:gd name="adj" fmla="val 10000"/>
            </a:avLst>
          </a:prstGeom>
          <a:solidFill>
            <a:srgbClr val="2B2B2B"/>
          </a:solidFill>
          <a:ln w="12700">
            <a:solidFill>
              <a:srgbClr val="2B2B2B"/>
            </a:solidFill>
            <a:prstDash val="solid"/>
          </a:ln>
        </p:spPr>
      </p:sp>
      <p:sp>
        <p:nvSpPr>
          <p:cNvPr id="4" name="Text 2"/>
          <p:cNvSpPr txBox="1"/>
          <p:nvPr/>
        </p:nvSpPr>
        <p:spPr>
          <a:xfrm>
            <a:off x="411480" y="1051560"/>
            <a:ext cx="548640" cy="548640"/>
          </a:xfrm>
          <a:prstGeom prst="rect">
            <a:avLst/>
          </a:prstGeom>
          <a:noFill/>
          <a:ln/>
        </p:spPr>
        <p:txBody>
          <a:bodyPr wrap="square" lIns="0" tIns="0" rIns="0" bIns="0" rtlCol="0" anchor="ctr"/>
          <a:lstStyle/>
          <a:p>
            <a:pPr algn="ctr" indent="0" marL="0">
              <a:buNone/>
            </a:pPr>
            <a:r>
              <a:rPr lang="en-US" sz="2200" dirty="0">
                <a:solidFill>
                  <a:srgbClr val="F4C430"/>
                </a:solidFill>
                <a:latin typeface="Arial Black" pitchFamily="34" charset="0"/>
                <a:ea typeface="Arial Black" pitchFamily="34" charset="-122"/>
                <a:cs typeface="Arial Black" pitchFamily="34" charset="-120"/>
              </a:rPr>
              <a:t>1</a:t>
            </a:r>
            <a:endParaRPr lang="en-US" sz="2200" dirty="0"/>
          </a:p>
        </p:txBody>
      </p:sp>
      <p:sp>
        <p:nvSpPr>
          <p:cNvPr id="5" name="Text 3"/>
          <p:cNvSpPr txBox="1"/>
          <p:nvPr/>
        </p:nvSpPr>
        <p:spPr>
          <a:xfrm>
            <a:off x="1143000" y="1051560"/>
            <a:ext cx="7589520" cy="548640"/>
          </a:xfrm>
          <a:prstGeom prst="rect">
            <a:avLst/>
          </a:prstGeom>
          <a:noFill/>
          <a:ln/>
        </p:spPr>
        <p:txBody>
          <a:bodyPr wrap="square" lIns="0" tIns="0" rIns="0" bIns="0" rtlCol="0" anchor="ctr"/>
          <a:lstStyle/>
          <a:p>
            <a:pPr indent="0" marL="0">
              <a:buNone/>
            </a:pPr>
            <a:r>
              <a:rPr lang="en-US" sz="2200" dirty="0">
                <a:solidFill>
                  <a:srgbClr val="2B2B2B"/>
                </a:solidFill>
              </a:rPr>
              <a:t>Class website → Unit 3 → Lesson 2 → </a:t>
            </a:r>
            <a:pPr indent="0" marL="0">
              <a:buNone/>
            </a:pPr>
            <a:r>
              <a:rPr lang="en-US" sz="2200" b="1" dirty="0">
                <a:solidFill>
                  <a:srgbClr val="2B2B2B"/>
                </a:solidFill>
                <a:latin typeface="Courier New" pitchFamily="34" charset="0"/>
                <a:ea typeface="Courier New" pitchFamily="34" charset="-122"/>
                <a:cs typeface="Courier New" pitchFamily="34" charset="-120"/>
              </a:rPr>
              <a:t>u3l02-asteroids-starter.js</a:t>
            </a:r>
            <a:pPr indent="0" marL="0">
              <a:buNone/>
            </a:pPr>
            <a:endParaRPr lang="en-US" sz="2200" dirty="0"/>
          </a:p>
        </p:txBody>
      </p:sp>
      <p:sp>
        <p:nvSpPr>
          <p:cNvPr id="6" name="Shape 4"/>
          <p:cNvSpPr/>
          <p:nvPr/>
        </p:nvSpPr>
        <p:spPr>
          <a:xfrm>
            <a:off x="411480" y="1828800"/>
            <a:ext cx="548640" cy="548640"/>
          </a:xfrm>
          <a:prstGeom prst="roundRect">
            <a:avLst>
              <a:gd name="adj" fmla="val 10000"/>
            </a:avLst>
          </a:prstGeom>
          <a:solidFill>
            <a:srgbClr val="2B2B2B"/>
          </a:solidFill>
          <a:ln w="12700">
            <a:solidFill>
              <a:srgbClr val="2B2B2B"/>
            </a:solidFill>
            <a:prstDash val="solid"/>
          </a:ln>
        </p:spPr>
      </p:sp>
      <p:sp>
        <p:nvSpPr>
          <p:cNvPr id="7" name="Text 5"/>
          <p:cNvSpPr txBox="1"/>
          <p:nvPr/>
        </p:nvSpPr>
        <p:spPr>
          <a:xfrm>
            <a:off x="411480" y="1828800"/>
            <a:ext cx="548640" cy="548640"/>
          </a:xfrm>
          <a:prstGeom prst="rect">
            <a:avLst/>
          </a:prstGeom>
          <a:noFill/>
          <a:ln/>
        </p:spPr>
        <p:txBody>
          <a:bodyPr wrap="square" lIns="0" tIns="0" rIns="0" bIns="0" rtlCol="0" anchor="ctr"/>
          <a:lstStyle/>
          <a:p>
            <a:pPr algn="ctr" indent="0" marL="0">
              <a:buNone/>
            </a:pPr>
            <a:r>
              <a:rPr lang="en-US" sz="2200" dirty="0">
                <a:solidFill>
                  <a:srgbClr val="F4C430"/>
                </a:solidFill>
                <a:latin typeface="Arial Black" pitchFamily="34" charset="0"/>
                <a:ea typeface="Arial Black" pitchFamily="34" charset="-122"/>
                <a:cs typeface="Arial Black" pitchFamily="34" charset="-120"/>
              </a:rPr>
              <a:t>2</a:t>
            </a:r>
            <a:endParaRPr lang="en-US" sz="2200" dirty="0"/>
          </a:p>
        </p:txBody>
      </p:sp>
      <p:sp>
        <p:nvSpPr>
          <p:cNvPr id="8" name="Text 6"/>
          <p:cNvSpPr txBox="1"/>
          <p:nvPr/>
        </p:nvSpPr>
        <p:spPr>
          <a:xfrm>
            <a:off x="1143000" y="1828800"/>
            <a:ext cx="7589520" cy="548640"/>
          </a:xfrm>
          <a:prstGeom prst="rect">
            <a:avLst/>
          </a:prstGeom>
          <a:noFill/>
          <a:ln/>
        </p:spPr>
        <p:txBody>
          <a:bodyPr wrap="square" lIns="0" tIns="0" rIns="0" bIns="0" rtlCol="0" anchor="ctr"/>
          <a:lstStyle/>
          <a:p>
            <a:pPr indent="0" marL="0">
              <a:buNone/>
            </a:pPr>
            <a:r>
              <a:rPr lang="en-US" sz="2200" dirty="0">
                <a:solidFill>
                  <a:srgbClr val="2B2B2B"/>
                </a:solidFill>
              </a:rPr>
              <a:t>p5 editor: </a:t>
            </a:r>
            <a:pPr indent="0" marL="0">
              <a:buNone/>
            </a:pPr>
            <a:r>
              <a:rPr lang="en-US" sz="2200" b="1" dirty="0">
                <a:solidFill>
                  <a:srgbClr val="2B2B2B"/>
                </a:solidFill>
                <a:latin typeface="Calibri" pitchFamily="34" charset="0"/>
                <a:ea typeface="Calibri" pitchFamily="34" charset="-122"/>
                <a:cs typeface="Calibri" pitchFamily="34" charset="-120"/>
              </a:rPr>
              <a:t>File → New</a:t>
            </a:r>
            <a:pPr indent="0" marL="0">
              <a:buNone/>
            </a:pPr>
            <a:r>
              <a:rPr lang="en-US" sz="2200" dirty="0">
                <a:solidFill>
                  <a:srgbClr val="2B2B2B"/>
                </a:solidFill>
              </a:rPr>
              <a:t>, paste over everything</a:t>
            </a:r>
            <a:endParaRPr lang="en-US" sz="2200" dirty="0"/>
          </a:p>
        </p:txBody>
      </p:sp>
      <p:sp>
        <p:nvSpPr>
          <p:cNvPr id="9" name="Shape 7"/>
          <p:cNvSpPr/>
          <p:nvPr/>
        </p:nvSpPr>
        <p:spPr>
          <a:xfrm>
            <a:off x="411480" y="2606040"/>
            <a:ext cx="548640" cy="548640"/>
          </a:xfrm>
          <a:prstGeom prst="roundRect">
            <a:avLst>
              <a:gd name="adj" fmla="val 10000"/>
            </a:avLst>
          </a:prstGeom>
          <a:solidFill>
            <a:srgbClr val="2B2B2B"/>
          </a:solidFill>
          <a:ln w="12700">
            <a:solidFill>
              <a:srgbClr val="2B2B2B"/>
            </a:solidFill>
            <a:prstDash val="solid"/>
          </a:ln>
        </p:spPr>
      </p:sp>
      <p:sp>
        <p:nvSpPr>
          <p:cNvPr id="10" name="Text 8"/>
          <p:cNvSpPr txBox="1"/>
          <p:nvPr/>
        </p:nvSpPr>
        <p:spPr>
          <a:xfrm>
            <a:off x="411480" y="2606040"/>
            <a:ext cx="548640" cy="548640"/>
          </a:xfrm>
          <a:prstGeom prst="rect">
            <a:avLst/>
          </a:prstGeom>
          <a:noFill/>
          <a:ln/>
        </p:spPr>
        <p:txBody>
          <a:bodyPr wrap="square" lIns="0" tIns="0" rIns="0" bIns="0" rtlCol="0" anchor="ctr"/>
          <a:lstStyle/>
          <a:p>
            <a:pPr algn="ctr" indent="0" marL="0">
              <a:buNone/>
            </a:pPr>
            <a:r>
              <a:rPr lang="en-US" sz="2200" dirty="0">
                <a:solidFill>
                  <a:srgbClr val="F4C430"/>
                </a:solidFill>
                <a:latin typeface="Arial Black" pitchFamily="34" charset="0"/>
                <a:ea typeface="Arial Black" pitchFamily="34" charset="-122"/>
                <a:cs typeface="Arial Black" pitchFamily="34" charset="-120"/>
              </a:rPr>
              <a:t>3</a:t>
            </a:r>
            <a:endParaRPr lang="en-US" sz="2200" dirty="0"/>
          </a:p>
        </p:txBody>
      </p:sp>
      <p:sp>
        <p:nvSpPr>
          <p:cNvPr id="11" name="Text 9"/>
          <p:cNvSpPr txBox="1"/>
          <p:nvPr/>
        </p:nvSpPr>
        <p:spPr>
          <a:xfrm>
            <a:off x="1143000" y="2606040"/>
            <a:ext cx="7589520" cy="548640"/>
          </a:xfrm>
          <a:prstGeom prst="rect">
            <a:avLst/>
          </a:prstGeom>
          <a:noFill/>
          <a:ln/>
        </p:spPr>
        <p:txBody>
          <a:bodyPr wrap="square" lIns="0" tIns="0" rIns="0" bIns="0" rtlCol="0" anchor="ctr"/>
          <a:lstStyle/>
          <a:p>
            <a:pPr indent="0" marL="0">
              <a:buNone/>
            </a:pPr>
            <a:r>
              <a:rPr lang="en-US" sz="2200" dirty="0">
                <a:solidFill>
                  <a:srgbClr val="2B2B2B"/>
                </a:solidFill>
              </a:rPr>
              <a:t>Rename to </a:t>
            </a:r>
            <a:pPr indent="0" marL="0">
              <a:buNone/>
            </a:pPr>
            <a:r>
              <a:rPr lang="en-US" sz="2200" b="1" dirty="0">
                <a:solidFill>
                  <a:srgbClr val="2B2B2B"/>
                </a:solidFill>
                <a:latin typeface="Courier New" pitchFamily="34" charset="0"/>
                <a:ea typeface="Courier New" pitchFamily="34" charset="-122"/>
                <a:cs typeface="Courier New" pitchFamily="34" charset="-120"/>
              </a:rPr>
              <a:t>u3l02-asteroids</a:t>
            </a:r>
            <a:pPr indent="0" marL="0">
              <a:buNone/>
            </a:pPr>
            <a:r>
              <a:rPr lang="en-US" sz="2200" dirty="0">
                <a:solidFill>
                  <a:srgbClr val="2B2B2B"/>
                </a:solidFill>
              </a:rPr>
              <a:t> and save</a:t>
            </a:r>
            <a:endParaRPr lang="en-US" sz="2200" dirty="0"/>
          </a:p>
        </p:txBody>
      </p:sp>
      <p:sp>
        <p:nvSpPr>
          <p:cNvPr id="12" name="Shape 10"/>
          <p:cNvSpPr/>
          <p:nvPr/>
        </p:nvSpPr>
        <p:spPr>
          <a:xfrm>
            <a:off x="475488" y="3584448"/>
            <a:ext cx="8321040" cy="1097280"/>
          </a:xfrm>
          <a:prstGeom prst="roundRect">
            <a:avLst>
              <a:gd name="adj" fmla="val 6667"/>
            </a:avLst>
          </a:prstGeom>
          <a:solidFill>
            <a:srgbClr val="2B2B2B"/>
          </a:solidFill>
          <a:ln w="12700">
            <a:solidFill>
              <a:srgbClr val="2B2B2B"/>
            </a:solidFill>
            <a:prstDash val="solid"/>
          </a:ln>
        </p:spPr>
      </p:sp>
      <p:sp>
        <p:nvSpPr>
          <p:cNvPr id="13" name="Shape 11"/>
          <p:cNvSpPr/>
          <p:nvPr/>
        </p:nvSpPr>
        <p:spPr>
          <a:xfrm>
            <a:off x="411480" y="3520440"/>
            <a:ext cx="8321040" cy="1097280"/>
          </a:xfrm>
          <a:prstGeom prst="roundRect">
            <a:avLst>
              <a:gd name="adj" fmla="val 6667"/>
            </a:avLst>
          </a:prstGeom>
          <a:solidFill>
            <a:srgbClr val="FFFFFF"/>
          </a:solidFill>
          <a:ln w="25400">
            <a:solidFill>
              <a:srgbClr val="2B2B2B"/>
            </a:solidFill>
            <a:prstDash val="solid"/>
          </a:ln>
        </p:spPr>
      </p:sp>
      <p:sp>
        <p:nvSpPr>
          <p:cNvPr id="14" name="Text 12"/>
          <p:cNvSpPr txBox="1"/>
          <p:nvPr/>
        </p:nvSpPr>
        <p:spPr>
          <a:xfrm>
            <a:off x="640080" y="3611880"/>
            <a:ext cx="7863840" cy="914400"/>
          </a:xfrm>
          <a:prstGeom prst="rect">
            <a:avLst/>
          </a:prstGeom>
          <a:noFill/>
          <a:ln/>
        </p:spPr>
        <p:txBody>
          <a:bodyPr wrap="square" lIns="0" tIns="0" rIns="0" bIns="0" rtlCol="0" anchor="ctr"/>
          <a:lstStyle/>
          <a:p>
            <a:pPr indent="0" marL="0">
              <a:buNone/>
            </a:pPr>
            <a:r>
              <a:rPr lang="en-US" sz="2800" b="1" dirty="0">
                <a:solidFill>
                  <a:srgbClr val="2B2B2B"/>
                </a:solidFill>
                <a:latin typeface="Courier New" pitchFamily="34" charset="0"/>
                <a:ea typeface="Courier New" pitchFamily="34" charset="-122"/>
                <a:cs typeface="Courier New" pitchFamily="34" charset="-120"/>
              </a:rPr>
              <a:t>fators22.github.io/APCSP-2627</a:t>
            </a:r>
            <a:endParaRPr lang="en-US" sz="2800" dirty="0"/>
          </a:p>
          <a:p>
            <a:pPr indent="0" marL="0">
              <a:buNone/>
            </a:pPr>
            <a:r>
              <a:rPr lang="en-US" sz="1800" dirty="0">
                <a:solidFill>
                  <a:srgbClr val="5C4A12"/>
                </a:solidFill>
              </a:rPr>
              <a:t>Also linked in Google Classroom</a:t>
            </a:r>
            <a:endParaRPr lang="en-US" sz="28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How the starter works</a:t>
            </a:r>
            <a:endParaRPr lang="en-US" sz="3200" dirty="0"/>
          </a:p>
        </p:txBody>
      </p:sp>
      <p:sp>
        <p:nvSpPr>
          <p:cNvPr id="3" name="Text 1"/>
          <p:cNvSpPr txBox="1"/>
          <p:nvPr/>
        </p:nvSpPr>
        <p:spPr>
          <a:xfrm>
            <a:off x="411480" y="1005840"/>
            <a:ext cx="4023360" cy="274320"/>
          </a:xfrm>
          <a:prstGeom prst="rect">
            <a:avLst/>
          </a:prstGeom>
          <a:noFill/>
          <a:ln/>
        </p:spPr>
        <p:txBody>
          <a:bodyPr wrap="square" lIns="0" tIns="0" rIns="0" bIns="0" rtlCol="0" anchor="ctr"/>
          <a:lstStyle/>
          <a:p>
            <a:pPr indent="0" marL="0">
              <a:buNone/>
            </a:pPr>
            <a:r>
              <a:rPr lang="en-US" sz="1600" b="1" dirty="0">
                <a:solidFill>
                  <a:srgbClr val="5C4A12"/>
                </a:solidFill>
                <a:latin typeface="Courier New" pitchFamily="34" charset="0"/>
                <a:ea typeface="Courier New" pitchFamily="34" charset="-122"/>
                <a:cs typeface="Courier New" pitchFamily="34" charset="-120"/>
              </a:rPr>
              <a:t>SWITCHED OFF</a:t>
            </a:r>
            <a:endParaRPr lang="en-US" sz="1600" dirty="0"/>
          </a:p>
        </p:txBody>
      </p:sp>
      <p:sp>
        <p:nvSpPr>
          <p:cNvPr id="4" name="Shape 2"/>
          <p:cNvSpPr/>
          <p:nvPr/>
        </p:nvSpPr>
        <p:spPr>
          <a:xfrm>
            <a:off x="475488" y="1389888"/>
            <a:ext cx="4023360" cy="685800"/>
          </a:xfrm>
          <a:prstGeom prst="roundRect">
            <a:avLst>
              <a:gd name="adj" fmla="val 8000"/>
            </a:avLst>
          </a:prstGeom>
          <a:solidFill>
            <a:srgbClr val="2B2B2B"/>
          </a:solidFill>
          <a:ln w="12700">
            <a:solidFill>
              <a:srgbClr val="2B2B2B"/>
            </a:solidFill>
            <a:prstDash val="solid"/>
          </a:ln>
        </p:spPr>
      </p:sp>
      <p:sp>
        <p:nvSpPr>
          <p:cNvPr id="5" name="Shape 3"/>
          <p:cNvSpPr/>
          <p:nvPr/>
        </p:nvSpPr>
        <p:spPr>
          <a:xfrm>
            <a:off x="411480" y="1325880"/>
            <a:ext cx="4023360" cy="685800"/>
          </a:xfrm>
          <a:prstGeom prst="roundRect">
            <a:avLst>
              <a:gd name="adj" fmla="val 8000"/>
            </a:avLst>
          </a:prstGeom>
          <a:solidFill>
            <a:srgbClr val="1E1E1E"/>
          </a:solidFill>
          <a:ln w="25400">
            <a:solidFill>
              <a:srgbClr val="2B2B2B"/>
            </a:solidFill>
            <a:prstDash val="solid"/>
          </a:ln>
        </p:spPr>
      </p:sp>
      <p:sp>
        <p:nvSpPr>
          <p:cNvPr id="6" name="Text 4"/>
          <p:cNvSpPr txBox="1"/>
          <p:nvPr/>
        </p:nvSpPr>
        <p:spPr>
          <a:xfrm>
            <a:off x="576072" y="1399032"/>
            <a:ext cx="3749040" cy="539496"/>
          </a:xfrm>
          <a:prstGeom prst="rect">
            <a:avLst/>
          </a:prstGeom>
          <a:noFill/>
          <a:ln/>
        </p:spPr>
        <p:txBody>
          <a:bodyPr wrap="square" lIns="0" tIns="0" rIns="0" bIns="0" rtlCol="0" anchor="ctr"/>
          <a:lstStyle/>
          <a:p>
            <a:pPr indent="0" marL="0">
              <a:lnSpc>
                <a:spcPct val="105000"/>
              </a:lnSpc>
              <a:buNone/>
            </a:pPr>
            <a:r>
              <a:rPr lang="en-US" sz="2000" dirty="0">
                <a:solidFill>
                  <a:srgbClr val="6A9955"/>
                </a:solidFill>
                <a:latin typeface="Courier New" pitchFamily="34" charset="0"/>
                <a:ea typeface="Courier New" pitchFamily="34" charset="-122"/>
                <a:cs typeface="Courier New" pitchFamily="34" charset="-120"/>
              </a:rPr>
              <a:t>// for (let i = ___; ___</a:t>
            </a:r>
            <a:endParaRPr lang="en-US" sz="2000" dirty="0"/>
          </a:p>
        </p:txBody>
      </p:sp>
      <p:sp>
        <p:nvSpPr>
          <p:cNvPr id="7" name="Text 5"/>
          <p:cNvSpPr txBox="1"/>
          <p:nvPr/>
        </p:nvSpPr>
        <p:spPr>
          <a:xfrm>
            <a:off x="4709160" y="1005840"/>
            <a:ext cx="4023360" cy="274320"/>
          </a:xfrm>
          <a:prstGeom prst="rect">
            <a:avLst/>
          </a:prstGeom>
          <a:noFill/>
          <a:ln/>
        </p:spPr>
        <p:txBody>
          <a:bodyPr wrap="square" lIns="0" tIns="0" rIns="0" bIns="0" rtlCol="0" anchor="ctr"/>
          <a:lstStyle/>
          <a:p>
            <a:pPr indent="0" marL="0">
              <a:buNone/>
            </a:pPr>
            <a:r>
              <a:rPr lang="en-US" sz="1600" b="1" dirty="0">
                <a:solidFill>
                  <a:srgbClr val="5C4A12"/>
                </a:solidFill>
                <a:latin typeface="Courier New" pitchFamily="34" charset="0"/>
                <a:ea typeface="Courier New" pitchFamily="34" charset="-122"/>
                <a:cs typeface="Courier New" pitchFamily="34" charset="-120"/>
              </a:rPr>
              <a:t>SWITCHED ON AND FILLED IN</a:t>
            </a:r>
            <a:endParaRPr lang="en-US" sz="1600" dirty="0"/>
          </a:p>
        </p:txBody>
      </p:sp>
      <p:sp>
        <p:nvSpPr>
          <p:cNvPr id="8" name="Shape 6"/>
          <p:cNvSpPr/>
          <p:nvPr/>
        </p:nvSpPr>
        <p:spPr>
          <a:xfrm>
            <a:off x="4773168" y="1389888"/>
            <a:ext cx="4023360" cy="685800"/>
          </a:xfrm>
          <a:prstGeom prst="roundRect">
            <a:avLst>
              <a:gd name="adj" fmla="val 8000"/>
            </a:avLst>
          </a:prstGeom>
          <a:solidFill>
            <a:srgbClr val="2B2B2B"/>
          </a:solidFill>
          <a:ln w="12700">
            <a:solidFill>
              <a:srgbClr val="2B2B2B"/>
            </a:solidFill>
            <a:prstDash val="solid"/>
          </a:ln>
        </p:spPr>
      </p:sp>
      <p:sp>
        <p:nvSpPr>
          <p:cNvPr id="9" name="Shape 7"/>
          <p:cNvSpPr/>
          <p:nvPr/>
        </p:nvSpPr>
        <p:spPr>
          <a:xfrm>
            <a:off x="4709160" y="1325880"/>
            <a:ext cx="4023360" cy="685800"/>
          </a:xfrm>
          <a:prstGeom prst="roundRect">
            <a:avLst>
              <a:gd name="adj" fmla="val 8000"/>
            </a:avLst>
          </a:prstGeom>
          <a:solidFill>
            <a:srgbClr val="1E1E1E"/>
          </a:solidFill>
          <a:ln w="25400">
            <a:solidFill>
              <a:srgbClr val="2B2B2B"/>
            </a:solidFill>
            <a:prstDash val="solid"/>
          </a:ln>
        </p:spPr>
      </p:sp>
      <p:sp>
        <p:nvSpPr>
          <p:cNvPr id="10" name="Text 8"/>
          <p:cNvSpPr txBox="1"/>
          <p:nvPr/>
        </p:nvSpPr>
        <p:spPr>
          <a:xfrm>
            <a:off x="4873752" y="1399032"/>
            <a:ext cx="3749040" cy="539496"/>
          </a:xfrm>
          <a:prstGeom prst="rect">
            <a:avLst/>
          </a:prstGeom>
          <a:noFill/>
          <a:ln/>
        </p:spPr>
        <p:txBody>
          <a:bodyPr wrap="square" lIns="0" tIns="0" rIns="0" bIns="0" rtlCol="0" anchor="ctr"/>
          <a:lstStyle/>
          <a:p>
            <a:pPr indent="0" marL="0">
              <a:lnSpc>
                <a:spcPct val="105000"/>
              </a:lnSpc>
              <a:buNone/>
            </a:pPr>
            <a:r>
              <a:rPr lang="en-US" sz="2000" dirty="0">
                <a:solidFill>
                  <a:srgbClr val="C586C0"/>
                </a:solidFill>
                <a:latin typeface="Courier New" pitchFamily="34" charset="0"/>
                <a:ea typeface="Courier New" pitchFamily="34" charset="-122"/>
                <a:cs typeface="Courier New" pitchFamily="34" charset="-120"/>
              </a:rPr>
              <a:t>for</a:t>
            </a:r>
            <a:pPr indent="0" marL="0">
              <a:lnSpc>
                <a:spcPct val="105000"/>
              </a:lnSpc>
              <a:buNone/>
            </a:pPr>
            <a:r>
              <a:rPr lang="en-US" sz="20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0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20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0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20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000" dirty="0">
                <a:solidFill>
                  <a:srgbClr val="B5CEA8"/>
                </a:solidFill>
                <a:latin typeface="Courier New" pitchFamily="34" charset="0"/>
                <a:ea typeface="Courier New" pitchFamily="34" charset="-122"/>
                <a:cs typeface="Courier New" pitchFamily="34" charset="-120"/>
              </a:rPr>
              <a:t>0</a:t>
            </a:r>
            <a:pPr indent="0" marL="0">
              <a:lnSpc>
                <a:spcPct val="105000"/>
              </a:lnSpc>
              <a:buNone/>
            </a:pPr>
            <a:r>
              <a:rPr lang="en-US" sz="20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0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2000" dirty="0">
                <a:solidFill>
                  <a:srgbClr val="D4D4D4"/>
                </a:solidFill>
                <a:latin typeface="Courier New" pitchFamily="34" charset="0"/>
                <a:ea typeface="Courier New" pitchFamily="34" charset="-122"/>
                <a:cs typeface="Courier New" pitchFamily="34" charset="-120"/>
              </a:rPr>
              <a:t> &lt; </a:t>
            </a:r>
            <a:pPr indent="0" marL="0">
              <a:lnSpc>
                <a:spcPct val="105000"/>
              </a:lnSpc>
              <a:buNone/>
            </a:pPr>
            <a:r>
              <a:rPr lang="en-US" sz="2000" dirty="0">
                <a:solidFill>
                  <a:srgbClr val="B5CEA8"/>
                </a:solidFill>
                <a:latin typeface="Courier New" pitchFamily="34" charset="0"/>
                <a:ea typeface="Courier New" pitchFamily="34" charset="-122"/>
                <a:cs typeface="Courier New" pitchFamily="34" charset="-120"/>
              </a:rPr>
              <a:t>200</a:t>
            </a:r>
            <a:endParaRPr lang="en-US" sz="2000" dirty="0"/>
          </a:p>
        </p:txBody>
      </p:sp>
      <p:sp>
        <p:nvSpPr>
          <p:cNvPr id="11" name="Shape 9"/>
          <p:cNvSpPr/>
          <p:nvPr/>
        </p:nvSpPr>
        <p:spPr>
          <a:xfrm>
            <a:off x="411480" y="2377440"/>
            <a:ext cx="548640" cy="548640"/>
          </a:xfrm>
          <a:prstGeom prst="roundRect">
            <a:avLst>
              <a:gd name="adj" fmla="val 10000"/>
            </a:avLst>
          </a:prstGeom>
          <a:solidFill>
            <a:srgbClr val="2B2B2B"/>
          </a:solidFill>
          <a:ln w="12700">
            <a:solidFill>
              <a:srgbClr val="2B2B2B"/>
            </a:solidFill>
            <a:prstDash val="solid"/>
          </a:ln>
        </p:spPr>
      </p:sp>
      <p:sp>
        <p:nvSpPr>
          <p:cNvPr id="12" name="Text 10"/>
          <p:cNvSpPr txBox="1"/>
          <p:nvPr/>
        </p:nvSpPr>
        <p:spPr>
          <a:xfrm>
            <a:off x="411480" y="2377440"/>
            <a:ext cx="548640" cy="548640"/>
          </a:xfrm>
          <a:prstGeom prst="rect">
            <a:avLst/>
          </a:prstGeom>
          <a:noFill/>
          <a:ln/>
        </p:spPr>
        <p:txBody>
          <a:bodyPr wrap="square" lIns="0" tIns="0" rIns="0" bIns="0" rtlCol="0" anchor="ctr"/>
          <a:lstStyle/>
          <a:p>
            <a:pPr algn="ctr" indent="0" marL="0">
              <a:buNone/>
            </a:pPr>
            <a:r>
              <a:rPr lang="en-US" sz="2200" dirty="0">
                <a:solidFill>
                  <a:srgbClr val="F4C430"/>
                </a:solidFill>
                <a:latin typeface="Arial Black" pitchFamily="34" charset="0"/>
                <a:ea typeface="Arial Black" pitchFamily="34" charset="-122"/>
                <a:cs typeface="Arial Black" pitchFamily="34" charset="-120"/>
              </a:rPr>
              <a:t>1</a:t>
            </a:r>
            <a:endParaRPr lang="en-US" sz="2200" dirty="0"/>
          </a:p>
        </p:txBody>
      </p:sp>
      <p:sp>
        <p:nvSpPr>
          <p:cNvPr id="13" name="Text 11"/>
          <p:cNvSpPr txBox="1"/>
          <p:nvPr/>
        </p:nvSpPr>
        <p:spPr>
          <a:xfrm>
            <a:off x="1143000" y="2377440"/>
            <a:ext cx="7589520" cy="548640"/>
          </a:xfrm>
          <a:prstGeom prst="rect">
            <a:avLst/>
          </a:prstGeom>
          <a:noFill/>
          <a:ln/>
        </p:spPr>
        <p:txBody>
          <a:bodyPr wrap="square" lIns="0" tIns="0" rIns="0" bIns="0" rtlCol="0" anchor="ctr"/>
          <a:lstStyle/>
          <a:p>
            <a:pPr indent="0" marL="0">
              <a:buNone/>
            </a:pPr>
            <a:r>
              <a:rPr lang="en-US" sz="2400" dirty="0">
                <a:solidFill>
                  <a:srgbClr val="2B2B2B"/>
                </a:solidFill>
              </a:rPr>
              <a:t>Delete the </a:t>
            </a:r>
            <a:pPr indent="0" marL="0">
              <a:buNone/>
            </a:pPr>
            <a:r>
              <a:rPr lang="en-US" sz="2400" b="1" dirty="0">
                <a:solidFill>
                  <a:srgbClr val="2B2B2B"/>
                </a:solidFill>
                <a:latin typeface="Courier New" pitchFamily="34" charset="0"/>
                <a:ea typeface="Courier New" pitchFamily="34" charset="-122"/>
                <a:cs typeface="Courier New" pitchFamily="34" charset="-120"/>
              </a:rPr>
              <a:t>//</a:t>
            </a:r>
            <a:pPr indent="0" marL="0">
              <a:buNone/>
            </a:pPr>
            <a:r>
              <a:rPr lang="en-US" sz="2400" dirty="0">
                <a:solidFill>
                  <a:srgbClr val="2B2B2B"/>
                </a:solidFill>
              </a:rPr>
              <a:t> at the front of the line.</a:t>
            </a:r>
            <a:endParaRPr lang="en-US" sz="2400" dirty="0"/>
          </a:p>
        </p:txBody>
      </p:sp>
      <p:sp>
        <p:nvSpPr>
          <p:cNvPr id="14" name="Shape 12"/>
          <p:cNvSpPr/>
          <p:nvPr/>
        </p:nvSpPr>
        <p:spPr>
          <a:xfrm>
            <a:off x="411480" y="3127248"/>
            <a:ext cx="548640" cy="548640"/>
          </a:xfrm>
          <a:prstGeom prst="roundRect">
            <a:avLst>
              <a:gd name="adj" fmla="val 10000"/>
            </a:avLst>
          </a:prstGeom>
          <a:solidFill>
            <a:srgbClr val="2B2B2B"/>
          </a:solidFill>
          <a:ln w="12700">
            <a:solidFill>
              <a:srgbClr val="2B2B2B"/>
            </a:solidFill>
            <a:prstDash val="solid"/>
          </a:ln>
        </p:spPr>
      </p:sp>
      <p:sp>
        <p:nvSpPr>
          <p:cNvPr id="15" name="Text 13"/>
          <p:cNvSpPr txBox="1"/>
          <p:nvPr/>
        </p:nvSpPr>
        <p:spPr>
          <a:xfrm>
            <a:off x="411480" y="3127248"/>
            <a:ext cx="548640" cy="548640"/>
          </a:xfrm>
          <a:prstGeom prst="rect">
            <a:avLst/>
          </a:prstGeom>
          <a:noFill/>
          <a:ln/>
        </p:spPr>
        <p:txBody>
          <a:bodyPr wrap="square" lIns="0" tIns="0" rIns="0" bIns="0" rtlCol="0" anchor="ctr"/>
          <a:lstStyle/>
          <a:p>
            <a:pPr algn="ctr" indent="0" marL="0">
              <a:buNone/>
            </a:pPr>
            <a:r>
              <a:rPr lang="en-US" sz="2200" dirty="0">
                <a:solidFill>
                  <a:srgbClr val="F4C430"/>
                </a:solidFill>
                <a:latin typeface="Arial Black" pitchFamily="34" charset="0"/>
                <a:ea typeface="Arial Black" pitchFamily="34" charset="-122"/>
                <a:cs typeface="Arial Black" pitchFamily="34" charset="-120"/>
              </a:rPr>
              <a:t>2</a:t>
            </a:r>
            <a:endParaRPr lang="en-US" sz="2200" dirty="0"/>
          </a:p>
        </p:txBody>
      </p:sp>
      <p:sp>
        <p:nvSpPr>
          <p:cNvPr id="16" name="Text 14"/>
          <p:cNvSpPr txBox="1"/>
          <p:nvPr/>
        </p:nvSpPr>
        <p:spPr>
          <a:xfrm>
            <a:off x="1143000" y="3127248"/>
            <a:ext cx="7589520" cy="548640"/>
          </a:xfrm>
          <a:prstGeom prst="rect">
            <a:avLst/>
          </a:prstGeom>
          <a:noFill/>
          <a:ln/>
        </p:spPr>
        <p:txBody>
          <a:bodyPr wrap="square" lIns="0" tIns="0" rIns="0" bIns="0" rtlCol="0" anchor="ctr"/>
          <a:lstStyle/>
          <a:p>
            <a:pPr indent="0" marL="0">
              <a:buNone/>
            </a:pPr>
            <a:r>
              <a:rPr lang="en-US" sz="2400" dirty="0">
                <a:solidFill>
                  <a:srgbClr val="2B2B2B"/>
                </a:solidFill>
              </a:rPr>
              <a:t>Replace every </a:t>
            </a:r>
            <a:pPr indent="0" marL="0">
              <a:buNone/>
            </a:pPr>
            <a:r>
              <a:rPr lang="en-US" sz="2400" b="1" dirty="0">
                <a:solidFill>
                  <a:srgbClr val="2B2B2B"/>
                </a:solidFill>
                <a:latin typeface="Courier New" pitchFamily="34" charset="0"/>
                <a:ea typeface="Courier New" pitchFamily="34" charset="-122"/>
                <a:cs typeface="Courier New" pitchFamily="34" charset="-120"/>
              </a:rPr>
              <a:t>___</a:t>
            </a:r>
            <a:pPr indent="0" marL="0">
              <a:buNone/>
            </a:pPr>
            <a:r>
              <a:rPr lang="en-US" sz="2400" dirty="0">
                <a:solidFill>
                  <a:srgbClr val="2B2B2B"/>
                </a:solidFill>
              </a:rPr>
              <a:t> with a value.</a:t>
            </a:r>
            <a:endParaRPr lang="en-US" sz="2400" dirty="0"/>
          </a:p>
        </p:txBody>
      </p:sp>
      <p:sp>
        <p:nvSpPr>
          <p:cNvPr id="17" name="Shape 15"/>
          <p:cNvSpPr/>
          <p:nvPr/>
        </p:nvSpPr>
        <p:spPr>
          <a:xfrm>
            <a:off x="411480" y="3877056"/>
            <a:ext cx="548640" cy="548640"/>
          </a:xfrm>
          <a:prstGeom prst="roundRect">
            <a:avLst>
              <a:gd name="adj" fmla="val 10000"/>
            </a:avLst>
          </a:prstGeom>
          <a:solidFill>
            <a:srgbClr val="2B2B2B"/>
          </a:solidFill>
          <a:ln w="12700">
            <a:solidFill>
              <a:srgbClr val="2B2B2B"/>
            </a:solidFill>
            <a:prstDash val="solid"/>
          </a:ln>
        </p:spPr>
      </p:sp>
      <p:sp>
        <p:nvSpPr>
          <p:cNvPr id="18" name="Text 16"/>
          <p:cNvSpPr txBox="1"/>
          <p:nvPr/>
        </p:nvSpPr>
        <p:spPr>
          <a:xfrm>
            <a:off x="411480" y="3877056"/>
            <a:ext cx="548640" cy="548640"/>
          </a:xfrm>
          <a:prstGeom prst="rect">
            <a:avLst/>
          </a:prstGeom>
          <a:noFill/>
          <a:ln/>
        </p:spPr>
        <p:txBody>
          <a:bodyPr wrap="square" lIns="0" tIns="0" rIns="0" bIns="0" rtlCol="0" anchor="ctr"/>
          <a:lstStyle/>
          <a:p>
            <a:pPr algn="ctr" indent="0" marL="0">
              <a:buNone/>
            </a:pPr>
            <a:r>
              <a:rPr lang="en-US" sz="2200" dirty="0">
                <a:solidFill>
                  <a:srgbClr val="F4C430"/>
                </a:solidFill>
                <a:latin typeface="Arial Black" pitchFamily="34" charset="0"/>
                <a:ea typeface="Arial Black" pitchFamily="34" charset="-122"/>
                <a:cs typeface="Arial Black" pitchFamily="34" charset="-120"/>
              </a:rPr>
              <a:t>3</a:t>
            </a:r>
            <a:endParaRPr lang="en-US" sz="2200" dirty="0"/>
          </a:p>
        </p:txBody>
      </p:sp>
      <p:sp>
        <p:nvSpPr>
          <p:cNvPr id="19" name="Text 17"/>
          <p:cNvSpPr txBox="1"/>
          <p:nvPr/>
        </p:nvSpPr>
        <p:spPr>
          <a:xfrm>
            <a:off x="1143000" y="3877056"/>
            <a:ext cx="7589520" cy="548640"/>
          </a:xfrm>
          <a:prstGeom prst="rect">
            <a:avLst/>
          </a:prstGeom>
          <a:noFill/>
          <a:ln/>
        </p:spPr>
        <p:txBody>
          <a:bodyPr wrap="square" lIns="0" tIns="0" rIns="0" bIns="0" rtlCol="0" anchor="ctr"/>
          <a:lstStyle/>
          <a:p>
            <a:pPr indent="0" marL="0">
              <a:buNone/>
            </a:pPr>
            <a:r>
              <a:rPr lang="en-US" sz="2400" dirty="0">
                <a:solidFill>
                  <a:srgbClr val="2B2B2B"/>
                </a:solidFill>
              </a:rPr>
              <a:t>Run after </a:t>
            </a:r>
            <a:pPr indent="0" marL="0">
              <a:buNone/>
            </a:pPr>
            <a:r>
              <a:rPr lang="en-US" sz="2400" b="1" dirty="0">
                <a:solidFill>
                  <a:srgbClr val="2B2B2B"/>
                </a:solidFill>
                <a:latin typeface="Calibri" pitchFamily="34" charset="0"/>
                <a:ea typeface="Calibri" pitchFamily="34" charset="-122"/>
                <a:cs typeface="Calibri" pitchFamily="34" charset="-120"/>
              </a:rPr>
              <a:t>every</a:t>
            </a:r>
            <a:pPr indent="0" marL="0">
              <a:buNone/>
            </a:pPr>
            <a:r>
              <a:rPr lang="en-US" sz="2400" dirty="0">
                <a:solidFill>
                  <a:srgbClr val="2B2B2B"/>
                </a:solidFill>
              </a:rPr>
              <a:t> step. Undo if it breaks.</a:t>
            </a:r>
            <a:endParaRPr lang="en-US" sz="24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How things move</a:t>
            </a:r>
            <a:endParaRPr lang="en-US" sz="3200" dirty="0"/>
          </a:p>
        </p:txBody>
      </p:sp>
      <p:sp>
        <p:nvSpPr>
          <p:cNvPr id="3" name="Shape 1"/>
          <p:cNvSpPr/>
          <p:nvPr/>
        </p:nvSpPr>
        <p:spPr>
          <a:xfrm>
            <a:off x="475488" y="1115568"/>
            <a:ext cx="4023360" cy="914400"/>
          </a:xfrm>
          <a:prstGeom prst="roundRect">
            <a:avLst>
              <a:gd name="adj" fmla="val 8000"/>
            </a:avLst>
          </a:prstGeom>
          <a:solidFill>
            <a:srgbClr val="2B2B2B"/>
          </a:solidFill>
          <a:ln w="12700">
            <a:solidFill>
              <a:srgbClr val="2B2B2B"/>
            </a:solidFill>
            <a:prstDash val="solid"/>
          </a:ln>
        </p:spPr>
      </p:sp>
      <p:sp>
        <p:nvSpPr>
          <p:cNvPr id="4" name="Shape 2"/>
          <p:cNvSpPr/>
          <p:nvPr/>
        </p:nvSpPr>
        <p:spPr>
          <a:xfrm>
            <a:off x="411480" y="1051560"/>
            <a:ext cx="4023360" cy="914400"/>
          </a:xfrm>
          <a:prstGeom prst="roundRect">
            <a:avLst>
              <a:gd name="adj" fmla="val 8000"/>
            </a:avLst>
          </a:prstGeom>
          <a:solidFill>
            <a:srgbClr val="FFFFFF"/>
          </a:solidFill>
          <a:ln w="25400">
            <a:solidFill>
              <a:srgbClr val="2B2B2B"/>
            </a:solidFill>
            <a:prstDash val="solid"/>
          </a:ln>
        </p:spPr>
      </p:sp>
      <p:sp>
        <p:nvSpPr>
          <p:cNvPr id="5" name="Text 3"/>
          <p:cNvSpPr txBox="1"/>
          <p:nvPr/>
        </p:nvSpPr>
        <p:spPr>
          <a:xfrm>
            <a:off x="576072" y="1143000"/>
            <a:ext cx="3694176" cy="731520"/>
          </a:xfrm>
          <a:prstGeom prst="rect">
            <a:avLst/>
          </a:prstGeom>
          <a:noFill/>
          <a:ln/>
        </p:spPr>
        <p:txBody>
          <a:bodyPr wrap="square" lIns="0" tIns="0" rIns="0" bIns="0" rtlCol="0" anchor="ctr"/>
          <a:lstStyle/>
          <a:p>
            <a:pPr indent="0" marL="0">
              <a:spcAft>
                <a:spcPts val="600"/>
              </a:spcAft>
              <a:buNone/>
            </a:pPr>
            <a:r>
              <a:rPr lang="en-US" sz="2400" b="1" dirty="0">
                <a:solidFill>
                  <a:srgbClr val="2B2B2B"/>
                </a:solidFill>
                <a:latin typeface="Calibri" pitchFamily="34" charset="0"/>
                <a:ea typeface="Calibri" pitchFamily="34" charset="-122"/>
                <a:cs typeface="Calibri" pitchFamily="34" charset="-120"/>
              </a:rPr>
              <a:t>One ship</a:t>
            </a:r>
            <a:pPr indent="0" marL="0">
              <a:spcAft>
                <a:spcPts val="600"/>
              </a:spcAft>
              <a:buNone/>
            </a:pPr>
            <a:r>
              <a:rPr lang="en-US" sz="2400" dirty="0">
                <a:solidFill>
                  <a:srgbClr val="2B2B2B"/>
                </a:solidFill>
                <a:latin typeface="Calibri" pitchFamily="34" charset="0"/>
                <a:ea typeface="Calibri" pitchFamily="34" charset="-122"/>
                <a:cs typeface="Calibri" pitchFamily="34" charset="-120"/>
              </a:rPr>
              <a:t>: one variable</a:t>
            </a:r>
            <a:endParaRPr lang="en-US" sz="2400" dirty="0"/>
          </a:p>
        </p:txBody>
      </p:sp>
      <p:sp>
        <p:nvSpPr>
          <p:cNvPr id="6" name="Shape 4"/>
          <p:cNvSpPr/>
          <p:nvPr/>
        </p:nvSpPr>
        <p:spPr>
          <a:xfrm>
            <a:off x="475488" y="2212848"/>
            <a:ext cx="4023360" cy="640080"/>
          </a:xfrm>
          <a:prstGeom prst="roundRect">
            <a:avLst>
              <a:gd name="adj" fmla="val 8571"/>
            </a:avLst>
          </a:prstGeom>
          <a:solidFill>
            <a:srgbClr val="2B2B2B"/>
          </a:solidFill>
          <a:ln w="12700">
            <a:solidFill>
              <a:srgbClr val="2B2B2B"/>
            </a:solidFill>
            <a:prstDash val="solid"/>
          </a:ln>
        </p:spPr>
      </p:sp>
      <p:sp>
        <p:nvSpPr>
          <p:cNvPr id="7" name="Shape 5"/>
          <p:cNvSpPr/>
          <p:nvPr/>
        </p:nvSpPr>
        <p:spPr>
          <a:xfrm>
            <a:off x="411480" y="2148840"/>
            <a:ext cx="4023360" cy="640080"/>
          </a:xfrm>
          <a:prstGeom prst="roundRect">
            <a:avLst>
              <a:gd name="adj" fmla="val 8571"/>
            </a:avLst>
          </a:prstGeom>
          <a:solidFill>
            <a:srgbClr val="1E1E1E"/>
          </a:solidFill>
          <a:ln w="25400">
            <a:solidFill>
              <a:srgbClr val="2B2B2B"/>
            </a:solidFill>
            <a:prstDash val="solid"/>
          </a:ln>
        </p:spPr>
      </p:sp>
      <p:sp>
        <p:nvSpPr>
          <p:cNvPr id="8" name="Text 6"/>
          <p:cNvSpPr txBox="1"/>
          <p:nvPr/>
        </p:nvSpPr>
        <p:spPr>
          <a:xfrm>
            <a:off x="576072" y="2221992"/>
            <a:ext cx="3749040" cy="493776"/>
          </a:xfrm>
          <a:prstGeom prst="rect">
            <a:avLst/>
          </a:prstGeom>
          <a:noFill/>
          <a:ln/>
        </p:spPr>
        <p:txBody>
          <a:bodyPr wrap="square" lIns="0" tIns="0" rIns="0" bIns="0" rtlCol="0" anchor="ctr"/>
          <a:lstStyle/>
          <a:p>
            <a:pPr indent="0" marL="0">
              <a:lnSpc>
                <a:spcPct val="105000"/>
              </a:lnSpc>
              <a:buNone/>
            </a:pPr>
            <a:r>
              <a:rPr lang="en-US" sz="2000" dirty="0">
                <a:solidFill>
                  <a:srgbClr val="9CDCFE"/>
                </a:solidFill>
                <a:latin typeface="Courier New" pitchFamily="34" charset="0"/>
                <a:ea typeface="Courier New" pitchFamily="34" charset="-122"/>
                <a:cs typeface="Courier New" pitchFamily="34" charset="-120"/>
              </a:rPr>
              <a:t>shipX</a:t>
            </a:r>
            <a:pPr indent="0" marL="0">
              <a:lnSpc>
                <a:spcPct val="105000"/>
              </a:lnSpc>
              <a:buNone/>
            </a:pPr>
            <a:r>
              <a:rPr lang="en-US" sz="20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000" dirty="0">
                <a:solidFill>
                  <a:srgbClr val="9CDCFE"/>
                </a:solidFill>
                <a:latin typeface="Courier New" pitchFamily="34" charset="0"/>
                <a:ea typeface="Courier New" pitchFamily="34" charset="-122"/>
                <a:cs typeface="Courier New" pitchFamily="34" charset="-120"/>
              </a:rPr>
              <a:t>shipX</a:t>
            </a:r>
            <a:pPr indent="0" marL="0">
              <a:lnSpc>
                <a:spcPct val="105000"/>
              </a:lnSpc>
              <a:buNone/>
            </a:pPr>
            <a:r>
              <a:rPr lang="en-US" sz="20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000" dirty="0">
                <a:solidFill>
                  <a:srgbClr val="B5CEA8"/>
                </a:solidFill>
                <a:latin typeface="Courier New" pitchFamily="34" charset="0"/>
                <a:ea typeface="Courier New" pitchFamily="34" charset="-122"/>
                <a:cs typeface="Courier New" pitchFamily="34" charset="-120"/>
              </a:rPr>
              <a:t>6</a:t>
            </a:r>
            <a:pPr indent="0" marL="0">
              <a:lnSpc>
                <a:spcPct val="105000"/>
              </a:lnSpc>
              <a:buNone/>
            </a:pPr>
            <a:r>
              <a:rPr lang="en-US" sz="2000" dirty="0">
                <a:solidFill>
                  <a:srgbClr val="D4D4D4"/>
                </a:solidFill>
                <a:latin typeface="Courier New" pitchFamily="34" charset="0"/>
                <a:ea typeface="Courier New" pitchFamily="34" charset="-122"/>
                <a:cs typeface="Courier New" pitchFamily="34" charset="-120"/>
              </a:rPr>
              <a:t>;</a:t>
            </a:r>
            <a:endParaRPr lang="en-US" sz="2000" dirty="0"/>
          </a:p>
        </p:txBody>
      </p:sp>
      <p:sp>
        <p:nvSpPr>
          <p:cNvPr id="9" name="Text 7"/>
          <p:cNvSpPr txBox="1"/>
          <p:nvPr/>
        </p:nvSpPr>
        <p:spPr>
          <a:xfrm>
            <a:off x="411480" y="2971800"/>
            <a:ext cx="4023360" cy="822960"/>
          </a:xfrm>
          <a:prstGeom prst="rect">
            <a:avLst/>
          </a:prstGeom>
          <a:noFill/>
          <a:ln/>
        </p:spPr>
        <p:txBody>
          <a:bodyPr wrap="square" lIns="0" tIns="0" rIns="0" bIns="0" rtlCol="0" anchor="t"/>
          <a:lstStyle/>
          <a:p>
            <a:pPr indent="0" marL="0">
              <a:buNone/>
            </a:pPr>
            <a:r>
              <a:rPr lang="en-US" sz="2000" dirty="0">
                <a:solidFill>
                  <a:srgbClr val="2B2B2B"/>
                </a:solidFill>
              </a:rPr>
              <a:t>The variable remembers where the ship is.</a:t>
            </a:r>
            <a:endParaRPr lang="en-US" sz="2000" dirty="0"/>
          </a:p>
        </p:txBody>
      </p:sp>
      <p:sp>
        <p:nvSpPr>
          <p:cNvPr id="10" name="Shape 8"/>
          <p:cNvSpPr/>
          <p:nvPr/>
        </p:nvSpPr>
        <p:spPr>
          <a:xfrm>
            <a:off x="4773168" y="1115568"/>
            <a:ext cx="4023360" cy="914400"/>
          </a:xfrm>
          <a:prstGeom prst="roundRect">
            <a:avLst>
              <a:gd name="adj" fmla="val 8000"/>
            </a:avLst>
          </a:prstGeom>
          <a:solidFill>
            <a:srgbClr val="2B2B2B"/>
          </a:solidFill>
          <a:ln w="12700">
            <a:solidFill>
              <a:srgbClr val="2B2B2B"/>
            </a:solidFill>
            <a:prstDash val="solid"/>
          </a:ln>
        </p:spPr>
      </p:sp>
      <p:sp>
        <p:nvSpPr>
          <p:cNvPr id="11" name="Shape 9"/>
          <p:cNvSpPr/>
          <p:nvPr/>
        </p:nvSpPr>
        <p:spPr>
          <a:xfrm>
            <a:off x="4709160" y="1051560"/>
            <a:ext cx="4023360" cy="914400"/>
          </a:xfrm>
          <a:prstGeom prst="roundRect">
            <a:avLst>
              <a:gd name="adj" fmla="val 8000"/>
            </a:avLst>
          </a:prstGeom>
          <a:solidFill>
            <a:srgbClr val="FFFFFF"/>
          </a:solidFill>
          <a:ln w="25400">
            <a:solidFill>
              <a:srgbClr val="2B2B2B"/>
            </a:solidFill>
            <a:prstDash val="solid"/>
          </a:ln>
        </p:spPr>
      </p:sp>
      <p:sp>
        <p:nvSpPr>
          <p:cNvPr id="12" name="Text 10"/>
          <p:cNvSpPr txBox="1"/>
          <p:nvPr/>
        </p:nvSpPr>
        <p:spPr>
          <a:xfrm>
            <a:off x="4873752" y="1143000"/>
            <a:ext cx="3694176" cy="731520"/>
          </a:xfrm>
          <a:prstGeom prst="rect">
            <a:avLst/>
          </a:prstGeom>
          <a:noFill/>
          <a:ln/>
        </p:spPr>
        <p:txBody>
          <a:bodyPr wrap="square" lIns="0" tIns="0" rIns="0" bIns="0" rtlCol="0" anchor="ctr"/>
          <a:lstStyle/>
          <a:p>
            <a:pPr indent="0" marL="0">
              <a:spcAft>
                <a:spcPts val="600"/>
              </a:spcAft>
              <a:buNone/>
            </a:pPr>
            <a:r>
              <a:rPr lang="en-US" sz="2400" b="1" dirty="0">
                <a:solidFill>
                  <a:srgbClr val="2B2B2B"/>
                </a:solidFill>
                <a:latin typeface="Calibri" pitchFamily="34" charset="0"/>
                <a:ea typeface="Calibri" pitchFamily="34" charset="-122"/>
                <a:cs typeface="Calibri" pitchFamily="34" charset="-120"/>
              </a:rPr>
              <a:t>Many rocks</a:t>
            </a:r>
            <a:pPr indent="0" marL="0">
              <a:spcAft>
                <a:spcPts val="600"/>
              </a:spcAft>
              <a:buNone/>
            </a:pPr>
            <a:r>
              <a:rPr lang="en-US" sz="2400" dirty="0">
                <a:solidFill>
                  <a:srgbClr val="2B2B2B"/>
                </a:solidFill>
                <a:latin typeface="Calibri" pitchFamily="34" charset="0"/>
                <a:ea typeface="Calibri" pitchFamily="34" charset="-122"/>
                <a:cs typeface="Calibri" pitchFamily="34" charset="-120"/>
              </a:rPr>
              <a:t>: no variable each</a:t>
            </a:r>
            <a:endParaRPr lang="en-US" sz="2400" dirty="0"/>
          </a:p>
        </p:txBody>
      </p:sp>
      <p:sp>
        <p:nvSpPr>
          <p:cNvPr id="13" name="Shape 11"/>
          <p:cNvSpPr/>
          <p:nvPr/>
        </p:nvSpPr>
        <p:spPr>
          <a:xfrm>
            <a:off x="4773168" y="2212848"/>
            <a:ext cx="4023360" cy="640080"/>
          </a:xfrm>
          <a:prstGeom prst="roundRect">
            <a:avLst>
              <a:gd name="adj" fmla="val 8571"/>
            </a:avLst>
          </a:prstGeom>
          <a:solidFill>
            <a:srgbClr val="2B2B2B"/>
          </a:solidFill>
          <a:ln w="12700">
            <a:solidFill>
              <a:srgbClr val="2B2B2B"/>
            </a:solidFill>
            <a:prstDash val="solid"/>
          </a:ln>
        </p:spPr>
      </p:sp>
      <p:sp>
        <p:nvSpPr>
          <p:cNvPr id="14" name="Shape 12"/>
          <p:cNvSpPr/>
          <p:nvPr/>
        </p:nvSpPr>
        <p:spPr>
          <a:xfrm>
            <a:off x="4709160" y="2148840"/>
            <a:ext cx="4023360" cy="640080"/>
          </a:xfrm>
          <a:prstGeom prst="roundRect">
            <a:avLst>
              <a:gd name="adj" fmla="val 8571"/>
            </a:avLst>
          </a:prstGeom>
          <a:solidFill>
            <a:srgbClr val="1E1E1E"/>
          </a:solidFill>
          <a:ln w="25400">
            <a:solidFill>
              <a:srgbClr val="2B2B2B"/>
            </a:solidFill>
            <a:prstDash val="solid"/>
          </a:ln>
        </p:spPr>
      </p:sp>
      <p:sp>
        <p:nvSpPr>
          <p:cNvPr id="15" name="Text 13"/>
          <p:cNvSpPr txBox="1"/>
          <p:nvPr/>
        </p:nvSpPr>
        <p:spPr>
          <a:xfrm>
            <a:off x="4873752" y="2221992"/>
            <a:ext cx="3749040" cy="493776"/>
          </a:xfrm>
          <a:prstGeom prst="rect">
            <a:avLst/>
          </a:prstGeom>
          <a:noFill/>
          <a:ln/>
        </p:spPr>
        <p:txBody>
          <a:bodyPr wrap="square" lIns="0" tIns="0" rIns="0" bIns="0" rtlCol="0" anchor="ctr"/>
          <a:lstStyle/>
          <a:p>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frameCount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speed</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p:txBody>
      </p:sp>
      <p:sp>
        <p:nvSpPr>
          <p:cNvPr id="16" name="Text 14"/>
          <p:cNvSpPr txBox="1"/>
          <p:nvPr/>
        </p:nvSpPr>
        <p:spPr>
          <a:xfrm>
            <a:off x="4709160" y="2971800"/>
            <a:ext cx="4023360" cy="822960"/>
          </a:xfrm>
          <a:prstGeom prst="rect">
            <a:avLst/>
          </a:prstGeom>
          <a:noFill/>
          <a:ln/>
        </p:spPr>
        <p:txBody>
          <a:bodyPr wrap="square" lIns="0" tIns="0" rIns="0" bIns="0" rtlCol="0" anchor="t"/>
          <a:lstStyle/>
          <a:p>
            <a:pPr indent="0" marL="0">
              <a:buNone/>
            </a:pPr>
            <a:r>
              <a:rPr lang="en-US" sz="2000" dirty="0">
                <a:solidFill>
                  <a:srgbClr val="2B2B2B"/>
                </a:solidFill>
              </a:rPr>
              <a:t>Work out where it is from the time. frameCount goes up by 1 every frame.</a:t>
            </a:r>
            <a:endParaRPr lang="en-US" sz="2000" dirty="0"/>
          </a:p>
        </p:txBody>
      </p:sp>
      <p:sp>
        <p:nvSpPr>
          <p:cNvPr id="17" name="Shape 15"/>
          <p:cNvSpPr/>
          <p:nvPr/>
        </p:nvSpPr>
        <p:spPr>
          <a:xfrm>
            <a:off x="475488" y="3950208"/>
            <a:ext cx="8321040" cy="777240"/>
          </a:xfrm>
          <a:prstGeom prst="roundRect">
            <a:avLst>
              <a:gd name="adj" fmla="val 9412"/>
            </a:avLst>
          </a:prstGeom>
          <a:solidFill>
            <a:srgbClr val="2B2B2B"/>
          </a:solidFill>
          <a:ln w="12700">
            <a:solidFill>
              <a:srgbClr val="2B2B2B"/>
            </a:solidFill>
            <a:prstDash val="solid"/>
          </a:ln>
        </p:spPr>
      </p:sp>
      <p:sp>
        <p:nvSpPr>
          <p:cNvPr id="18" name="Shape 16"/>
          <p:cNvSpPr/>
          <p:nvPr/>
        </p:nvSpPr>
        <p:spPr>
          <a:xfrm>
            <a:off x="411480" y="3886200"/>
            <a:ext cx="8321040" cy="777240"/>
          </a:xfrm>
          <a:prstGeom prst="roundRect">
            <a:avLst>
              <a:gd name="adj" fmla="val 9412"/>
            </a:avLst>
          </a:prstGeom>
          <a:solidFill>
            <a:srgbClr val="2B2B2B"/>
          </a:solidFill>
          <a:ln w="25400">
            <a:solidFill>
              <a:srgbClr val="2B2B2B"/>
            </a:solidFill>
            <a:prstDash val="solid"/>
          </a:ln>
        </p:spPr>
      </p:sp>
      <p:sp>
        <p:nvSpPr>
          <p:cNvPr id="19" name="Text 17"/>
          <p:cNvSpPr txBox="1"/>
          <p:nvPr/>
        </p:nvSpPr>
        <p:spPr>
          <a:xfrm>
            <a:off x="576072" y="3977640"/>
            <a:ext cx="7991856" cy="594360"/>
          </a:xfrm>
          <a:prstGeom prst="rect">
            <a:avLst/>
          </a:prstGeom>
          <a:noFill/>
          <a:ln/>
        </p:spPr>
        <p:txBody>
          <a:bodyPr wrap="square" lIns="0" tIns="0" rIns="0" bIns="0" rtlCol="0" anchor="ctr"/>
          <a:lstStyle/>
          <a:p>
            <a:pPr indent="0" marL="0">
              <a:spcAft>
                <a:spcPts val="600"/>
              </a:spcAft>
              <a:buNone/>
            </a:pPr>
            <a:r>
              <a:rPr lang="en-US" sz="2000" b="1" dirty="0">
                <a:solidFill>
                  <a:srgbClr val="FFFFFF"/>
                </a:solidFill>
                <a:latin typeface="Courier New" pitchFamily="34" charset="0"/>
                <a:ea typeface="Courier New" pitchFamily="34" charset="-122"/>
                <a:cs typeface="Courier New" pitchFamily="34" charset="-120"/>
              </a:rPr>
              <a:t>randomSeed()</a:t>
            </a:r>
            <a:pPr indent="0" marL="0">
              <a:spcAft>
                <a:spcPts val="600"/>
              </a:spcAft>
              <a:buNone/>
            </a:pPr>
            <a:r>
              <a:rPr lang="en-US" sz="2000" dirty="0">
                <a:solidFill>
                  <a:srgbClr val="FFFFFF"/>
                </a:solidFill>
                <a:latin typeface="Calibri" pitchFamily="34" charset="0"/>
                <a:ea typeface="Calibri" pitchFamily="34" charset="-122"/>
                <a:cs typeface="Calibri" pitchFamily="34" charset="-120"/>
              </a:rPr>
              <a:t> gives every rock the same start and speed, every frame.</a:t>
            </a:r>
            <a:endParaRPr lang="en-US" sz="20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TODO 1 · 200 stars</a:t>
            </a:r>
            <a:endParaRPr lang="en-US" sz="3200" dirty="0"/>
          </a:p>
        </p:txBody>
      </p:sp>
      <p:sp>
        <p:nvSpPr>
          <p:cNvPr id="3" name="Shape 1"/>
          <p:cNvSpPr/>
          <p:nvPr/>
        </p:nvSpPr>
        <p:spPr>
          <a:xfrm>
            <a:off x="475488" y="1115568"/>
            <a:ext cx="5212080" cy="3566160"/>
          </a:xfrm>
          <a:prstGeom prst="roundRect">
            <a:avLst>
              <a:gd name="adj" fmla="val 1538"/>
            </a:avLst>
          </a:prstGeom>
          <a:solidFill>
            <a:srgbClr val="2B2B2B"/>
          </a:solidFill>
          <a:ln w="12700">
            <a:solidFill>
              <a:srgbClr val="2B2B2B"/>
            </a:solidFill>
            <a:prstDash val="solid"/>
          </a:ln>
        </p:spPr>
      </p:sp>
      <p:sp>
        <p:nvSpPr>
          <p:cNvPr id="4" name="Shape 2"/>
          <p:cNvSpPr/>
          <p:nvPr/>
        </p:nvSpPr>
        <p:spPr>
          <a:xfrm>
            <a:off x="411480" y="1051560"/>
            <a:ext cx="5212080" cy="3566160"/>
          </a:xfrm>
          <a:prstGeom prst="roundRect">
            <a:avLst>
              <a:gd name="adj" fmla="val 1538"/>
            </a:avLst>
          </a:prstGeom>
          <a:solidFill>
            <a:srgbClr val="1E1E1E"/>
          </a:solidFill>
          <a:ln w="25400">
            <a:solidFill>
              <a:srgbClr val="2B2B2B"/>
            </a:solidFill>
            <a:prstDash val="solid"/>
          </a:ln>
        </p:spPr>
      </p:sp>
      <p:sp>
        <p:nvSpPr>
          <p:cNvPr id="5" name="Text 3"/>
          <p:cNvSpPr txBox="1"/>
          <p:nvPr/>
        </p:nvSpPr>
        <p:spPr>
          <a:xfrm>
            <a:off x="576072" y="1124712"/>
            <a:ext cx="4937760" cy="3419856"/>
          </a:xfrm>
          <a:prstGeom prst="rect">
            <a:avLst/>
          </a:prstGeom>
          <a:noFill/>
          <a:ln/>
        </p:spPr>
        <p:txBody>
          <a:bodyPr wrap="square" lIns="0" tIns="0" rIns="0" bIns="0" rtlCol="0" anchor="ctr"/>
          <a:lstStyle/>
          <a:p>
            <a:pPr indent="0" marL="0">
              <a:lnSpc>
                <a:spcPct val="105000"/>
              </a:lnSpc>
              <a:buNone/>
            </a:pPr>
            <a:r>
              <a:rPr lang="en-US" sz="1800" dirty="0">
                <a:solidFill>
                  <a:srgbClr val="C586C0"/>
                </a:solidFill>
                <a:latin typeface="Courier New" pitchFamily="34" charset="0"/>
                <a:ea typeface="Courier New" pitchFamily="34" charset="-122"/>
                <a:cs typeface="Courier New" pitchFamily="34" charset="-120"/>
              </a:rPr>
              <a:t>for</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b="1" dirty="0">
                <a:solidFill>
                  <a:srgbClr val="F4C430"/>
                </a:solidFill>
                <a:latin typeface="Courier New" pitchFamily="34" charset="0"/>
                <a:ea typeface="Courier New" pitchFamily="34" charset="-122"/>
                <a:cs typeface="Courier New" pitchFamily="34" charset="-120"/>
              </a:rPr>
              <a:t>___</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&lt; </a:t>
            </a:r>
            <a:pPr indent="0" marL="0">
              <a:lnSpc>
                <a:spcPct val="105000"/>
              </a:lnSpc>
              <a:buNone/>
            </a:pPr>
            <a:r>
              <a:rPr lang="en-US" sz="1800" b="1" dirty="0">
                <a:solidFill>
                  <a:srgbClr val="F4C430"/>
                </a:solidFill>
                <a:latin typeface="Courier New" pitchFamily="34" charset="0"/>
                <a:ea typeface="Courier New" pitchFamily="34" charset="-122"/>
                <a:cs typeface="Courier New" pitchFamily="34" charset="-120"/>
              </a:rPr>
              <a:t>___</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size</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random</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1</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3</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x</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random</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width</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random</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height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frameCount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size</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2</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height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circle</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x</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size</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p:txBody>
      </p:sp>
      <p:sp>
        <p:nvSpPr>
          <p:cNvPr id="6" name="Shape 4"/>
          <p:cNvSpPr/>
          <p:nvPr/>
        </p:nvSpPr>
        <p:spPr>
          <a:xfrm>
            <a:off x="5961888" y="1115568"/>
            <a:ext cx="2834640" cy="3566160"/>
          </a:xfrm>
          <a:prstGeom prst="roundRect">
            <a:avLst>
              <a:gd name="adj" fmla="val 2581"/>
            </a:avLst>
          </a:prstGeom>
          <a:solidFill>
            <a:srgbClr val="2B2B2B"/>
          </a:solidFill>
          <a:ln w="12700">
            <a:solidFill>
              <a:srgbClr val="2B2B2B"/>
            </a:solidFill>
            <a:prstDash val="solid"/>
          </a:ln>
        </p:spPr>
      </p:sp>
      <p:sp>
        <p:nvSpPr>
          <p:cNvPr id="7" name="Shape 5"/>
          <p:cNvSpPr/>
          <p:nvPr/>
        </p:nvSpPr>
        <p:spPr>
          <a:xfrm>
            <a:off x="5897880" y="1051560"/>
            <a:ext cx="2834640" cy="3566160"/>
          </a:xfrm>
          <a:prstGeom prst="roundRect">
            <a:avLst>
              <a:gd name="adj" fmla="val 2581"/>
            </a:avLst>
          </a:prstGeom>
          <a:solidFill>
            <a:srgbClr val="FFFFFF"/>
          </a:solidFill>
          <a:ln w="25400">
            <a:solidFill>
              <a:srgbClr val="2B2B2B"/>
            </a:solidFill>
            <a:prstDash val="solid"/>
          </a:ln>
        </p:spPr>
      </p:sp>
      <p:sp>
        <p:nvSpPr>
          <p:cNvPr id="8" name="Text 6"/>
          <p:cNvSpPr txBox="1"/>
          <p:nvPr/>
        </p:nvSpPr>
        <p:spPr>
          <a:xfrm>
            <a:off x="6035040" y="1143000"/>
            <a:ext cx="2560320" cy="3383280"/>
          </a:xfrm>
          <a:prstGeom prst="rect">
            <a:avLst/>
          </a:prstGeom>
          <a:noFill/>
          <a:ln/>
        </p:spPr>
        <p:txBody>
          <a:bodyPr wrap="square" lIns="0" tIns="0" rIns="0" bIns="0" rtlCol="0" anchor="t"/>
          <a:lstStyle/>
          <a:p>
            <a:pPr indent="0" marL="0">
              <a:spcAft>
                <a:spcPts val="600"/>
              </a:spcAft>
              <a:buNone/>
            </a:pPr>
            <a:r>
              <a:rPr lang="en-US" sz="1600" b="1" dirty="0">
                <a:solidFill>
                  <a:srgbClr val="5C4A12"/>
                </a:solidFill>
                <a:latin typeface="Courier New" pitchFamily="34" charset="0"/>
                <a:ea typeface="Courier New" pitchFamily="34" charset="-122"/>
                <a:cs typeface="Courier New" pitchFamily="34" charset="-120"/>
              </a:rPr>
              <a:t>STEPS</a:t>
            </a:r>
            <a:endParaRPr lang="en-US" sz="1600" dirty="0"/>
          </a:p>
          <a:p>
            <a:pPr indent="0" marL="0">
              <a:spcAft>
                <a:spcPts val="600"/>
              </a:spcAft>
              <a:buNone/>
            </a:pPr>
            <a:r>
              <a:rPr lang="en-US" sz="2000" b="1" dirty="0">
                <a:solidFill>
                  <a:srgbClr val="5C4A12"/>
                </a:solidFill>
                <a:latin typeface="Calibri" pitchFamily="34" charset="0"/>
                <a:ea typeface="Calibri" pitchFamily="34" charset="-122"/>
                <a:cs typeface="Calibri" pitchFamily="34" charset="-120"/>
              </a:rPr>
              <a:t>1.  </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Fill in the for line: 200 times.</a:t>
            </a:r>
            <a:endParaRPr lang="en-US" sz="1600" dirty="0"/>
          </a:p>
          <a:p>
            <a:pPr indent="0" marL="0">
              <a:spcAft>
                <a:spcPts val="600"/>
              </a:spcAft>
              <a:buNone/>
            </a:pPr>
            <a:r>
              <a:rPr lang="en-US" sz="2000" b="1" dirty="0">
                <a:solidFill>
                  <a:srgbClr val="5C4A12"/>
                </a:solidFill>
                <a:latin typeface="Calibri" pitchFamily="34" charset="0"/>
                <a:ea typeface="Calibri" pitchFamily="34" charset="-122"/>
                <a:cs typeface="Calibri" pitchFamily="34" charset="-120"/>
              </a:rPr>
              <a:t>2.  </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Switch on size, x and the three y lines.</a:t>
            </a:r>
            <a:endParaRPr lang="en-US" sz="1600" dirty="0"/>
          </a:p>
          <a:p>
            <a:pPr indent="0" marL="0">
              <a:spcAft>
                <a:spcPts val="600"/>
              </a:spcAft>
              <a:buNone/>
            </a:pPr>
            <a:r>
              <a:rPr lang="en-US" sz="2000" b="1" dirty="0">
                <a:solidFill>
                  <a:srgbClr val="5C4A12"/>
                </a:solidFill>
                <a:latin typeface="Calibri" pitchFamily="34" charset="0"/>
                <a:ea typeface="Calibri" pitchFamily="34" charset="-122"/>
                <a:cs typeface="Calibri" pitchFamily="34" charset="-120"/>
              </a:rPr>
              <a:t>3.  </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Switch on circle and }. Run.</a:t>
            </a:r>
            <a:endParaRPr lang="en-US" sz="1600" dirty="0"/>
          </a:p>
          <a:p>
            <a:pPr indent="0" marL="0">
              <a:spcAft>
                <a:spcPts val="600"/>
              </a:spcAft>
              <a:buNone/>
            </a:pPr>
            <a:r>
              <a:rPr lang="en-US" sz="2000" b="1" dirty="0">
                <a:solidFill>
                  <a:srgbClr val="5C4A12"/>
                </a:solidFill>
                <a:latin typeface="Calibri" pitchFamily="34" charset="0"/>
                <a:ea typeface="Calibri" pitchFamily="34" charset="-122"/>
                <a:cs typeface="Calibri" pitchFamily="34" charset="-120"/>
              </a:rPr>
              <a:t>4.  </a:t>
            </a:r>
            <a:pPr indent="0" marL="0">
              <a:spcAft>
                <a:spcPts val="600"/>
              </a:spcAft>
              <a:buNone/>
            </a:pPr>
            <a:r>
              <a:rPr lang="en-US" sz="2000" b="1" dirty="0">
                <a:solidFill>
                  <a:srgbClr val="2B2B2B"/>
                </a:solidFill>
                <a:latin typeface="Calibri" pitchFamily="34" charset="0"/>
                <a:ea typeface="Calibri" pitchFamily="34" charset="-122"/>
                <a:cs typeface="Calibri" pitchFamily="34" charset="-120"/>
              </a:rPr>
              <a:t>Check: 200 → 20. Count them.</a:t>
            </a:r>
            <a:endParaRPr lang="en-US" sz="16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TODO 1 · read the y lines</a:t>
            </a:r>
            <a:endParaRPr lang="en-US" sz="3200" dirty="0"/>
          </a:p>
        </p:txBody>
      </p:sp>
      <p:sp>
        <p:nvSpPr>
          <p:cNvPr id="3" name="Shape 1"/>
          <p:cNvSpPr/>
          <p:nvPr/>
        </p:nvSpPr>
        <p:spPr>
          <a:xfrm>
            <a:off x="475488" y="1115568"/>
            <a:ext cx="4846320" cy="960120"/>
          </a:xfrm>
          <a:prstGeom prst="roundRect">
            <a:avLst>
              <a:gd name="adj" fmla="val 5714"/>
            </a:avLst>
          </a:prstGeom>
          <a:solidFill>
            <a:srgbClr val="2B2B2B"/>
          </a:solidFill>
          <a:ln w="12700">
            <a:solidFill>
              <a:srgbClr val="2B2B2B"/>
            </a:solidFill>
            <a:prstDash val="solid"/>
          </a:ln>
        </p:spPr>
      </p:sp>
      <p:sp>
        <p:nvSpPr>
          <p:cNvPr id="4" name="Shape 2"/>
          <p:cNvSpPr/>
          <p:nvPr/>
        </p:nvSpPr>
        <p:spPr>
          <a:xfrm>
            <a:off x="411480" y="1051560"/>
            <a:ext cx="4846320" cy="960120"/>
          </a:xfrm>
          <a:prstGeom prst="roundRect">
            <a:avLst>
              <a:gd name="adj" fmla="val 5714"/>
            </a:avLst>
          </a:prstGeom>
          <a:solidFill>
            <a:srgbClr val="1E1E1E"/>
          </a:solidFill>
          <a:ln w="25400">
            <a:solidFill>
              <a:srgbClr val="2B2B2B"/>
            </a:solidFill>
            <a:prstDash val="solid"/>
          </a:ln>
        </p:spPr>
      </p:sp>
      <p:sp>
        <p:nvSpPr>
          <p:cNvPr id="5" name="Text 3"/>
          <p:cNvSpPr txBox="1"/>
          <p:nvPr/>
        </p:nvSpPr>
        <p:spPr>
          <a:xfrm>
            <a:off x="576072" y="1124712"/>
            <a:ext cx="4572000" cy="813816"/>
          </a:xfrm>
          <a:prstGeom prst="rect">
            <a:avLst/>
          </a:prstGeom>
          <a:noFill/>
          <a:ln/>
        </p:spPr>
        <p:txBody>
          <a:bodyPr wrap="square" lIns="0" tIns="0" rIns="0" bIns="0" rtlCol="0" anchor="ctr"/>
          <a:lstStyle/>
          <a:p>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random</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height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p:txBody>
      </p:sp>
      <p:sp>
        <p:nvSpPr>
          <p:cNvPr id="6" name="Text 4"/>
          <p:cNvSpPr txBox="1"/>
          <p:nvPr/>
        </p:nvSpPr>
        <p:spPr>
          <a:xfrm>
            <a:off x="5532120" y="1051560"/>
            <a:ext cx="3200400" cy="960120"/>
          </a:xfrm>
          <a:prstGeom prst="rect">
            <a:avLst/>
          </a:prstGeom>
          <a:noFill/>
          <a:ln/>
        </p:spPr>
        <p:txBody>
          <a:bodyPr wrap="square" lIns="0" tIns="0" rIns="0" bIns="0" rtlCol="0" anchor="ctr"/>
          <a:lstStyle/>
          <a:p>
            <a:pPr indent="0" marL="0">
              <a:buNone/>
            </a:pPr>
            <a:r>
              <a:rPr lang="en-US" sz="2000" dirty="0">
                <a:solidFill>
                  <a:srgbClr val="2B2B2B"/>
                </a:solidFill>
              </a:rPr>
              <a:t>Where the star starts.</a:t>
            </a:r>
            <a:endParaRPr lang="en-US" sz="2000" dirty="0"/>
          </a:p>
        </p:txBody>
      </p:sp>
      <p:sp>
        <p:nvSpPr>
          <p:cNvPr id="7" name="Shape 5"/>
          <p:cNvSpPr/>
          <p:nvPr/>
        </p:nvSpPr>
        <p:spPr>
          <a:xfrm>
            <a:off x="475488" y="2331720"/>
            <a:ext cx="4846320" cy="960120"/>
          </a:xfrm>
          <a:prstGeom prst="roundRect">
            <a:avLst>
              <a:gd name="adj" fmla="val 5714"/>
            </a:avLst>
          </a:prstGeom>
          <a:solidFill>
            <a:srgbClr val="2B2B2B"/>
          </a:solidFill>
          <a:ln w="12700">
            <a:solidFill>
              <a:srgbClr val="2B2B2B"/>
            </a:solidFill>
            <a:prstDash val="solid"/>
          </a:ln>
        </p:spPr>
      </p:sp>
      <p:sp>
        <p:nvSpPr>
          <p:cNvPr id="8" name="Shape 6"/>
          <p:cNvSpPr/>
          <p:nvPr/>
        </p:nvSpPr>
        <p:spPr>
          <a:xfrm>
            <a:off x="411480" y="2267712"/>
            <a:ext cx="4846320" cy="960120"/>
          </a:xfrm>
          <a:prstGeom prst="roundRect">
            <a:avLst>
              <a:gd name="adj" fmla="val 5714"/>
            </a:avLst>
          </a:prstGeom>
          <a:solidFill>
            <a:srgbClr val="1E1E1E"/>
          </a:solidFill>
          <a:ln w="25400">
            <a:solidFill>
              <a:srgbClr val="2B2B2B"/>
            </a:solidFill>
            <a:prstDash val="solid"/>
          </a:ln>
        </p:spPr>
      </p:sp>
      <p:sp>
        <p:nvSpPr>
          <p:cNvPr id="9" name="Text 7"/>
          <p:cNvSpPr txBox="1"/>
          <p:nvPr/>
        </p:nvSpPr>
        <p:spPr>
          <a:xfrm>
            <a:off x="576072" y="2340864"/>
            <a:ext cx="4572000" cy="813816"/>
          </a:xfrm>
          <a:prstGeom prst="rect">
            <a:avLst/>
          </a:prstGeom>
          <a:noFill/>
          <a:ln/>
        </p:spPr>
        <p:txBody>
          <a:bodyPr wrap="square" lIns="0" tIns="0" rIns="0" bIns="0" rtlCol="0" anchor="ctr"/>
          <a:lstStyle/>
          <a:p>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frameCount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size</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2</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p:txBody>
      </p:sp>
      <p:sp>
        <p:nvSpPr>
          <p:cNvPr id="10" name="Text 8"/>
          <p:cNvSpPr txBox="1"/>
          <p:nvPr/>
        </p:nvSpPr>
        <p:spPr>
          <a:xfrm>
            <a:off x="5532120" y="2267712"/>
            <a:ext cx="3200400" cy="960120"/>
          </a:xfrm>
          <a:prstGeom prst="rect">
            <a:avLst/>
          </a:prstGeom>
          <a:noFill/>
          <a:ln/>
        </p:spPr>
        <p:txBody>
          <a:bodyPr wrap="square" lIns="0" tIns="0" rIns="0" bIns="0" rtlCol="0" anchor="ctr"/>
          <a:lstStyle/>
          <a:p>
            <a:pPr indent="0" marL="0">
              <a:buNone/>
            </a:pPr>
            <a:r>
              <a:rPr lang="en-US" sz="2000" dirty="0">
                <a:solidFill>
                  <a:srgbClr val="2B2B2B"/>
                </a:solidFill>
              </a:rPr>
              <a:t>How far it has fallen. Bigger star, bigger number, faster.</a:t>
            </a:r>
            <a:endParaRPr lang="en-US" sz="2000" dirty="0"/>
          </a:p>
        </p:txBody>
      </p:sp>
      <p:sp>
        <p:nvSpPr>
          <p:cNvPr id="11" name="Shape 9"/>
          <p:cNvSpPr/>
          <p:nvPr/>
        </p:nvSpPr>
        <p:spPr>
          <a:xfrm>
            <a:off x="475488" y="3547872"/>
            <a:ext cx="4846320" cy="960120"/>
          </a:xfrm>
          <a:prstGeom prst="roundRect">
            <a:avLst>
              <a:gd name="adj" fmla="val 5714"/>
            </a:avLst>
          </a:prstGeom>
          <a:solidFill>
            <a:srgbClr val="2B2B2B"/>
          </a:solidFill>
          <a:ln w="12700">
            <a:solidFill>
              <a:srgbClr val="2B2B2B"/>
            </a:solidFill>
            <a:prstDash val="solid"/>
          </a:ln>
        </p:spPr>
      </p:sp>
      <p:sp>
        <p:nvSpPr>
          <p:cNvPr id="12" name="Shape 10"/>
          <p:cNvSpPr/>
          <p:nvPr/>
        </p:nvSpPr>
        <p:spPr>
          <a:xfrm>
            <a:off x="411480" y="3483864"/>
            <a:ext cx="4846320" cy="960120"/>
          </a:xfrm>
          <a:prstGeom prst="roundRect">
            <a:avLst>
              <a:gd name="adj" fmla="val 5714"/>
            </a:avLst>
          </a:prstGeom>
          <a:solidFill>
            <a:srgbClr val="1E1E1E"/>
          </a:solidFill>
          <a:ln w="25400">
            <a:solidFill>
              <a:srgbClr val="2B2B2B"/>
            </a:solidFill>
            <a:prstDash val="solid"/>
          </a:ln>
        </p:spPr>
      </p:sp>
      <p:sp>
        <p:nvSpPr>
          <p:cNvPr id="13" name="Text 11"/>
          <p:cNvSpPr txBox="1"/>
          <p:nvPr/>
        </p:nvSpPr>
        <p:spPr>
          <a:xfrm>
            <a:off x="576072" y="3557016"/>
            <a:ext cx="4572000" cy="813816"/>
          </a:xfrm>
          <a:prstGeom prst="rect">
            <a:avLst/>
          </a:prstGeom>
          <a:noFill/>
          <a:ln/>
        </p:spPr>
        <p:txBody>
          <a:bodyPr wrap="square" lIns="0" tIns="0" rIns="0" bIns="0" rtlCol="0" anchor="ctr"/>
          <a:lstStyle/>
          <a:p>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height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p:txBody>
      </p:sp>
      <p:sp>
        <p:nvSpPr>
          <p:cNvPr id="14" name="Text 12"/>
          <p:cNvSpPr txBox="1"/>
          <p:nvPr/>
        </p:nvSpPr>
        <p:spPr>
          <a:xfrm>
            <a:off x="5532120" y="3483864"/>
            <a:ext cx="3200400" cy="960120"/>
          </a:xfrm>
          <a:prstGeom prst="rect">
            <a:avLst/>
          </a:prstGeom>
          <a:noFill/>
          <a:ln/>
        </p:spPr>
        <p:txBody>
          <a:bodyPr wrap="square" lIns="0" tIns="0" rIns="0" bIns="0" rtlCol="0" anchor="ctr"/>
          <a:lstStyle/>
          <a:p>
            <a:pPr indent="0" marL="0">
              <a:buNone/>
            </a:pPr>
            <a:r>
              <a:rPr lang="en-US" sz="2000" dirty="0">
                <a:solidFill>
                  <a:srgbClr val="2B2B2B"/>
                </a:solidFill>
              </a:rPr>
              <a:t>Past the bottom? Back to the top.</a:t>
            </a:r>
            <a:endParaRPr lang="en-US" sz="20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TODO 2 · one rock per rock</a:t>
            </a:r>
            <a:endParaRPr lang="en-US" sz="3200" dirty="0"/>
          </a:p>
        </p:txBody>
      </p:sp>
      <p:sp>
        <p:nvSpPr>
          <p:cNvPr id="3" name="Shape 1"/>
          <p:cNvSpPr/>
          <p:nvPr/>
        </p:nvSpPr>
        <p:spPr>
          <a:xfrm>
            <a:off x="475488" y="1115568"/>
            <a:ext cx="5394960" cy="3611880"/>
          </a:xfrm>
          <a:prstGeom prst="roundRect">
            <a:avLst>
              <a:gd name="adj" fmla="val 1519"/>
            </a:avLst>
          </a:prstGeom>
          <a:solidFill>
            <a:srgbClr val="2B2B2B"/>
          </a:solidFill>
          <a:ln w="12700">
            <a:solidFill>
              <a:srgbClr val="2B2B2B"/>
            </a:solidFill>
            <a:prstDash val="solid"/>
          </a:ln>
        </p:spPr>
      </p:sp>
      <p:sp>
        <p:nvSpPr>
          <p:cNvPr id="4" name="Shape 2"/>
          <p:cNvSpPr/>
          <p:nvPr/>
        </p:nvSpPr>
        <p:spPr>
          <a:xfrm>
            <a:off x="411480" y="1051560"/>
            <a:ext cx="5394960" cy="3611880"/>
          </a:xfrm>
          <a:prstGeom prst="roundRect">
            <a:avLst>
              <a:gd name="adj" fmla="val 1519"/>
            </a:avLst>
          </a:prstGeom>
          <a:solidFill>
            <a:srgbClr val="1E1E1E"/>
          </a:solidFill>
          <a:ln w="25400">
            <a:solidFill>
              <a:srgbClr val="2B2B2B"/>
            </a:solidFill>
            <a:prstDash val="solid"/>
          </a:ln>
        </p:spPr>
      </p:sp>
      <p:sp>
        <p:nvSpPr>
          <p:cNvPr id="5" name="Text 3"/>
          <p:cNvSpPr txBox="1"/>
          <p:nvPr/>
        </p:nvSpPr>
        <p:spPr>
          <a:xfrm>
            <a:off x="576072" y="1124712"/>
            <a:ext cx="5120640" cy="3465576"/>
          </a:xfrm>
          <a:prstGeom prst="rect">
            <a:avLst/>
          </a:prstGeom>
          <a:noFill/>
          <a:ln/>
        </p:spPr>
        <p:txBody>
          <a:bodyPr wrap="square" lIns="0" tIns="0" rIns="0" bIns="0" rtlCol="0" anchor="ctr"/>
          <a:lstStyle/>
          <a:p>
            <a:pPr indent="0" marL="0">
              <a:lnSpc>
                <a:spcPct val="105000"/>
              </a:lnSpc>
              <a:buNone/>
            </a:pPr>
            <a:r>
              <a:rPr lang="en-US" sz="1800" dirty="0">
                <a:solidFill>
                  <a:srgbClr val="C586C0"/>
                </a:solidFill>
                <a:latin typeface="Courier New" pitchFamily="34" charset="0"/>
                <a:ea typeface="Courier New" pitchFamily="34" charset="-122"/>
                <a:cs typeface="Courier New" pitchFamily="34" charset="-120"/>
              </a:rPr>
              <a:t>for</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&lt; </a:t>
            </a:r>
            <a:pPr indent="0" marL="0">
              <a:lnSpc>
                <a:spcPct val="105000"/>
              </a:lnSpc>
              <a:buNone/>
            </a:pPr>
            <a:r>
              <a:rPr lang="en-US" sz="1800" b="1" dirty="0">
                <a:solidFill>
                  <a:srgbClr val="F4C430"/>
                </a:solidFill>
                <a:latin typeface="Courier New" pitchFamily="34" charset="0"/>
                <a:ea typeface="Courier New" pitchFamily="34" charset="-122"/>
                <a:cs typeface="Courier New" pitchFamily="34" charset="-120"/>
              </a:rPr>
              <a:t>___</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x</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random</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40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width</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40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size</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random</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30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70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speed</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random</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1</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3</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random</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height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frameCount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speed</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height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100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50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fill</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130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120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110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circle</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x</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size</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p:txBody>
      </p:sp>
      <p:sp>
        <p:nvSpPr>
          <p:cNvPr id="6" name="Shape 4"/>
          <p:cNvSpPr/>
          <p:nvPr/>
        </p:nvSpPr>
        <p:spPr>
          <a:xfrm>
            <a:off x="6144768" y="1115568"/>
            <a:ext cx="2651760" cy="3611880"/>
          </a:xfrm>
          <a:prstGeom prst="roundRect">
            <a:avLst>
              <a:gd name="adj" fmla="val 2759"/>
            </a:avLst>
          </a:prstGeom>
          <a:solidFill>
            <a:srgbClr val="2B2B2B"/>
          </a:solidFill>
          <a:ln w="12700">
            <a:solidFill>
              <a:srgbClr val="2B2B2B"/>
            </a:solidFill>
            <a:prstDash val="solid"/>
          </a:ln>
        </p:spPr>
      </p:sp>
      <p:sp>
        <p:nvSpPr>
          <p:cNvPr id="7" name="Shape 5"/>
          <p:cNvSpPr/>
          <p:nvPr/>
        </p:nvSpPr>
        <p:spPr>
          <a:xfrm>
            <a:off x="6080760" y="1051560"/>
            <a:ext cx="2651760" cy="3611880"/>
          </a:xfrm>
          <a:prstGeom prst="roundRect">
            <a:avLst>
              <a:gd name="adj" fmla="val 2759"/>
            </a:avLst>
          </a:prstGeom>
          <a:solidFill>
            <a:srgbClr val="FFFFFF"/>
          </a:solidFill>
          <a:ln w="25400">
            <a:solidFill>
              <a:srgbClr val="2B2B2B"/>
            </a:solidFill>
            <a:prstDash val="solid"/>
          </a:ln>
        </p:spPr>
      </p:sp>
      <p:sp>
        <p:nvSpPr>
          <p:cNvPr id="8" name="Text 6"/>
          <p:cNvSpPr txBox="1"/>
          <p:nvPr/>
        </p:nvSpPr>
        <p:spPr>
          <a:xfrm>
            <a:off x="6217920" y="1143000"/>
            <a:ext cx="2377440" cy="3429000"/>
          </a:xfrm>
          <a:prstGeom prst="rect">
            <a:avLst/>
          </a:prstGeom>
          <a:noFill/>
          <a:ln/>
        </p:spPr>
        <p:txBody>
          <a:bodyPr wrap="square" lIns="0" tIns="0" rIns="0" bIns="0" rtlCol="0" anchor="t"/>
          <a:lstStyle/>
          <a:p>
            <a:pPr indent="0" marL="0">
              <a:spcAft>
                <a:spcPts val="600"/>
              </a:spcAft>
              <a:buNone/>
            </a:pPr>
            <a:r>
              <a:rPr lang="en-US" sz="1600" b="1" dirty="0">
                <a:solidFill>
                  <a:srgbClr val="5C4A12"/>
                </a:solidFill>
                <a:latin typeface="Courier New" pitchFamily="34" charset="0"/>
                <a:ea typeface="Courier New" pitchFamily="34" charset="-122"/>
                <a:cs typeface="Courier New" pitchFamily="34" charset="-120"/>
              </a:rPr>
              <a:t>STEPS 1–3</a:t>
            </a:r>
            <a:endParaRPr lang="en-US" sz="1600" dirty="0"/>
          </a:p>
          <a:p>
            <a:pPr indent="0" marL="0">
              <a:spcAft>
                <a:spcPts val="600"/>
              </a:spcAft>
              <a:buNone/>
            </a:pPr>
            <a:r>
              <a:rPr lang="en-US" sz="2000" b="1" dirty="0">
                <a:solidFill>
                  <a:srgbClr val="5C4A12"/>
                </a:solidFill>
                <a:latin typeface="Calibri" pitchFamily="34" charset="0"/>
                <a:ea typeface="Calibri" pitchFamily="34" charset="-122"/>
                <a:cs typeface="Calibri" pitchFamily="34" charset="-120"/>
              </a:rPr>
              <a:t>1.  </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Blank: </a:t>
            </a:r>
            <a:pPr indent="0" marL="0">
              <a:spcAft>
                <a:spcPts val="600"/>
              </a:spcAft>
              <a:buNone/>
            </a:pPr>
            <a:r>
              <a:rPr lang="en-US" sz="2000" b="1" dirty="0">
                <a:solidFill>
                  <a:srgbClr val="2B2B2B"/>
                </a:solidFill>
                <a:latin typeface="Courier New" pitchFamily="34" charset="0"/>
                <a:ea typeface="Courier New" pitchFamily="34" charset="-122"/>
                <a:cs typeface="Courier New" pitchFamily="34" charset="-120"/>
              </a:rPr>
              <a:t>rocks</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 not 6.</a:t>
            </a:r>
            <a:endParaRPr lang="en-US" sz="1600" dirty="0"/>
          </a:p>
          <a:p>
            <a:pPr indent="0" marL="0">
              <a:spcAft>
                <a:spcPts val="600"/>
              </a:spcAft>
              <a:buNone/>
            </a:pPr>
            <a:r>
              <a:rPr lang="en-US" sz="2000" b="1" dirty="0">
                <a:solidFill>
                  <a:srgbClr val="5C4A12"/>
                </a:solidFill>
                <a:latin typeface="Calibri" pitchFamily="34" charset="0"/>
                <a:ea typeface="Calibri" pitchFamily="34" charset="-122"/>
                <a:cs typeface="Calibri" pitchFamily="34" charset="-120"/>
              </a:rPr>
              <a:t>2.  </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Switch on the lets and y lines.</a:t>
            </a:r>
            <a:endParaRPr lang="en-US" sz="1600" dirty="0"/>
          </a:p>
          <a:p>
            <a:pPr indent="0" marL="0">
              <a:spcAft>
                <a:spcPts val="600"/>
              </a:spcAft>
              <a:buNone/>
            </a:pPr>
            <a:r>
              <a:rPr lang="en-US" sz="2000" b="1" dirty="0">
                <a:solidFill>
                  <a:srgbClr val="5C4A12"/>
                </a:solidFill>
                <a:latin typeface="Calibri" pitchFamily="34" charset="0"/>
                <a:ea typeface="Calibri" pitchFamily="34" charset="-122"/>
                <a:cs typeface="Calibri" pitchFamily="34" charset="-120"/>
              </a:rPr>
              <a:t>3.  </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Switch on fill, circle, }. Run.</a:t>
            </a:r>
            <a:endParaRPr lang="en-US" sz="1600" dirty="0"/>
          </a:p>
          <a:p>
            <a:pPr indent="0" marL="0">
              <a:spcAft>
                <a:spcPts val="600"/>
              </a:spcAft>
              <a:buNone/>
            </a:pPr>
            <a:r>
              <a:rPr lang="en-US" sz="2000" b="1" dirty="0">
                <a:solidFill>
                  <a:srgbClr val="5C4A12"/>
                </a:solidFill>
                <a:latin typeface="Calibri" pitchFamily="34" charset="0"/>
                <a:ea typeface="Calibri" pitchFamily="34" charset="-122"/>
                <a:cs typeface="Calibri" pitchFamily="34" charset="-120"/>
              </a:rPr>
              <a:t>4.  </a:t>
            </a:r>
            <a:pPr indent="0" marL="0">
              <a:spcAft>
                <a:spcPts val="600"/>
              </a:spcAft>
              <a:buNone/>
            </a:pPr>
            <a:r>
              <a:rPr lang="en-US" sz="2000" b="1" dirty="0">
                <a:solidFill>
                  <a:srgbClr val="2B2B2B"/>
                </a:solidFill>
                <a:latin typeface="Calibri" pitchFamily="34" charset="0"/>
                <a:ea typeface="Calibri" pitchFamily="34" charset="-122"/>
                <a:cs typeface="Calibri" pitchFamily="34" charset="-120"/>
              </a:rPr>
              <a:t>Check: let rocks = 10;</a:t>
            </a:r>
            <a:endParaRPr lang="en-US" sz="16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TODO 2 · step 4: red when it hits</a:t>
            </a:r>
            <a:endParaRPr lang="en-US" sz="3200" dirty="0"/>
          </a:p>
        </p:txBody>
      </p:sp>
      <p:sp>
        <p:nvSpPr>
          <p:cNvPr id="3" name="Shape 1"/>
          <p:cNvSpPr/>
          <p:nvPr/>
        </p:nvSpPr>
        <p:spPr>
          <a:xfrm>
            <a:off x="475488" y="1115568"/>
            <a:ext cx="5760720" cy="2743200"/>
          </a:xfrm>
          <a:prstGeom prst="roundRect">
            <a:avLst>
              <a:gd name="adj" fmla="val 2000"/>
            </a:avLst>
          </a:prstGeom>
          <a:solidFill>
            <a:srgbClr val="2B2B2B"/>
          </a:solidFill>
          <a:ln w="12700">
            <a:solidFill>
              <a:srgbClr val="2B2B2B"/>
            </a:solidFill>
            <a:prstDash val="solid"/>
          </a:ln>
        </p:spPr>
      </p:sp>
      <p:sp>
        <p:nvSpPr>
          <p:cNvPr id="4" name="Shape 2"/>
          <p:cNvSpPr/>
          <p:nvPr/>
        </p:nvSpPr>
        <p:spPr>
          <a:xfrm>
            <a:off x="411480" y="1051560"/>
            <a:ext cx="5760720" cy="2743200"/>
          </a:xfrm>
          <a:prstGeom prst="roundRect">
            <a:avLst>
              <a:gd name="adj" fmla="val 2000"/>
            </a:avLst>
          </a:prstGeom>
          <a:solidFill>
            <a:srgbClr val="1E1E1E"/>
          </a:solidFill>
          <a:ln w="25400">
            <a:solidFill>
              <a:srgbClr val="2B2B2B"/>
            </a:solidFill>
            <a:prstDash val="solid"/>
          </a:ln>
        </p:spPr>
      </p:sp>
      <p:sp>
        <p:nvSpPr>
          <p:cNvPr id="5" name="Text 3"/>
          <p:cNvSpPr txBox="1"/>
          <p:nvPr/>
        </p:nvSpPr>
        <p:spPr>
          <a:xfrm>
            <a:off x="576072" y="1124712"/>
            <a:ext cx="5486400" cy="2596896"/>
          </a:xfrm>
          <a:prstGeom prst="rect">
            <a:avLst/>
          </a:prstGeom>
          <a:noFill/>
          <a:ln/>
        </p:spPr>
        <p:txBody>
          <a:bodyPr wrap="square" lIns="0" tIns="0" rIns="0" bIns="0" rtlCol="0" anchor="ctr"/>
          <a:lstStyle/>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gap</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dist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x</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shipX</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SHIP_Y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C586C0"/>
                </a:solidFill>
                <a:latin typeface="Courier New" pitchFamily="34" charset="0"/>
                <a:ea typeface="Courier New" pitchFamily="34" charset="-122"/>
                <a:cs typeface="Courier New" pitchFamily="34" charset="-120"/>
              </a:rPr>
              <a:t>if</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gap</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&lt;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size</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2</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20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fill</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230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60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60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C586C0"/>
                </a:solidFill>
                <a:latin typeface="Courier New" pitchFamily="34" charset="0"/>
                <a:ea typeface="Courier New" pitchFamily="34" charset="-122"/>
                <a:cs typeface="Courier New" pitchFamily="34" charset="-120"/>
              </a:rPr>
              <a:t>else</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fill</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130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120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110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circle</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x</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size</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p:txBody>
      </p:sp>
      <p:sp>
        <p:nvSpPr>
          <p:cNvPr id="6" name="Shape 4"/>
          <p:cNvSpPr/>
          <p:nvPr/>
        </p:nvSpPr>
        <p:spPr>
          <a:xfrm>
            <a:off x="6510528" y="1115568"/>
            <a:ext cx="2286000" cy="2743200"/>
          </a:xfrm>
          <a:prstGeom prst="roundRect">
            <a:avLst>
              <a:gd name="adj" fmla="val 3200"/>
            </a:avLst>
          </a:prstGeom>
          <a:solidFill>
            <a:srgbClr val="2B2B2B"/>
          </a:solidFill>
          <a:ln w="12700">
            <a:solidFill>
              <a:srgbClr val="2B2B2B"/>
            </a:solidFill>
            <a:prstDash val="solid"/>
          </a:ln>
        </p:spPr>
      </p:sp>
      <p:sp>
        <p:nvSpPr>
          <p:cNvPr id="7" name="Shape 5"/>
          <p:cNvSpPr/>
          <p:nvPr/>
        </p:nvSpPr>
        <p:spPr>
          <a:xfrm>
            <a:off x="6446520" y="1051560"/>
            <a:ext cx="2286000" cy="2743200"/>
          </a:xfrm>
          <a:prstGeom prst="roundRect">
            <a:avLst>
              <a:gd name="adj" fmla="val 3200"/>
            </a:avLst>
          </a:prstGeom>
          <a:solidFill>
            <a:srgbClr val="FFFFFF"/>
          </a:solidFill>
          <a:ln w="25400">
            <a:solidFill>
              <a:srgbClr val="2B2B2B"/>
            </a:solidFill>
            <a:prstDash val="solid"/>
          </a:ln>
        </p:spPr>
      </p:sp>
      <p:sp>
        <p:nvSpPr>
          <p:cNvPr id="8" name="Text 6"/>
          <p:cNvSpPr txBox="1"/>
          <p:nvPr/>
        </p:nvSpPr>
        <p:spPr>
          <a:xfrm>
            <a:off x="6611112" y="1143000"/>
            <a:ext cx="1956816" cy="2560320"/>
          </a:xfrm>
          <a:prstGeom prst="rect">
            <a:avLst/>
          </a:prstGeom>
          <a:noFill/>
          <a:ln/>
        </p:spPr>
        <p:txBody>
          <a:bodyPr wrap="square" lIns="0" tIns="0" rIns="0" bIns="0" rtlCol="0" anchor="t"/>
          <a:lstStyle/>
          <a:p>
            <a:pPr indent="0" marL="0">
              <a:spcAft>
                <a:spcPts val="1200"/>
              </a:spcAft>
              <a:buNone/>
            </a:pPr>
            <a:r>
              <a:rPr lang="en-US" sz="2000" b="1" dirty="0">
                <a:solidFill>
                  <a:srgbClr val="2B2B2B"/>
                </a:solidFill>
                <a:latin typeface="Courier New" pitchFamily="34" charset="0"/>
                <a:ea typeface="Courier New" pitchFamily="34" charset="-122"/>
                <a:cs typeface="Courier New" pitchFamily="34" charset="-120"/>
              </a:rPr>
              <a:t>gap</a:t>
            </a:r>
            <a:pPr indent="0" marL="0">
              <a:spcAft>
                <a:spcPts val="1200"/>
              </a:spcAft>
              <a:buNone/>
            </a:pPr>
            <a:r>
              <a:rPr lang="en-US" sz="2000" dirty="0">
                <a:solidFill>
                  <a:srgbClr val="2B2B2B"/>
                </a:solidFill>
                <a:latin typeface="Calibri" pitchFamily="34" charset="0"/>
                <a:ea typeface="Calibri" pitchFamily="34" charset="-122"/>
                <a:cs typeface="Calibri" pitchFamily="34" charset="-120"/>
              </a:rPr>
              <a:t> = rock to ship</a:t>
            </a:r>
            <a:endParaRPr lang="en-US" sz="2000" dirty="0"/>
          </a:p>
          <a:p>
            <a:pPr indent="0" marL="0">
              <a:spcAft>
                <a:spcPts val="1200"/>
              </a:spcAft>
              <a:buNone/>
            </a:pPr>
            <a:r>
              <a:rPr lang="en-US" sz="2000" b="1" dirty="0">
                <a:solidFill>
                  <a:srgbClr val="2B2B2B"/>
                </a:solidFill>
                <a:latin typeface="Courier New" pitchFamily="34" charset="0"/>
                <a:ea typeface="Courier New" pitchFamily="34" charset="-122"/>
                <a:cs typeface="Courier New" pitchFamily="34" charset="-120"/>
              </a:rPr>
              <a:t>size / 2</a:t>
            </a:r>
            <a:pPr indent="0" marL="0">
              <a:spcAft>
                <a:spcPts val="1200"/>
              </a:spcAft>
              <a:buNone/>
            </a:pPr>
            <a:r>
              <a:rPr lang="en-US" sz="2000" dirty="0">
                <a:solidFill>
                  <a:srgbClr val="2B2B2B"/>
                </a:solidFill>
                <a:latin typeface="Calibri" pitchFamily="34" charset="0"/>
                <a:ea typeface="Calibri" pitchFamily="34" charset="-122"/>
                <a:cs typeface="Calibri" pitchFamily="34" charset="-120"/>
              </a:rPr>
              <a:t> = rock radius</a:t>
            </a:r>
            <a:endParaRPr lang="en-US" sz="2000" dirty="0"/>
          </a:p>
          <a:p>
            <a:pPr indent="0" marL="0">
              <a:spcAft>
                <a:spcPts val="1200"/>
              </a:spcAft>
              <a:buNone/>
            </a:pPr>
            <a:r>
              <a:rPr lang="en-US" sz="2000" b="1" dirty="0">
                <a:solidFill>
                  <a:srgbClr val="2B2B2B"/>
                </a:solidFill>
                <a:latin typeface="Courier New" pitchFamily="34" charset="0"/>
                <a:ea typeface="Courier New" pitchFamily="34" charset="-122"/>
                <a:cs typeface="Courier New" pitchFamily="34" charset="-120"/>
              </a:rPr>
              <a:t>20</a:t>
            </a:r>
            <a:pPr indent="0" marL="0">
              <a:spcAft>
                <a:spcPts val="1200"/>
              </a:spcAft>
              <a:buNone/>
            </a:pPr>
            <a:r>
              <a:rPr lang="en-US" sz="2000" dirty="0">
                <a:solidFill>
                  <a:srgbClr val="2B2B2B"/>
                </a:solidFill>
                <a:latin typeface="Calibri" pitchFamily="34" charset="0"/>
                <a:ea typeface="Calibri" pitchFamily="34" charset="-122"/>
                <a:cs typeface="Calibri" pitchFamily="34" charset="-120"/>
              </a:rPr>
              <a:t> = about the ship</a:t>
            </a:r>
            <a:endParaRPr lang="en-US" sz="2000" dirty="0"/>
          </a:p>
        </p:txBody>
      </p:sp>
      <p:sp>
        <p:nvSpPr>
          <p:cNvPr id="9" name="Shape 7"/>
          <p:cNvSpPr/>
          <p:nvPr/>
        </p:nvSpPr>
        <p:spPr>
          <a:xfrm>
            <a:off x="475488" y="4133088"/>
            <a:ext cx="8321040" cy="640080"/>
          </a:xfrm>
          <a:prstGeom prst="roundRect">
            <a:avLst>
              <a:gd name="adj" fmla="val 11429"/>
            </a:avLst>
          </a:prstGeom>
          <a:solidFill>
            <a:srgbClr val="2B2B2B"/>
          </a:solidFill>
          <a:ln w="12700">
            <a:solidFill>
              <a:srgbClr val="2B2B2B"/>
            </a:solidFill>
            <a:prstDash val="solid"/>
          </a:ln>
        </p:spPr>
      </p:sp>
      <p:sp>
        <p:nvSpPr>
          <p:cNvPr id="10" name="Shape 8"/>
          <p:cNvSpPr/>
          <p:nvPr/>
        </p:nvSpPr>
        <p:spPr>
          <a:xfrm>
            <a:off x="411480" y="4069080"/>
            <a:ext cx="8321040" cy="640080"/>
          </a:xfrm>
          <a:prstGeom prst="roundRect">
            <a:avLst>
              <a:gd name="adj" fmla="val 11429"/>
            </a:avLst>
          </a:prstGeom>
          <a:solidFill>
            <a:srgbClr val="2B2B2B"/>
          </a:solidFill>
          <a:ln w="25400">
            <a:solidFill>
              <a:srgbClr val="2B2B2B"/>
            </a:solidFill>
            <a:prstDash val="solid"/>
          </a:ln>
        </p:spPr>
      </p:sp>
      <p:sp>
        <p:nvSpPr>
          <p:cNvPr id="11" name="Text 9"/>
          <p:cNvSpPr txBox="1"/>
          <p:nvPr/>
        </p:nvSpPr>
        <p:spPr>
          <a:xfrm>
            <a:off x="576072" y="4160520"/>
            <a:ext cx="7991856" cy="457200"/>
          </a:xfrm>
          <a:prstGeom prst="rect">
            <a:avLst/>
          </a:prstGeom>
          <a:noFill/>
          <a:ln/>
        </p:spPr>
        <p:txBody>
          <a:bodyPr wrap="square" lIns="0" tIns="0" rIns="0" bIns="0" rtlCol="0" anchor="ctr"/>
          <a:lstStyle/>
          <a:p>
            <a:pPr indent="0" marL="0">
              <a:spcAft>
                <a:spcPts val="600"/>
              </a:spcAft>
              <a:buNone/>
            </a:pPr>
            <a:r>
              <a:rPr lang="en-US" sz="2000" b="1" dirty="0">
                <a:solidFill>
                  <a:srgbClr val="FFFFFF"/>
                </a:solidFill>
                <a:latin typeface="Calibri" pitchFamily="34" charset="0"/>
                <a:ea typeface="Calibri" pitchFamily="34" charset="-122"/>
                <a:cs typeface="Calibri" pitchFamily="34" charset="-120"/>
              </a:rPr>
              <a:t>Delete the plain </a:t>
            </a:r>
            <a:pPr indent="0" marL="0">
              <a:spcAft>
                <a:spcPts val="600"/>
              </a:spcAft>
              <a:buNone/>
            </a:pPr>
            <a:r>
              <a:rPr lang="en-US" sz="2000" b="1" dirty="0">
                <a:solidFill>
                  <a:srgbClr val="FFFFFF"/>
                </a:solidFill>
                <a:latin typeface="Courier New" pitchFamily="34" charset="0"/>
                <a:ea typeface="Courier New" pitchFamily="34" charset="-122"/>
                <a:cs typeface="Courier New" pitchFamily="34" charset="-120"/>
              </a:rPr>
              <a:t>fill(130, 120, 110);</a:t>
            </a:r>
            <a:pPr indent="0" marL="0">
              <a:spcAft>
                <a:spcPts val="600"/>
              </a:spcAft>
              <a:buNone/>
            </a:pPr>
            <a:r>
              <a:rPr lang="en-US" sz="2000" b="1" dirty="0">
                <a:solidFill>
                  <a:srgbClr val="FFFFFF"/>
                </a:solidFill>
                <a:latin typeface="Calibri" pitchFamily="34" charset="0"/>
                <a:ea typeface="Calibri" pitchFamily="34" charset="-122"/>
                <a:cs typeface="Calibri" pitchFamily="34" charset="-120"/>
              </a:rPr>
              <a:t> line above the gap line.</a:t>
            </a:r>
            <a:endParaRPr lang="en-US" sz="20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TODO 3 · while → for</a:t>
            </a:r>
            <a:endParaRPr lang="en-US" sz="3200" dirty="0"/>
          </a:p>
        </p:txBody>
      </p:sp>
      <p:sp>
        <p:nvSpPr>
          <p:cNvPr id="3" name="Text 1"/>
          <p:cNvSpPr txBox="1"/>
          <p:nvPr/>
        </p:nvSpPr>
        <p:spPr>
          <a:xfrm>
            <a:off x="411480" y="960120"/>
            <a:ext cx="5120640" cy="274320"/>
          </a:xfrm>
          <a:prstGeom prst="rect">
            <a:avLst/>
          </a:prstGeom>
          <a:noFill/>
          <a:ln/>
        </p:spPr>
        <p:txBody>
          <a:bodyPr wrap="square" lIns="0" tIns="0" rIns="0" bIns="0" rtlCol="0" anchor="ctr"/>
          <a:lstStyle/>
          <a:p>
            <a:pPr indent="0" marL="0">
              <a:buNone/>
            </a:pPr>
            <a:r>
              <a:rPr lang="en-US" sz="1600" b="1" dirty="0">
                <a:solidFill>
                  <a:srgbClr val="5C4A12"/>
                </a:solidFill>
                <a:latin typeface="Courier New" pitchFamily="34" charset="0"/>
                <a:ea typeface="Courier New" pitchFamily="34" charset="-122"/>
                <a:cs typeface="Courier New" pitchFamily="34" charset="-120"/>
              </a:rPr>
              <a:t>NOW: A WHILE LOOP</a:t>
            </a:r>
            <a:endParaRPr lang="en-US" sz="1600" dirty="0"/>
          </a:p>
        </p:txBody>
      </p:sp>
      <p:sp>
        <p:nvSpPr>
          <p:cNvPr id="4" name="Shape 2"/>
          <p:cNvSpPr/>
          <p:nvPr/>
        </p:nvSpPr>
        <p:spPr>
          <a:xfrm>
            <a:off x="475488" y="1325880"/>
            <a:ext cx="5120640" cy="2148840"/>
          </a:xfrm>
          <a:prstGeom prst="roundRect">
            <a:avLst>
              <a:gd name="adj" fmla="val 2553"/>
            </a:avLst>
          </a:prstGeom>
          <a:solidFill>
            <a:srgbClr val="2B2B2B"/>
          </a:solidFill>
          <a:ln w="12700">
            <a:solidFill>
              <a:srgbClr val="2B2B2B"/>
            </a:solidFill>
            <a:prstDash val="solid"/>
          </a:ln>
        </p:spPr>
      </p:sp>
      <p:sp>
        <p:nvSpPr>
          <p:cNvPr id="5" name="Shape 3"/>
          <p:cNvSpPr/>
          <p:nvPr/>
        </p:nvSpPr>
        <p:spPr>
          <a:xfrm>
            <a:off x="411480" y="1261872"/>
            <a:ext cx="5120640" cy="2148840"/>
          </a:xfrm>
          <a:prstGeom prst="roundRect">
            <a:avLst>
              <a:gd name="adj" fmla="val 2553"/>
            </a:avLst>
          </a:prstGeom>
          <a:solidFill>
            <a:srgbClr val="1E1E1E"/>
          </a:solidFill>
          <a:ln w="25400">
            <a:solidFill>
              <a:srgbClr val="2B2B2B"/>
            </a:solidFill>
            <a:prstDash val="solid"/>
          </a:ln>
        </p:spPr>
      </p:sp>
      <p:sp>
        <p:nvSpPr>
          <p:cNvPr id="6" name="Text 4"/>
          <p:cNvSpPr txBox="1"/>
          <p:nvPr/>
        </p:nvSpPr>
        <p:spPr>
          <a:xfrm>
            <a:off x="576072" y="1335024"/>
            <a:ext cx="4846320" cy="2002536"/>
          </a:xfrm>
          <a:prstGeom prst="rect">
            <a:avLst/>
          </a:prstGeom>
          <a:noFill/>
          <a:ln/>
        </p:spPr>
        <p:txBody>
          <a:bodyPr wrap="square" lIns="0" tIns="0" rIns="0" bIns="0" rtlCol="0" anchor="t"/>
          <a:lstStyle/>
          <a:p>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x</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660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C586C0"/>
                </a:solidFill>
                <a:latin typeface="Courier New" pitchFamily="34" charset="0"/>
                <a:ea typeface="Courier New" pitchFamily="34" charset="-122"/>
                <a:cs typeface="Courier New" pitchFamily="34" charset="-120"/>
              </a:rPr>
              <a:t>while</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&lt;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lives</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circle</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x</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30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22</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x</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x</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40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1</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p:txBody>
      </p:sp>
      <p:sp>
        <p:nvSpPr>
          <p:cNvPr id="7" name="Text 5"/>
          <p:cNvSpPr txBox="1"/>
          <p:nvPr/>
        </p:nvSpPr>
        <p:spPr>
          <a:xfrm>
            <a:off x="411480" y="3547872"/>
            <a:ext cx="5120640" cy="274320"/>
          </a:xfrm>
          <a:prstGeom prst="rect">
            <a:avLst/>
          </a:prstGeom>
          <a:noFill/>
          <a:ln/>
        </p:spPr>
        <p:txBody>
          <a:bodyPr wrap="square" lIns="0" tIns="0" rIns="0" bIns="0" rtlCol="0" anchor="ctr"/>
          <a:lstStyle/>
          <a:p>
            <a:pPr indent="0" marL="0">
              <a:buNone/>
            </a:pPr>
            <a:r>
              <a:rPr lang="en-US" sz="1600" b="1" dirty="0">
                <a:solidFill>
                  <a:srgbClr val="5C4A12"/>
                </a:solidFill>
                <a:latin typeface="Courier New" pitchFamily="34" charset="0"/>
                <a:ea typeface="Courier New" pitchFamily="34" charset="-122"/>
                <a:cs typeface="Courier New" pitchFamily="34" charset="-120"/>
              </a:rPr>
              <a:t>YOUR JOB: THE SAME THING AS A FOR</a:t>
            </a:r>
            <a:endParaRPr lang="en-US" sz="1600" dirty="0"/>
          </a:p>
        </p:txBody>
      </p:sp>
      <p:sp>
        <p:nvSpPr>
          <p:cNvPr id="8" name="Shape 6"/>
          <p:cNvSpPr/>
          <p:nvPr/>
        </p:nvSpPr>
        <p:spPr>
          <a:xfrm>
            <a:off x="475488" y="3904488"/>
            <a:ext cx="5120640" cy="1005840"/>
          </a:xfrm>
          <a:prstGeom prst="roundRect">
            <a:avLst>
              <a:gd name="adj" fmla="val 5455"/>
            </a:avLst>
          </a:prstGeom>
          <a:solidFill>
            <a:srgbClr val="2B2B2B"/>
          </a:solidFill>
          <a:ln w="12700">
            <a:solidFill>
              <a:srgbClr val="2B2B2B"/>
            </a:solidFill>
            <a:prstDash val="solid"/>
          </a:ln>
        </p:spPr>
      </p:sp>
      <p:sp>
        <p:nvSpPr>
          <p:cNvPr id="9" name="Shape 7"/>
          <p:cNvSpPr/>
          <p:nvPr/>
        </p:nvSpPr>
        <p:spPr>
          <a:xfrm>
            <a:off x="411480" y="3840480"/>
            <a:ext cx="5120640" cy="1005840"/>
          </a:xfrm>
          <a:prstGeom prst="roundRect">
            <a:avLst>
              <a:gd name="adj" fmla="val 5455"/>
            </a:avLst>
          </a:prstGeom>
          <a:solidFill>
            <a:srgbClr val="1E1E1E"/>
          </a:solidFill>
          <a:ln w="25400">
            <a:solidFill>
              <a:srgbClr val="2B2B2B"/>
            </a:solidFill>
            <a:prstDash val="solid"/>
          </a:ln>
        </p:spPr>
      </p:sp>
      <p:sp>
        <p:nvSpPr>
          <p:cNvPr id="10" name="Text 8"/>
          <p:cNvSpPr txBox="1"/>
          <p:nvPr/>
        </p:nvSpPr>
        <p:spPr>
          <a:xfrm>
            <a:off x="576072" y="3913632"/>
            <a:ext cx="4846320" cy="859536"/>
          </a:xfrm>
          <a:prstGeom prst="rect">
            <a:avLst/>
          </a:prstGeom>
          <a:noFill/>
          <a:ln/>
        </p:spPr>
        <p:txBody>
          <a:bodyPr wrap="square" lIns="0" tIns="0" rIns="0" bIns="0" rtlCol="0" anchor="ctr"/>
          <a:lstStyle/>
          <a:p>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x</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660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C586C0"/>
                </a:solidFill>
                <a:latin typeface="Courier New" pitchFamily="34" charset="0"/>
                <a:ea typeface="Courier New" pitchFamily="34" charset="-122"/>
                <a:cs typeface="Courier New" pitchFamily="34" charset="-120"/>
              </a:rPr>
              <a:t>for</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b="1" dirty="0">
                <a:solidFill>
                  <a:srgbClr val="F4C430"/>
                </a:solidFill>
                <a:latin typeface="Courier New" pitchFamily="34" charset="0"/>
                <a:ea typeface="Courier New" pitchFamily="34" charset="-122"/>
                <a:cs typeface="Courier New" pitchFamily="34" charset="-120"/>
              </a:rPr>
              <a:t>___</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&lt; </a:t>
            </a:r>
            <a:pPr indent="0" marL="0">
              <a:lnSpc>
                <a:spcPct val="105000"/>
              </a:lnSpc>
              <a:buNone/>
            </a:pPr>
            <a:r>
              <a:rPr lang="en-US" sz="1800" b="1" dirty="0">
                <a:solidFill>
                  <a:srgbClr val="F4C430"/>
                </a:solidFill>
                <a:latin typeface="Courier New" pitchFamily="34" charset="0"/>
                <a:ea typeface="Courier New" pitchFamily="34" charset="-122"/>
                <a:cs typeface="Courier New" pitchFamily="34" charset="-120"/>
              </a:rPr>
              <a:t>___</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p:txBody>
      </p:sp>
      <p:sp>
        <p:nvSpPr>
          <p:cNvPr id="11" name="Shape 9"/>
          <p:cNvSpPr/>
          <p:nvPr/>
        </p:nvSpPr>
        <p:spPr>
          <a:xfrm>
            <a:off x="5870448" y="1024128"/>
            <a:ext cx="2926080" cy="3611880"/>
          </a:xfrm>
          <a:prstGeom prst="roundRect">
            <a:avLst>
              <a:gd name="adj" fmla="val 2500"/>
            </a:avLst>
          </a:prstGeom>
          <a:solidFill>
            <a:srgbClr val="2B2B2B"/>
          </a:solidFill>
          <a:ln w="12700">
            <a:solidFill>
              <a:srgbClr val="2B2B2B"/>
            </a:solidFill>
            <a:prstDash val="solid"/>
          </a:ln>
        </p:spPr>
      </p:sp>
      <p:sp>
        <p:nvSpPr>
          <p:cNvPr id="12" name="Shape 10"/>
          <p:cNvSpPr/>
          <p:nvPr/>
        </p:nvSpPr>
        <p:spPr>
          <a:xfrm>
            <a:off x="5806440" y="960120"/>
            <a:ext cx="2926080" cy="3611880"/>
          </a:xfrm>
          <a:prstGeom prst="roundRect">
            <a:avLst>
              <a:gd name="adj" fmla="val 2500"/>
            </a:avLst>
          </a:prstGeom>
          <a:solidFill>
            <a:srgbClr val="FFFFFF"/>
          </a:solidFill>
          <a:ln w="25400">
            <a:solidFill>
              <a:srgbClr val="2B2B2B"/>
            </a:solidFill>
            <a:prstDash val="solid"/>
          </a:ln>
        </p:spPr>
      </p:sp>
      <p:sp>
        <p:nvSpPr>
          <p:cNvPr id="13" name="Text 11"/>
          <p:cNvSpPr txBox="1"/>
          <p:nvPr/>
        </p:nvSpPr>
        <p:spPr>
          <a:xfrm>
            <a:off x="5943600" y="1051560"/>
            <a:ext cx="2651760" cy="3429000"/>
          </a:xfrm>
          <a:prstGeom prst="rect">
            <a:avLst/>
          </a:prstGeom>
          <a:noFill/>
          <a:ln/>
        </p:spPr>
        <p:txBody>
          <a:bodyPr wrap="square" lIns="0" tIns="0" rIns="0" bIns="0" rtlCol="0" anchor="t"/>
          <a:lstStyle/>
          <a:p>
            <a:pPr indent="0" marL="0">
              <a:spcAft>
                <a:spcPts val="600"/>
              </a:spcAft>
              <a:buNone/>
            </a:pPr>
            <a:r>
              <a:rPr lang="en-US" sz="1600" b="1" dirty="0">
                <a:solidFill>
                  <a:srgbClr val="5C4A12"/>
                </a:solidFill>
                <a:latin typeface="Courier New" pitchFamily="34" charset="0"/>
                <a:ea typeface="Courier New" pitchFamily="34" charset="-122"/>
                <a:cs typeface="Courier New" pitchFamily="34" charset="-120"/>
              </a:rPr>
              <a:t>STEPS</a:t>
            </a:r>
            <a:endParaRPr lang="en-US" sz="1600" dirty="0"/>
          </a:p>
          <a:p>
            <a:pPr indent="0" marL="0">
              <a:spcAft>
                <a:spcPts val="600"/>
              </a:spcAft>
              <a:buNone/>
            </a:pPr>
            <a:r>
              <a:rPr lang="en-US" sz="2000" b="1" dirty="0">
                <a:solidFill>
                  <a:srgbClr val="5C4A12"/>
                </a:solidFill>
                <a:latin typeface="Calibri" pitchFamily="34" charset="0"/>
                <a:ea typeface="Calibri" pitchFamily="34" charset="-122"/>
                <a:cs typeface="Calibri" pitchFamily="34" charset="-120"/>
              </a:rPr>
              <a:t>1.  </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Find the 3 lines that only count.</a:t>
            </a:r>
            <a:endParaRPr lang="en-US" sz="1600" dirty="0"/>
          </a:p>
          <a:p>
            <a:pPr indent="0" marL="0">
              <a:spcAft>
                <a:spcPts val="600"/>
              </a:spcAft>
              <a:buNone/>
            </a:pPr>
            <a:r>
              <a:rPr lang="en-US" sz="2000" b="1" dirty="0">
                <a:solidFill>
                  <a:srgbClr val="5C4A12"/>
                </a:solidFill>
                <a:latin typeface="Calibri" pitchFamily="34" charset="0"/>
                <a:ea typeface="Calibri" pitchFamily="34" charset="-122"/>
                <a:cs typeface="Calibri" pitchFamily="34" charset="-120"/>
              </a:rPr>
              <a:t>2.  </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Move them into one for header.</a:t>
            </a:r>
            <a:endParaRPr lang="en-US" sz="1600" dirty="0"/>
          </a:p>
          <a:p>
            <a:pPr indent="0" marL="0">
              <a:spcAft>
                <a:spcPts val="600"/>
              </a:spcAft>
              <a:buNone/>
            </a:pPr>
            <a:r>
              <a:rPr lang="en-US" sz="2000" b="1" dirty="0">
                <a:solidFill>
                  <a:srgbClr val="5C4A12"/>
                </a:solidFill>
                <a:latin typeface="Calibri" pitchFamily="34" charset="0"/>
                <a:ea typeface="Calibri" pitchFamily="34" charset="-122"/>
                <a:cs typeface="Calibri" pitchFamily="34" charset="-120"/>
              </a:rPr>
              <a:t>3.  </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Delete </a:t>
            </a:r>
            <a:pPr indent="0" marL="0">
              <a:spcAft>
                <a:spcPts val="600"/>
              </a:spcAft>
              <a:buNone/>
            </a:pPr>
            <a:r>
              <a:rPr lang="en-US" sz="2000" dirty="0">
                <a:solidFill>
                  <a:srgbClr val="2B2B2B"/>
                </a:solidFill>
                <a:latin typeface="Courier New" pitchFamily="34" charset="0"/>
                <a:ea typeface="Courier New" pitchFamily="34" charset="-122"/>
                <a:cs typeface="Courier New" pitchFamily="34" charset="-120"/>
              </a:rPr>
              <a:t>let i = 0;</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 and </a:t>
            </a:r>
            <a:pPr indent="0" marL="0">
              <a:spcAft>
                <a:spcPts val="600"/>
              </a:spcAft>
              <a:buNone/>
            </a:pPr>
            <a:r>
              <a:rPr lang="en-US" sz="2000" dirty="0">
                <a:solidFill>
                  <a:srgbClr val="2B2B2B"/>
                </a:solidFill>
                <a:latin typeface="Courier New" pitchFamily="34" charset="0"/>
                <a:ea typeface="Courier New" pitchFamily="34" charset="-122"/>
                <a:cs typeface="Courier New" pitchFamily="34" charset="-120"/>
              </a:rPr>
              <a:t>i = i + 1;</a:t>
            </a:r>
            <a:endParaRPr lang="en-US" sz="1600" dirty="0"/>
          </a:p>
          <a:p>
            <a:pPr indent="0" marL="0">
              <a:spcAft>
                <a:spcPts val="600"/>
              </a:spcAft>
              <a:buNone/>
            </a:pPr>
            <a:r>
              <a:rPr lang="en-US" sz="2000" b="1" dirty="0">
                <a:solidFill>
                  <a:srgbClr val="5C4A12"/>
                </a:solidFill>
                <a:latin typeface="Calibri" pitchFamily="34" charset="0"/>
                <a:ea typeface="Calibri" pitchFamily="34" charset="-122"/>
                <a:cs typeface="Calibri" pitchFamily="34" charset="-120"/>
              </a:rPr>
              <a:t>4.  </a:t>
            </a:r>
            <a:pPr indent="0" marL="0">
              <a:spcAft>
                <a:spcPts val="600"/>
              </a:spcAft>
              <a:buNone/>
            </a:pPr>
            <a:r>
              <a:rPr lang="en-US" sz="2000" b="1" dirty="0">
                <a:solidFill>
                  <a:srgbClr val="2B2B2B"/>
                </a:solidFill>
                <a:latin typeface="Calibri" pitchFamily="34" charset="0"/>
                <a:ea typeface="Calibri" pitchFamily="34" charset="-122"/>
                <a:cs typeface="Calibri" pitchFamily="34" charset="-120"/>
              </a:rPr>
              <a:t>x is NOT the counter.</a:t>
            </a:r>
            <a:endParaRPr lang="en-US" sz="16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TODO 4 · add and remove rocks</a:t>
            </a:r>
            <a:endParaRPr lang="en-US" sz="3200" dirty="0"/>
          </a:p>
        </p:txBody>
      </p:sp>
      <p:sp>
        <p:nvSpPr>
          <p:cNvPr id="3" name="Shape 1"/>
          <p:cNvSpPr/>
          <p:nvPr/>
        </p:nvSpPr>
        <p:spPr>
          <a:xfrm>
            <a:off x="475488" y="1115568"/>
            <a:ext cx="5394960" cy="2971800"/>
          </a:xfrm>
          <a:prstGeom prst="roundRect">
            <a:avLst>
              <a:gd name="adj" fmla="val 1846"/>
            </a:avLst>
          </a:prstGeom>
          <a:solidFill>
            <a:srgbClr val="2B2B2B"/>
          </a:solidFill>
          <a:ln w="12700">
            <a:solidFill>
              <a:srgbClr val="2B2B2B"/>
            </a:solidFill>
            <a:prstDash val="solid"/>
          </a:ln>
        </p:spPr>
      </p:sp>
      <p:sp>
        <p:nvSpPr>
          <p:cNvPr id="4" name="Shape 2"/>
          <p:cNvSpPr/>
          <p:nvPr/>
        </p:nvSpPr>
        <p:spPr>
          <a:xfrm>
            <a:off x="411480" y="1051560"/>
            <a:ext cx="5394960" cy="2971800"/>
          </a:xfrm>
          <a:prstGeom prst="roundRect">
            <a:avLst>
              <a:gd name="adj" fmla="val 1846"/>
            </a:avLst>
          </a:prstGeom>
          <a:solidFill>
            <a:srgbClr val="1E1E1E"/>
          </a:solidFill>
          <a:ln w="25400">
            <a:solidFill>
              <a:srgbClr val="2B2B2B"/>
            </a:solidFill>
            <a:prstDash val="solid"/>
          </a:ln>
        </p:spPr>
      </p:sp>
      <p:sp>
        <p:nvSpPr>
          <p:cNvPr id="5" name="Text 3"/>
          <p:cNvSpPr txBox="1"/>
          <p:nvPr/>
        </p:nvSpPr>
        <p:spPr>
          <a:xfrm>
            <a:off x="576072" y="1124712"/>
            <a:ext cx="5120640" cy="2825496"/>
          </a:xfrm>
          <a:prstGeom prst="rect">
            <a:avLst/>
          </a:prstGeom>
          <a:noFill/>
          <a:ln/>
        </p:spPr>
        <p:txBody>
          <a:bodyPr wrap="square" lIns="0" tIns="0" rIns="0" bIns="0" rtlCol="0" anchor="ctr"/>
          <a:lstStyle/>
          <a:p>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function</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keyPressed</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C586C0"/>
                </a:solidFill>
                <a:latin typeface="Courier New" pitchFamily="34" charset="0"/>
                <a:ea typeface="Courier New" pitchFamily="34" charset="-122"/>
                <a:cs typeface="Courier New" pitchFamily="34" charset="-120"/>
              </a:rPr>
              <a:t>if</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key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CE9178"/>
                </a:solidFill>
                <a:latin typeface="Courier New" pitchFamily="34" charset="0"/>
                <a:ea typeface="Courier New" pitchFamily="34" charset="-122"/>
                <a:cs typeface="Courier New" pitchFamily="34" charset="-120"/>
              </a:rPr>
              <a:t>"a"</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rocks</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rocks</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1</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C586C0"/>
                </a:solidFill>
                <a:latin typeface="Courier New" pitchFamily="34" charset="0"/>
                <a:ea typeface="Courier New" pitchFamily="34" charset="-122"/>
                <a:cs typeface="Courier New" pitchFamily="34" charset="-120"/>
              </a:rPr>
              <a:t>if</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key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CE9178"/>
                </a:solidFill>
                <a:latin typeface="Courier New" pitchFamily="34" charset="0"/>
                <a:ea typeface="Courier New" pitchFamily="34" charset="-122"/>
                <a:cs typeface="Courier New" pitchFamily="34" charset="-120"/>
              </a:rPr>
              <a:t>"d"</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&amp;&amp;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rocks</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b="1" dirty="0">
                <a:solidFill>
                  <a:srgbClr val="F4C430"/>
                </a:solidFill>
                <a:latin typeface="Courier New" pitchFamily="34" charset="0"/>
                <a:ea typeface="Courier New" pitchFamily="34" charset="-122"/>
                <a:cs typeface="Courier New" pitchFamily="34" charset="-120"/>
              </a:rPr>
              <a:t>___</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rocks</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rocks</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1</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p:txBody>
      </p:sp>
      <p:sp>
        <p:nvSpPr>
          <p:cNvPr id="6" name="Shape 4"/>
          <p:cNvSpPr/>
          <p:nvPr/>
        </p:nvSpPr>
        <p:spPr>
          <a:xfrm>
            <a:off x="6144768" y="1115568"/>
            <a:ext cx="2651760" cy="2971800"/>
          </a:xfrm>
          <a:prstGeom prst="roundRect">
            <a:avLst>
              <a:gd name="adj" fmla="val 2759"/>
            </a:avLst>
          </a:prstGeom>
          <a:solidFill>
            <a:srgbClr val="2B2B2B"/>
          </a:solidFill>
          <a:ln w="12700">
            <a:solidFill>
              <a:srgbClr val="2B2B2B"/>
            </a:solidFill>
            <a:prstDash val="solid"/>
          </a:ln>
        </p:spPr>
      </p:sp>
      <p:sp>
        <p:nvSpPr>
          <p:cNvPr id="7" name="Shape 5"/>
          <p:cNvSpPr/>
          <p:nvPr/>
        </p:nvSpPr>
        <p:spPr>
          <a:xfrm>
            <a:off x="6080760" y="1051560"/>
            <a:ext cx="2651760" cy="2971800"/>
          </a:xfrm>
          <a:prstGeom prst="roundRect">
            <a:avLst>
              <a:gd name="adj" fmla="val 2759"/>
            </a:avLst>
          </a:prstGeom>
          <a:solidFill>
            <a:srgbClr val="FFFFFF"/>
          </a:solidFill>
          <a:ln w="25400">
            <a:solidFill>
              <a:srgbClr val="2B2B2B"/>
            </a:solidFill>
            <a:prstDash val="solid"/>
          </a:ln>
        </p:spPr>
      </p:sp>
      <p:sp>
        <p:nvSpPr>
          <p:cNvPr id="8" name="Text 6"/>
          <p:cNvSpPr txBox="1"/>
          <p:nvPr/>
        </p:nvSpPr>
        <p:spPr>
          <a:xfrm>
            <a:off x="6217920" y="1143000"/>
            <a:ext cx="2377440" cy="2788920"/>
          </a:xfrm>
          <a:prstGeom prst="rect">
            <a:avLst/>
          </a:prstGeom>
          <a:noFill/>
          <a:ln/>
        </p:spPr>
        <p:txBody>
          <a:bodyPr wrap="square" lIns="0" tIns="0" rIns="0" bIns="0" rtlCol="0" anchor="t"/>
          <a:lstStyle/>
          <a:p>
            <a:pPr indent="0" marL="0">
              <a:spcAft>
                <a:spcPts val="600"/>
              </a:spcAft>
              <a:buNone/>
            </a:pPr>
            <a:r>
              <a:rPr lang="en-US" sz="1600" b="1" dirty="0">
                <a:solidFill>
                  <a:srgbClr val="5C4A12"/>
                </a:solidFill>
                <a:latin typeface="Courier New" pitchFamily="34" charset="0"/>
                <a:ea typeface="Courier New" pitchFamily="34" charset="-122"/>
                <a:cs typeface="Courier New" pitchFamily="34" charset="-120"/>
              </a:rPr>
              <a:t>STEPS</a:t>
            </a:r>
            <a:endParaRPr lang="en-US" sz="1600" dirty="0"/>
          </a:p>
          <a:p>
            <a:pPr indent="0" marL="0">
              <a:spcAft>
                <a:spcPts val="600"/>
              </a:spcAft>
              <a:buNone/>
            </a:pPr>
            <a:r>
              <a:rPr lang="en-US" sz="2000" b="1" dirty="0">
                <a:solidFill>
                  <a:srgbClr val="5C4A12"/>
                </a:solidFill>
                <a:latin typeface="Calibri" pitchFamily="34" charset="0"/>
                <a:ea typeface="Calibri" pitchFamily="34" charset="-122"/>
                <a:cs typeface="Calibri" pitchFamily="34" charset="-120"/>
              </a:rPr>
              <a:t>1.  </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Switch on the a if.</a:t>
            </a:r>
            <a:endParaRPr lang="en-US" sz="1600" dirty="0"/>
          </a:p>
          <a:p>
            <a:pPr indent="0" marL="0">
              <a:spcAft>
                <a:spcPts val="600"/>
              </a:spcAft>
              <a:buNone/>
            </a:pPr>
            <a:r>
              <a:rPr lang="en-US" sz="2000" b="1" dirty="0">
                <a:solidFill>
                  <a:srgbClr val="5C4A12"/>
                </a:solidFill>
                <a:latin typeface="Calibri" pitchFamily="34" charset="0"/>
                <a:ea typeface="Calibri" pitchFamily="34" charset="-122"/>
                <a:cs typeface="Calibri" pitchFamily="34" charset="-120"/>
              </a:rPr>
              <a:t>2.  </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Switch on the d if. Never below 0.</a:t>
            </a:r>
            <a:endParaRPr lang="en-US" sz="1600" dirty="0"/>
          </a:p>
          <a:p>
            <a:pPr indent="0" marL="0">
              <a:spcAft>
                <a:spcPts val="600"/>
              </a:spcAft>
              <a:buNone/>
            </a:pPr>
            <a:r>
              <a:rPr lang="en-US" sz="2000" b="1" dirty="0">
                <a:solidFill>
                  <a:srgbClr val="5C4A12"/>
                </a:solidFill>
                <a:latin typeface="Calibri" pitchFamily="34" charset="0"/>
                <a:ea typeface="Calibri" pitchFamily="34" charset="-122"/>
                <a:cs typeface="Calibri" pitchFamily="34" charset="-120"/>
              </a:rPr>
              <a:t>3.  </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Click the canvas. Press a and d.</a:t>
            </a:r>
            <a:endParaRPr lang="en-US" sz="1600" dirty="0"/>
          </a:p>
        </p:txBody>
      </p:sp>
      <p:sp>
        <p:nvSpPr>
          <p:cNvPr id="9" name="Shape 7"/>
          <p:cNvSpPr/>
          <p:nvPr/>
        </p:nvSpPr>
        <p:spPr>
          <a:xfrm>
            <a:off x="475488" y="4270248"/>
            <a:ext cx="8321040" cy="548640"/>
          </a:xfrm>
          <a:prstGeom prst="roundRect">
            <a:avLst>
              <a:gd name="adj" fmla="val 13333"/>
            </a:avLst>
          </a:prstGeom>
          <a:solidFill>
            <a:srgbClr val="2B2B2B"/>
          </a:solidFill>
          <a:ln w="12700">
            <a:solidFill>
              <a:srgbClr val="2B2B2B"/>
            </a:solidFill>
            <a:prstDash val="solid"/>
          </a:ln>
        </p:spPr>
      </p:sp>
      <p:sp>
        <p:nvSpPr>
          <p:cNvPr id="10" name="Shape 8"/>
          <p:cNvSpPr/>
          <p:nvPr/>
        </p:nvSpPr>
        <p:spPr>
          <a:xfrm>
            <a:off x="411480" y="4206240"/>
            <a:ext cx="8321040" cy="548640"/>
          </a:xfrm>
          <a:prstGeom prst="roundRect">
            <a:avLst>
              <a:gd name="adj" fmla="val 13333"/>
            </a:avLst>
          </a:prstGeom>
          <a:solidFill>
            <a:srgbClr val="FFFFFF"/>
          </a:solidFill>
          <a:ln w="25400">
            <a:solidFill>
              <a:srgbClr val="2B2B2B"/>
            </a:solidFill>
            <a:prstDash val="solid"/>
          </a:ln>
        </p:spPr>
      </p:sp>
      <p:sp>
        <p:nvSpPr>
          <p:cNvPr id="11" name="Text 9"/>
          <p:cNvSpPr txBox="1"/>
          <p:nvPr/>
        </p:nvSpPr>
        <p:spPr>
          <a:xfrm>
            <a:off x="576072" y="4297680"/>
            <a:ext cx="7991856" cy="365760"/>
          </a:xfrm>
          <a:prstGeom prst="rect">
            <a:avLst/>
          </a:prstGeom>
          <a:noFill/>
          <a:ln/>
        </p:spPr>
        <p:txBody>
          <a:bodyPr wrap="square" lIns="0" tIns="0" rIns="0" bIns="0" rtlCol="0" anchor="ctr"/>
          <a:lstStyle/>
          <a:p>
            <a:pPr indent="0" marL="0">
              <a:spcAft>
                <a:spcPts val="600"/>
              </a:spcAft>
              <a:buNone/>
            </a:pPr>
            <a:r>
              <a:rPr lang="en-US" sz="2000" dirty="0">
                <a:solidFill>
                  <a:srgbClr val="2B2B2B"/>
                </a:solidFill>
                <a:latin typeface="Calibri" pitchFamily="34" charset="0"/>
                <a:ea typeface="Calibri" pitchFamily="34" charset="-122"/>
                <a:cs typeface="Calibri" pitchFamily="34" charset="-120"/>
              </a:rPr>
              <a:t>No loop here, just if. It works because TODO 2 says </a:t>
            </a:r>
            <a:pPr indent="0" marL="0">
              <a:spcAft>
                <a:spcPts val="600"/>
              </a:spcAft>
              <a:buNone/>
            </a:pPr>
            <a:r>
              <a:rPr lang="en-US" sz="2000" b="1" dirty="0">
                <a:solidFill>
                  <a:srgbClr val="2B2B2B"/>
                </a:solidFill>
                <a:latin typeface="Courier New" pitchFamily="34" charset="0"/>
                <a:ea typeface="Courier New" pitchFamily="34" charset="-122"/>
                <a:cs typeface="Courier New" pitchFamily="34" charset="-120"/>
              </a:rPr>
              <a:t>i &lt; rocks</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a:t>
            </a:r>
            <a:endParaRPr lang="en-US" sz="20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TODO 5 · three shield rings</a:t>
            </a:r>
            <a:endParaRPr lang="en-US" sz="3200" dirty="0"/>
          </a:p>
        </p:txBody>
      </p:sp>
      <p:sp>
        <p:nvSpPr>
          <p:cNvPr id="3" name="Text 1"/>
          <p:cNvSpPr txBox="1"/>
          <p:nvPr/>
        </p:nvSpPr>
        <p:spPr>
          <a:xfrm>
            <a:off x="411480" y="960120"/>
            <a:ext cx="3291840" cy="274320"/>
          </a:xfrm>
          <a:prstGeom prst="rect">
            <a:avLst/>
          </a:prstGeom>
          <a:noFill/>
          <a:ln/>
        </p:spPr>
        <p:txBody>
          <a:bodyPr wrap="square" lIns="0" tIns="0" rIns="0" bIns="0" rtlCol="0" anchor="ctr"/>
          <a:lstStyle/>
          <a:p>
            <a:pPr indent="0" marL="0">
              <a:buNone/>
            </a:pPr>
            <a:r>
              <a:rPr lang="en-US" sz="1600" b="1" dirty="0">
                <a:solidFill>
                  <a:srgbClr val="5C4A12"/>
                </a:solidFill>
                <a:latin typeface="Courier New" pitchFamily="34" charset="0"/>
                <a:ea typeface="Courier New" pitchFamily="34" charset="-122"/>
                <a:cs typeface="Courier New" pitchFamily="34" charset="-120"/>
              </a:rPr>
              <a:t>AP EXAM VERSION</a:t>
            </a:r>
            <a:endParaRPr lang="en-US" sz="1600" dirty="0"/>
          </a:p>
        </p:txBody>
      </p:sp>
      <p:sp>
        <p:nvSpPr>
          <p:cNvPr id="4" name="Shape 2"/>
          <p:cNvSpPr/>
          <p:nvPr/>
        </p:nvSpPr>
        <p:spPr>
          <a:xfrm>
            <a:off x="475488" y="1325880"/>
            <a:ext cx="3291840" cy="1965960"/>
          </a:xfrm>
          <a:prstGeom prst="roundRect">
            <a:avLst>
              <a:gd name="adj" fmla="val 2791"/>
            </a:avLst>
          </a:prstGeom>
          <a:solidFill>
            <a:srgbClr val="2B2B2B"/>
          </a:solidFill>
          <a:ln w="12700">
            <a:solidFill>
              <a:srgbClr val="2B2B2B"/>
            </a:solidFill>
            <a:prstDash val="solid"/>
          </a:ln>
        </p:spPr>
      </p:sp>
      <p:sp>
        <p:nvSpPr>
          <p:cNvPr id="5" name="Shape 3"/>
          <p:cNvSpPr/>
          <p:nvPr/>
        </p:nvSpPr>
        <p:spPr>
          <a:xfrm>
            <a:off x="411480" y="1261872"/>
            <a:ext cx="3291840" cy="1965960"/>
          </a:xfrm>
          <a:prstGeom prst="roundRect">
            <a:avLst>
              <a:gd name="adj" fmla="val 2791"/>
            </a:avLst>
          </a:prstGeom>
          <a:solidFill>
            <a:srgbClr val="1E1E1E"/>
          </a:solidFill>
          <a:ln w="25400">
            <a:solidFill>
              <a:srgbClr val="2B2B2B"/>
            </a:solidFill>
            <a:prstDash val="solid"/>
          </a:ln>
        </p:spPr>
      </p:sp>
      <p:sp>
        <p:nvSpPr>
          <p:cNvPr id="6" name="Text 4"/>
          <p:cNvSpPr txBox="1"/>
          <p:nvPr/>
        </p:nvSpPr>
        <p:spPr>
          <a:xfrm>
            <a:off x="576072" y="1335024"/>
            <a:ext cx="3017520" cy="1819656"/>
          </a:xfrm>
          <a:prstGeom prst="rect">
            <a:avLst/>
          </a:prstGeom>
          <a:noFill/>
          <a:ln/>
        </p:spPr>
        <p:txBody>
          <a:bodyPr wrap="square" lIns="0" tIns="0" rIns="0" bIns="0" rtlCol="0" anchor="t"/>
          <a:lstStyle/>
          <a:p>
            <a:pPr indent="0" marL="0">
              <a:lnSpc>
                <a:spcPct val="105000"/>
              </a:lnSpc>
              <a:buNone/>
            </a:pPr>
            <a:r>
              <a:rPr lang="en-US" sz="1800" dirty="0">
                <a:solidFill>
                  <a:srgbClr val="F4E4A8"/>
                </a:solidFill>
                <a:latin typeface="Courier New" pitchFamily="34" charset="0"/>
                <a:ea typeface="Courier New" pitchFamily="34" charset="-122"/>
                <a:cs typeface="Courier New" pitchFamily="34" charset="-120"/>
              </a:rPr>
              <a:t>d ← 60</a:t>
            </a:r>
            <a:endParaRPr lang="en-US" sz="1800" dirty="0"/>
          </a:p>
          <a:p>
            <a:pPr indent="0" marL="0">
              <a:lnSpc>
                <a:spcPct val="105000"/>
              </a:lnSpc>
              <a:buNone/>
            </a:pPr>
            <a:r>
              <a:rPr lang="en-US" sz="1800" dirty="0">
                <a:solidFill>
                  <a:srgbClr val="F4E4A8"/>
                </a:solidFill>
                <a:latin typeface="Courier New" pitchFamily="34" charset="0"/>
                <a:ea typeface="Courier New" pitchFamily="34" charset="-122"/>
                <a:cs typeface="Courier New" pitchFamily="34" charset="-120"/>
              </a:rPr>
              <a:t>REPEAT 3 TIMES</a:t>
            </a:r>
            <a:endParaRPr lang="en-US" sz="1800" dirty="0"/>
          </a:p>
          <a:p>
            <a:pPr indent="0" marL="0">
              <a:lnSpc>
                <a:spcPct val="105000"/>
              </a:lnSpc>
              <a:buNone/>
            </a:pPr>
            <a:r>
              <a:rPr lang="en-US" sz="1800" dirty="0">
                <a:solidFill>
                  <a:srgbClr val="F4E4A8"/>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F4E4A8"/>
                </a:solidFill>
                <a:latin typeface="Courier New" pitchFamily="34" charset="0"/>
                <a:ea typeface="Courier New" pitchFamily="34" charset="-122"/>
                <a:cs typeface="Courier New" pitchFamily="34" charset="-120"/>
              </a:rPr>
              <a:t>  circle d around ship</a:t>
            </a:r>
            <a:endParaRPr lang="en-US" sz="1800" dirty="0"/>
          </a:p>
          <a:p>
            <a:pPr indent="0" marL="0">
              <a:lnSpc>
                <a:spcPct val="105000"/>
              </a:lnSpc>
              <a:buNone/>
            </a:pPr>
            <a:r>
              <a:rPr lang="en-US" sz="1800" dirty="0">
                <a:solidFill>
                  <a:srgbClr val="F4E4A8"/>
                </a:solidFill>
                <a:latin typeface="Courier New" pitchFamily="34" charset="0"/>
                <a:ea typeface="Courier New" pitchFamily="34" charset="-122"/>
                <a:cs typeface="Courier New" pitchFamily="34" charset="-120"/>
              </a:rPr>
              <a:t>  d ← d + 30</a:t>
            </a:r>
            <a:endParaRPr lang="en-US" sz="1800" dirty="0"/>
          </a:p>
          <a:p>
            <a:pPr indent="0" marL="0">
              <a:lnSpc>
                <a:spcPct val="105000"/>
              </a:lnSpc>
              <a:buNone/>
            </a:pPr>
            <a:r>
              <a:rPr lang="en-US" sz="1800" dirty="0">
                <a:solidFill>
                  <a:srgbClr val="F4E4A8"/>
                </a:solidFill>
                <a:latin typeface="Courier New" pitchFamily="34" charset="0"/>
                <a:ea typeface="Courier New" pitchFamily="34" charset="-122"/>
                <a:cs typeface="Courier New" pitchFamily="34" charset="-120"/>
              </a:rPr>
              <a:t>}</a:t>
            </a:r>
            <a:endParaRPr lang="en-US" sz="1800" dirty="0"/>
          </a:p>
        </p:txBody>
      </p:sp>
      <p:sp>
        <p:nvSpPr>
          <p:cNvPr id="7" name="Text 5"/>
          <p:cNvSpPr txBox="1"/>
          <p:nvPr/>
        </p:nvSpPr>
        <p:spPr>
          <a:xfrm>
            <a:off x="3977640" y="960120"/>
            <a:ext cx="4754880" cy="274320"/>
          </a:xfrm>
          <a:prstGeom prst="rect">
            <a:avLst/>
          </a:prstGeom>
          <a:noFill/>
          <a:ln/>
        </p:spPr>
        <p:txBody>
          <a:bodyPr wrap="square" lIns="0" tIns="0" rIns="0" bIns="0" rtlCol="0" anchor="ctr"/>
          <a:lstStyle/>
          <a:p>
            <a:pPr indent="0" marL="0">
              <a:buNone/>
            </a:pPr>
            <a:r>
              <a:rPr lang="en-US" sz="1600" b="1" dirty="0">
                <a:solidFill>
                  <a:srgbClr val="5C4A12"/>
                </a:solidFill>
                <a:latin typeface="Courier New" pitchFamily="34" charset="0"/>
                <a:ea typeface="Courier New" pitchFamily="34" charset="-122"/>
                <a:cs typeface="Courier New" pitchFamily="34" charset="-120"/>
              </a:rPr>
              <a:t>JAVASCRIPT</a:t>
            </a:r>
            <a:endParaRPr lang="en-US" sz="1600" dirty="0"/>
          </a:p>
        </p:txBody>
      </p:sp>
      <p:sp>
        <p:nvSpPr>
          <p:cNvPr id="8" name="Shape 6"/>
          <p:cNvSpPr/>
          <p:nvPr/>
        </p:nvSpPr>
        <p:spPr>
          <a:xfrm>
            <a:off x="4041648" y="1325880"/>
            <a:ext cx="4754880" cy="1965960"/>
          </a:xfrm>
          <a:prstGeom prst="roundRect">
            <a:avLst>
              <a:gd name="adj" fmla="val 2791"/>
            </a:avLst>
          </a:prstGeom>
          <a:solidFill>
            <a:srgbClr val="2B2B2B"/>
          </a:solidFill>
          <a:ln w="12700">
            <a:solidFill>
              <a:srgbClr val="2B2B2B"/>
            </a:solidFill>
            <a:prstDash val="solid"/>
          </a:ln>
        </p:spPr>
      </p:sp>
      <p:sp>
        <p:nvSpPr>
          <p:cNvPr id="9" name="Shape 7"/>
          <p:cNvSpPr/>
          <p:nvPr/>
        </p:nvSpPr>
        <p:spPr>
          <a:xfrm>
            <a:off x="3977640" y="1261872"/>
            <a:ext cx="4754880" cy="1965960"/>
          </a:xfrm>
          <a:prstGeom prst="roundRect">
            <a:avLst>
              <a:gd name="adj" fmla="val 2791"/>
            </a:avLst>
          </a:prstGeom>
          <a:solidFill>
            <a:srgbClr val="1E1E1E"/>
          </a:solidFill>
          <a:ln w="25400">
            <a:solidFill>
              <a:srgbClr val="2B2B2B"/>
            </a:solidFill>
            <a:prstDash val="solid"/>
          </a:ln>
        </p:spPr>
      </p:sp>
      <p:sp>
        <p:nvSpPr>
          <p:cNvPr id="10" name="Text 8"/>
          <p:cNvSpPr txBox="1"/>
          <p:nvPr/>
        </p:nvSpPr>
        <p:spPr>
          <a:xfrm>
            <a:off x="4142232" y="1335024"/>
            <a:ext cx="4480560" cy="1819656"/>
          </a:xfrm>
          <a:prstGeom prst="rect">
            <a:avLst/>
          </a:prstGeom>
          <a:noFill/>
          <a:ln/>
        </p:spPr>
        <p:txBody>
          <a:bodyPr wrap="square" lIns="0" tIns="0" rIns="0" bIns="0" rtlCol="0" anchor="ctr"/>
          <a:lstStyle/>
          <a:p>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d</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60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C586C0"/>
                </a:solidFill>
                <a:latin typeface="Courier New" pitchFamily="34" charset="0"/>
                <a:ea typeface="Courier New" pitchFamily="34" charset="-122"/>
                <a:cs typeface="Courier New" pitchFamily="34" charset="-120"/>
              </a:rPr>
              <a:t>for</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&lt; </a:t>
            </a:r>
            <a:pPr indent="0" marL="0">
              <a:lnSpc>
                <a:spcPct val="105000"/>
              </a:lnSpc>
              <a:buNone/>
            </a:pPr>
            <a:r>
              <a:rPr lang="en-US" sz="1800" b="1" dirty="0">
                <a:solidFill>
                  <a:srgbClr val="F4C430"/>
                </a:solidFill>
                <a:latin typeface="Courier New" pitchFamily="34" charset="0"/>
                <a:ea typeface="Courier New" pitchFamily="34" charset="-122"/>
                <a:cs typeface="Courier New" pitchFamily="34" charset="-120"/>
              </a:rPr>
              <a:t>___</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circle</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shipX</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SHIP_Y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d</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d</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d</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b="1" dirty="0">
                <a:solidFill>
                  <a:srgbClr val="F4C430"/>
                </a:solidFill>
                <a:latin typeface="Courier New" pitchFamily="34" charset="0"/>
                <a:ea typeface="Courier New" pitchFamily="34" charset="-122"/>
                <a:cs typeface="Courier New" pitchFamily="34" charset="-120"/>
              </a:rPr>
              <a:t>___</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p:txBody>
      </p:sp>
      <p:sp>
        <p:nvSpPr>
          <p:cNvPr id="11" name="Shape 9"/>
          <p:cNvSpPr/>
          <p:nvPr/>
        </p:nvSpPr>
        <p:spPr>
          <a:xfrm>
            <a:off x="475488" y="3584448"/>
            <a:ext cx="2651760" cy="1188720"/>
          </a:xfrm>
          <a:prstGeom prst="roundRect">
            <a:avLst>
              <a:gd name="adj" fmla="val 6154"/>
            </a:avLst>
          </a:prstGeom>
          <a:solidFill>
            <a:srgbClr val="2B2B2B"/>
          </a:solidFill>
          <a:ln w="12700">
            <a:solidFill>
              <a:srgbClr val="2B2B2B"/>
            </a:solidFill>
            <a:prstDash val="solid"/>
          </a:ln>
        </p:spPr>
      </p:sp>
      <p:sp>
        <p:nvSpPr>
          <p:cNvPr id="12" name="Shape 10"/>
          <p:cNvSpPr/>
          <p:nvPr/>
        </p:nvSpPr>
        <p:spPr>
          <a:xfrm>
            <a:off x="411480" y="3520440"/>
            <a:ext cx="2651760" cy="1188720"/>
          </a:xfrm>
          <a:prstGeom prst="roundRect">
            <a:avLst>
              <a:gd name="adj" fmla="val 6154"/>
            </a:avLst>
          </a:prstGeom>
          <a:solidFill>
            <a:srgbClr val="FFFFFF"/>
          </a:solidFill>
          <a:ln w="25400">
            <a:solidFill>
              <a:srgbClr val="2B2B2B"/>
            </a:solidFill>
            <a:prstDash val="solid"/>
          </a:ln>
        </p:spPr>
      </p:sp>
      <p:sp>
        <p:nvSpPr>
          <p:cNvPr id="13" name="Text 11"/>
          <p:cNvSpPr txBox="1"/>
          <p:nvPr/>
        </p:nvSpPr>
        <p:spPr>
          <a:xfrm>
            <a:off x="576072" y="3611880"/>
            <a:ext cx="2322576" cy="1005840"/>
          </a:xfrm>
          <a:prstGeom prst="rect">
            <a:avLst/>
          </a:prstGeom>
          <a:noFill/>
          <a:ln/>
        </p:spPr>
        <p:txBody>
          <a:bodyPr wrap="square" lIns="0" tIns="0" rIns="0" bIns="0" rtlCol="0" anchor="t"/>
          <a:lstStyle/>
          <a:p>
            <a:pPr indent="0" marL="0">
              <a:spcAft>
                <a:spcPts val="400"/>
              </a:spcAft>
              <a:buNone/>
            </a:pPr>
            <a:r>
              <a:rPr lang="en-US" sz="1600" b="1" dirty="0">
                <a:solidFill>
                  <a:srgbClr val="5C4A12"/>
                </a:solidFill>
                <a:latin typeface="Courier New" pitchFamily="34" charset="0"/>
                <a:ea typeface="Courier New" pitchFamily="34" charset="-122"/>
                <a:cs typeface="Courier New" pitchFamily="34" charset="-120"/>
              </a:rPr>
              <a:t>STEP 1</a:t>
            </a:r>
            <a:endParaRPr lang="en-US" sz="1600" dirty="0"/>
          </a:p>
          <a:p>
            <a:pPr indent="0" marL="0">
              <a:spcAft>
                <a:spcPts val="600"/>
              </a:spcAft>
              <a:buNone/>
            </a:pPr>
            <a:r>
              <a:rPr lang="en-US" sz="2000" b="1" dirty="0">
                <a:solidFill>
                  <a:srgbClr val="2B2B2B"/>
                </a:solidFill>
                <a:latin typeface="Courier New" pitchFamily="34" charset="0"/>
                <a:ea typeface="Courier New" pitchFamily="34" charset="-122"/>
                <a:cs typeface="Courier New" pitchFamily="34" charset="-120"/>
              </a:rPr>
              <a:t>let d = 60;</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 goes BEFORE the loop.</a:t>
            </a:r>
            <a:endParaRPr lang="en-US" sz="1600" dirty="0"/>
          </a:p>
        </p:txBody>
      </p:sp>
      <p:sp>
        <p:nvSpPr>
          <p:cNvPr id="14" name="Shape 12"/>
          <p:cNvSpPr/>
          <p:nvPr/>
        </p:nvSpPr>
        <p:spPr>
          <a:xfrm>
            <a:off x="3282696" y="3584448"/>
            <a:ext cx="2651760" cy="1188720"/>
          </a:xfrm>
          <a:prstGeom prst="roundRect">
            <a:avLst>
              <a:gd name="adj" fmla="val 6154"/>
            </a:avLst>
          </a:prstGeom>
          <a:solidFill>
            <a:srgbClr val="2B2B2B"/>
          </a:solidFill>
          <a:ln w="12700">
            <a:solidFill>
              <a:srgbClr val="2B2B2B"/>
            </a:solidFill>
            <a:prstDash val="solid"/>
          </a:ln>
        </p:spPr>
      </p:sp>
      <p:sp>
        <p:nvSpPr>
          <p:cNvPr id="15" name="Shape 13"/>
          <p:cNvSpPr/>
          <p:nvPr/>
        </p:nvSpPr>
        <p:spPr>
          <a:xfrm>
            <a:off x="3218688" y="3520440"/>
            <a:ext cx="2651760" cy="1188720"/>
          </a:xfrm>
          <a:prstGeom prst="roundRect">
            <a:avLst>
              <a:gd name="adj" fmla="val 6154"/>
            </a:avLst>
          </a:prstGeom>
          <a:solidFill>
            <a:srgbClr val="FFFFFF"/>
          </a:solidFill>
          <a:ln w="25400">
            <a:solidFill>
              <a:srgbClr val="2B2B2B"/>
            </a:solidFill>
            <a:prstDash val="solid"/>
          </a:ln>
        </p:spPr>
      </p:sp>
      <p:sp>
        <p:nvSpPr>
          <p:cNvPr id="16" name="Text 14"/>
          <p:cNvSpPr txBox="1"/>
          <p:nvPr/>
        </p:nvSpPr>
        <p:spPr>
          <a:xfrm>
            <a:off x="3383280" y="3611880"/>
            <a:ext cx="2322576" cy="1005840"/>
          </a:xfrm>
          <a:prstGeom prst="rect">
            <a:avLst/>
          </a:prstGeom>
          <a:noFill/>
          <a:ln/>
        </p:spPr>
        <p:txBody>
          <a:bodyPr wrap="square" lIns="0" tIns="0" rIns="0" bIns="0" rtlCol="0" anchor="t"/>
          <a:lstStyle/>
          <a:p>
            <a:pPr indent="0" marL="0">
              <a:spcAft>
                <a:spcPts val="400"/>
              </a:spcAft>
              <a:buNone/>
            </a:pPr>
            <a:r>
              <a:rPr lang="en-US" sz="1600" b="1" dirty="0">
                <a:solidFill>
                  <a:srgbClr val="5C4A12"/>
                </a:solidFill>
                <a:latin typeface="Courier New" pitchFamily="34" charset="0"/>
                <a:ea typeface="Courier New" pitchFamily="34" charset="-122"/>
                <a:cs typeface="Courier New" pitchFamily="34" charset="-120"/>
              </a:rPr>
              <a:t>STEP 2</a:t>
            </a:r>
            <a:endParaRPr lang="en-US" sz="1600" dirty="0"/>
          </a:p>
          <a:p>
            <a:pPr indent="0" marL="0">
              <a:spcAft>
                <a:spcPts val="600"/>
              </a:spcAft>
              <a:buNone/>
            </a:pPr>
            <a:r>
              <a:rPr lang="en-US" sz="2000" dirty="0">
                <a:solidFill>
                  <a:srgbClr val="2B2B2B"/>
                </a:solidFill>
                <a:latin typeface="Calibri" pitchFamily="34" charset="0"/>
                <a:ea typeface="Calibri" pitchFamily="34" charset="-122"/>
                <a:cs typeface="Calibri" pitchFamily="34" charset="-120"/>
              </a:rPr>
              <a:t>Blank 1: </a:t>
            </a:r>
            <a:pPr indent="0" marL="0">
              <a:spcAft>
                <a:spcPts val="600"/>
              </a:spcAft>
              <a:buNone/>
            </a:pPr>
            <a:r>
              <a:rPr lang="en-US" sz="2000" b="1" dirty="0">
                <a:solidFill>
                  <a:srgbClr val="2B2B2B"/>
                </a:solidFill>
                <a:latin typeface="Calibri" pitchFamily="34" charset="0"/>
                <a:ea typeface="Calibri" pitchFamily="34" charset="-122"/>
                <a:cs typeface="Calibri" pitchFamily="34" charset="-120"/>
              </a:rPr>
              <a:t>3</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 times. Blank 2: </a:t>
            </a:r>
            <a:pPr indent="0" marL="0">
              <a:spcAft>
                <a:spcPts val="600"/>
              </a:spcAft>
              <a:buNone/>
            </a:pPr>
            <a:r>
              <a:rPr lang="en-US" sz="2000" b="1" dirty="0">
                <a:solidFill>
                  <a:srgbClr val="2B2B2B"/>
                </a:solidFill>
                <a:latin typeface="Calibri" pitchFamily="34" charset="0"/>
                <a:ea typeface="Calibri" pitchFamily="34" charset="-122"/>
                <a:cs typeface="Calibri" pitchFamily="34" charset="-120"/>
              </a:rPr>
              <a:t>30</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6089904" y="3584448"/>
            <a:ext cx="2651760" cy="1188720"/>
          </a:xfrm>
          <a:prstGeom prst="roundRect">
            <a:avLst>
              <a:gd name="adj" fmla="val 6154"/>
            </a:avLst>
          </a:prstGeom>
          <a:solidFill>
            <a:srgbClr val="2B2B2B"/>
          </a:solidFill>
          <a:ln w="12700">
            <a:solidFill>
              <a:srgbClr val="2B2B2B"/>
            </a:solidFill>
            <a:prstDash val="solid"/>
          </a:ln>
        </p:spPr>
      </p:sp>
      <p:sp>
        <p:nvSpPr>
          <p:cNvPr id="18" name="Shape 16"/>
          <p:cNvSpPr/>
          <p:nvPr/>
        </p:nvSpPr>
        <p:spPr>
          <a:xfrm>
            <a:off x="6025896" y="3520440"/>
            <a:ext cx="2651760" cy="1188720"/>
          </a:xfrm>
          <a:prstGeom prst="roundRect">
            <a:avLst>
              <a:gd name="adj" fmla="val 6154"/>
            </a:avLst>
          </a:prstGeom>
          <a:solidFill>
            <a:srgbClr val="FFFFFF"/>
          </a:solidFill>
          <a:ln w="25400">
            <a:solidFill>
              <a:srgbClr val="2B2B2B"/>
            </a:solidFill>
            <a:prstDash val="solid"/>
          </a:ln>
        </p:spPr>
      </p:sp>
      <p:sp>
        <p:nvSpPr>
          <p:cNvPr id="19" name="Text 17"/>
          <p:cNvSpPr txBox="1"/>
          <p:nvPr/>
        </p:nvSpPr>
        <p:spPr>
          <a:xfrm>
            <a:off x="6190488" y="3611880"/>
            <a:ext cx="2322576" cy="1005840"/>
          </a:xfrm>
          <a:prstGeom prst="rect">
            <a:avLst/>
          </a:prstGeom>
          <a:noFill/>
          <a:ln/>
        </p:spPr>
        <p:txBody>
          <a:bodyPr wrap="square" lIns="0" tIns="0" rIns="0" bIns="0" rtlCol="0" anchor="t"/>
          <a:lstStyle/>
          <a:p>
            <a:pPr indent="0" marL="0">
              <a:spcAft>
                <a:spcPts val="400"/>
              </a:spcAft>
              <a:buNone/>
            </a:pPr>
            <a:r>
              <a:rPr lang="en-US" sz="1600" b="1" dirty="0">
                <a:solidFill>
                  <a:srgbClr val="5C4A12"/>
                </a:solidFill>
                <a:latin typeface="Courier New" pitchFamily="34" charset="0"/>
                <a:ea typeface="Courier New" pitchFamily="34" charset="-122"/>
                <a:cs typeface="Courier New" pitchFamily="34" charset="-120"/>
              </a:rPr>
              <a:t>STEP 3</a:t>
            </a:r>
            <a:endParaRPr lang="en-US" sz="1600" dirty="0"/>
          </a:p>
          <a:p>
            <a:pPr indent="0" marL="0">
              <a:spcAft>
                <a:spcPts val="600"/>
              </a:spcAft>
              <a:buNone/>
            </a:pPr>
            <a:r>
              <a:rPr lang="en-US" sz="2000" dirty="0">
                <a:solidFill>
                  <a:srgbClr val="2B2B2B"/>
                </a:solidFill>
                <a:latin typeface="Calibri" pitchFamily="34" charset="0"/>
                <a:ea typeface="Calibri" pitchFamily="34" charset="-122"/>
                <a:cs typeface="Calibri" pitchFamily="34" charset="-120"/>
              </a:rPr>
              <a:t>Run. Fly the ship. Do the rings follow?</a:t>
            </a:r>
            <a:endParaRPr lang="en-US" sz="16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TODO 5 · step 4: make it pulse</a:t>
            </a:r>
            <a:endParaRPr lang="en-US" sz="3200" dirty="0"/>
          </a:p>
        </p:txBody>
      </p:sp>
      <p:sp>
        <p:nvSpPr>
          <p:cNvPr id="3" name="Shape 1"/>
          <p:cNvSpPr/>
          <p:nvPr/>
        </p:nvSpPr>
        <p:spPr>
          <a:xfrm>
            <a:off x="475488" y="1115568"/>
            <a:ext cx="8321040" cy="777240"/>
          </a:xfrm>
          <a:prstGeom prst="roundRect">
            <a:avLst>
              <a:gd name="adj" fmla="val 7059"/>
            </a:avLst>
          </a:prstGeom>
          <a:solidFill>
            <a:srgbClr val="2B2B2B"/>
          </a:solidFill>
          <a:ln w="12700">
            <a:solidFill>
              <a:srgbClr val="2B2B2B"/>
            </a:solidFill>
            <a:prstDash val="solid"/>
          </a:ln>
        </p:spPr>
      </p:sp>
      <p:sp>
        <p:nvSpPr>
          <p:cNvPr id="4" name="Shape 2"/>
          <p:cNvSpPr/>
          <p:nvPr/>
        </p:nvSpPr>
        <p:spPr>
          <a:xfrm>
            <a:off x="411480" y="1051560"/>
            <a:ext cx="8321040" cy="777240"/>
          </a:xfrm>
          <a:prstGeom prst="roundRect">
            <a:avLst>
              <a:gd name="adj" fmla="val 7059"/>
            </a:avLst>
          </a:prstGeom>
          <a:solidFill>
            <a:srgbClr val="1E1E1E"/>
          </a:solidFill>
          <a:ln w="25400">
            <a:solidFill>
              <a:srgbClr val="2B2B2B"/>
            </a:solidFill>
            <a:prstDash val="solid"/>
          </a:ln>
        </p:spPr>
      </p:sp>
      <p:sp>
        <p:nvSpPr>
          <p:cNvPr id="5" name="Text 3"/>
          <p:cNvSpPr txBox="1"/>
          <p:nvPr/>
        </p:nvSpPr>
        <p:spPr>
          <a:xfrm>
            <a:off x="576072" y="1124712"/>
            <a:ext cx="8046720" cy="630936"/>
          </a:xfrm>
          <a:prstGeom prst="rect">
            <a:avLst/>
          </a:prstGeom>
          <a:noFill/>
          <a:ln/>
        </p:spPr>
        <p:txBody>
          <a:bodyPr wrap="square" lIns="0" tIns="0" rIns="0" bIns="0" rtlCol="0" anchor="ctr"/>
          <a:lstStyle/>
          <a:p>
            <a:pPr indent="0" marL="0">
              <a:lnSpc>
                <a:spcPct val="105000"/>
              </a:lnSpc>
              <a:buNone/>
            </a:pPr>
            <a:r>
              <a:rPr lang="en-US" sz="24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24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2400" dirty="0">
                <a:solidFill>
                  <a:srgbClr val="9CDCFE"/>
                </a:solidFill>
                <a:latin typeface="Courier New" pitchFamily="34" charset="0"/>
                <a:ea typeface="Courier New" pitchFamily="34" charset="-122"/>
                <a:cs typeface="Courier New" pitchFamily="34" charset="-120"/>
              </a:rPr>
              <a:t>d</a:t>
            </a:r>
            <a:pPr indent="0" marL="0">
              <a:lnSpc>
                <a:spcPct val="105000"/>
              </a:lnSpc>
              <a:buNone/>
            </a:pPr>
            <a:r>
              <a:rPr lang="en-US" sz="24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400" dirty="0">
                <a:solidFill>
                  <a:srgbClr val="B5CEA8"/>
                </a:solidFill>
                <a:latin typeface="Courier New" pitchFamily="34" charset="0"/>
                <a:ea typeface="Courier New" pitchFamily="34" charset="-122"/>
                <a:cs typeface="Courier New" pitchFamily="34" charset="-120"/>
              </a:rPr>
              <a:t>60</a:t>
            </a:r>
            <a:pPr indent="0" marL="0">
              <a:lnSpc>
                <a:spcPct val="105000"/>
              </a:lnSpc>
              <a:buNone/>
            </a:pPr>
            <a:r>
              <a:rPr lang="en-US" sz="24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400" dirty="0">
                <a:solidFill>
                  <a:srgbClr val="9CDCFE"/>
                </a:solidFill>
                <a:latin typeface="Courier New" pitchFamily="34" charset="0"/>
                <a:ea typeface="Courier New" pitchFamily="34" charset="-122"/>
                <a:cs typeface="Courier New" pitchFamily="34" charset="-120"/>
              </a:rPr>
              <a:t>frameCount</a:t>
            </a:r>
            <a:pPr indent="0" marL="0">
              <a:lnSpc>
                <a:spcPct val="105000"/>
              </a:lnSpc>
              <a:buNone/>
            </a:pPr>
            <a:r>
              <a:rPr lang="en-US" sz="24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2400" dirty="0">
                <a:solidFill>
                  <a:srgbClr val="B5CEA8"/>
                </a:solidFill>
                <a:latin typeface="Courier New" pitchFamily="34" charset="0"/>
                <a:ea typeface="Courier New" pitchFamily="34" charset="-122"/>
                <a:cs typeface="Courier New" pitchFamily="34" charset="-120"/>
              </a:rPr>
              <a:t>30</a:t>
            </a:r>
            <a:pPr indent="0" marL="0">
              <a:lnSpc>
                <a:spcPct val="105000"/>
              </a:lnSpc>
              <a:buNone/>
            </a:pPr>
            <a:r>
              <a:rPr lang="en-US" sz="2400" dirty="0">
                <a:solidFill>
                  <a:srgbClr val="D4D4D4"/>
                </a:solidFill>
                <a:latin typeface="Courier New" pitchFamily="34" charset="0"/>
                <a:ea typeface="Courier New" pitchFamily="34" charset="-122"/>
                <a:cs typeface="Courier New" pitchFamily="34" charset="-120"/>
              </a:rPr>
              <a:t>);</a:t>
            </a:r>
            <a:endParaRPr lang="en-US" sz="2400" dirty="0"/>
          </a:p>
        </p:txBody>
      </p:sp>
      <p:sp>
        <p:nvSpPr>
          <p:cNvPr id="6" name="Shape 4"/>
          <p:cNvSpPr/>
          <p:nvPr/>
        </p:nvSpPr>
        <p:spPr>
          <a:xfrm>
            <a:off x="475488" y="2212848"/>
            <a:ext cx="868680" cy="731520"/>
          </a:xfrm>
          <a:prstGeom prst="roundRect">
            <a:avLst>
              <a:gd name="adj" fmla="val 10000"/>
            </a:avLst>
          </a:prstGeom>
          <a:solidFill>
            <a:srgbClr val="2B2B2B"/>
          </a:solidFill>
          <a:ln w="12700">
            <a:solidFill>
              <a:srgbClr val="2B2B2B"/>
            </a:solidFill>
            <a:prstDash val="solid"/>
          </a:ln>
        </p:spPr>
      </p:sp>
      <p:sp>
        <p:nvSpPr>
          <p:cNvPr id="7" name="Shape 5"/>
          <p:cNvSpPr/>
          <p:nvPr/>
        </p:nvSpPr>
        <p:spPr>
          <a:xfrm>
            <a:off x="411480" y="2148840"/>
            <a:ext cx="868680" cy="731520"/>
          </a:xfrm>
          <a:prstGeom prst="roundRect">
            <a:avLst>
              <a:gd name="adj" fmla="val 10000"/>
            </a:avLst>
          </a:prstGeom>
          <a:solidFill>
            <a:srgbClr val="2B2B2B"/>
          </a:solidFill>
          <a:ln w="25400">
            <a:solidFill>
              <a:srgbClr val="2B2B2B"/>
            </a:solidFill>
            <a:prstDash val="solid"/>
          </a:ln>
        </p:spPr>
      </p:sp>
      <p:sp>
        <p:nvSpPr>
          <p:cNvPr id="8" name="Text 6"/>
          <p:cNvSpPr txBox="1"/>
          <p:nvPr/>
        </p:nvSpPr>
        <p:spPr>
          <a:xfrm>
            <a:off x="411480" y="2148840"/>
            <a:ext cx="868680" cy="731520"/>
          </a:xfrm>
          <a:prstGeom prst="rect">
            <a:avLst/>
          </a:prstGeom>
          <a:noFill/>
          <a:ln/>
        </p:spPr>
        <p:txBody>
          <a:bodyPr wrap="square" lIns="0" tIns="0" rIns="0" bIns="0" rtlCol="0" anchor="ctr"/>
          <a:lstStyle/>
          <a:p>
            <a:pPr algn="ctr" indent="0" marL="0">
              <a:buNone/>
            </a:pPr>
            <a:r>
              <a:rPr lang="en-US" sz="2400" b="1" dirty="0">
                <a:solidFill>
                  <a:srgbClr val="F4C430"/>
                </a:solidFill>
                <a:latin typeface="Courier New" pitchFamily="34" charset="0"/>
                <a:ea typeface="Courier New" pitchFamily="34" charset="-122"/>
                <a:cs typeface="Courier New" pitchFamily="34" charset="-120"/>
              </a:rPr>
              <a:t>0</a:t>
            </a:r>
            <a:endParaRPr lang="en-US" sz="2400" dirty="0"/>
          </a:p>
        </p:txBody>
      </p:sp>
      <p:sp>
        <p:nvSpPr>
          <p:cNvPr id="9" name="Shape 7"/>
          <p:cNvSpPr/>
          <p:nvPr/>
        </p:nvSpPr>
        <p:spPr>
          <a:xfrm>
            <a:off x="1527048" y="2212848"/>
            <a:ext cx="868680" cy="731520"/>
          </a:xfrm>
          <a:prstGeom prst="roundRect">
            <a:avLst>
              <a:gd name="adj" fmla="val 10000"/>
            </a:avLst>
          </a:prstGeom>
          <a:solidFill>
            <a:srgbClr val="2B2B2B"/>
          </a:solidFill>
          <a:ln w="12700">
            <a:solidFill>
              <a:srgbClr val="2B2B2B"/>
            </a:solidFill>
            <a:prstDash val="solid"/>
          </a:ln>
        </p:spPr>
      </p:sp>
      <p:sp>
        <p:nvSpPr>
          <p:cNvPr id="10" name="Shape 8"/>
          <p:cNvSpPr/>
          <p:nvPr/>
        </p:nvSpPr>
        <p:spPr>
          <a:xfrm>
            <a:off x="1463040" y="2148840"/>
            <a:ext cx="868680" cy="731520"/>
          </a:xfrm>
          <a:prstGeom prst="roundRect">
            <a:avLst>
              <a:gd name="adj" fmla="val 10000"/>
            </a:avLst>
          </a:prstGeom>
          <a:solidFill>
            <a:srgbClr val="FFFFFF"/>
          </a:solidFill>
          <a:ln w="25400">
            <a:solidFill>
              <a:srgbClr val="2B2B2B"/>
            </a:solidFill>
            <a:prstDash val="solid"/>
          </a:ln>
        </p:spPr>
      </p:sp>
      <p:sp>
        <p:nvSpPr>
          <p:cNvPr id="11" name="Text 9"/>
          <p:cNvSpPr txBox="1"/>
          <p:nvPr/>
        </p:nvSpPr>
        <p:spPr>
          <a:xfrm>
            <a:off x="1463040" y="2148840"/>
            <a:ext cx="868680" cy="731520"/>
          </a:xfrm>
          <a:prstGeom prst="rect">
            <a:avLst/>
          </a:prstGeom>
          <a:noFill/>
          <a:ln/>
        </p:spPr>
        <p:txBody>
          <a:bodyPr wrap="square" lIns="0" tIns="0" rIns="0" bIns="0" rtlCol="0" anchor="ctr"/>
          <a:lstStyle/>
          <a:p>
            <a:pPr algn="ctr" indent="0" marL="0">
              <a:buNone/>
            </a:pPr>
            <a:r>
              <a:rPr lang="en-US" sz="2400" b="1" dirty="0">
                <a:solidFill>
                  <a:srgbClr val="2B2B2B"/>
                </a:solidFill>
                <a:latin typeface="Courier New" pitchFamily="34" charset="0"/>
                <a:ea typeface="Courier New" pitchFamily="34" charset="-122"/>
                <a:cs typeface="Courier New" pitchFamily="34" charset="-120"/>
              </a:rPr>
              <a:t>1</a:t>
            </a:r>
            <a:endParaRPr lang="en-US" sz="2400" dirty="0"/>
          </a:p>
        </p:txBody>
      </p:sp>
      <p:sp>
        <p:nvSpPr>
          <p:cNvPr id="12" name="Shape 10"/>
          <p:cNvSpPr/>
          <p:nvPr/>
        </p:nvSpPr>
        <p:spPr>
          <a:xfrm>
            <a:off x="2578608" y="2212848"/>
            <a:ext cx="868680" cy="731520"/>
          </a:xfrm>
          <a:prstGeom prst="roundRect">
            <a:avLst>
              <a:gd name="adj" fmla="val 10000"/>
            </a:avLst>
          </a:prstGeom>
          <a:solidFill>
            <a:srgbClr val="2B2B2B"/>
          </a:solidFill>
          <a:ln w="12700">
            <a:solidFill>
              <a:srgbClr val="2B2B2B"/>
            </a:solidFill>
            <a:prstDash val="solid"/>
          </a:ln>
        </p:spPr>
      </p:sp>
      <p:sp>
        <p:nvSpPr>
          <p:cNvPr id="13" name="Shape 11"/>
          <p:cNvSpPr/>
          <p:nvPr/>
        </p:nvSpPr>
        <p:spPr>
          <a:xfrm>
            <a:off x="2514600" y="2148840"/>
            <a:ext cx="868680" cy="731520"/>
          </a:xfrm>
          <a:prstGeom prst="roundRect">
            <a:avLst>
              <a:gd name="adj" fmla="val 10000"/>
            </a:avLst>
          </a:prstGeom>
          <a:solidFill>
            <a:srgbClr val="FFFFFF"/>
          </a:solidFill>
          <a:ln w="25400">
            <a:solidFill>
              <a:srgbClr val="2B2B2B"/>
            </a:solidFill>
            <a:prstDash val="solid"/>
          </a:ln>
        </p:spPr>
      </p:sp>
      <p:sp>
        <p:nvSpPr>
          <p:cNvPr id="14" name="Text 12"/>
          <p:cNvSpPr txBox="1"/>
          <p:nvPr/>
        </p:nvSpPr>
        <p:spPr>
          <a:xfrm>
            <a:off x="2514600" y="2148840"/>
            <a:ext cx="868680" cy="731520"/>
          </a:xfrm>
          <a:prstGeom prst="rect">
            <a:avLst/>
          </a:prstGeom>
          <a:noFill/>
          <a:ln/>
        </p:spPr>
        <p:txBody>
          <a:bodyPr wrap="square" lIns="0" tIns="0" rIns="0" bIns="0" rtlCol="0" anchor="ctr"/>
          <a:lstStyle/>
          <a:p>
            <a:pPr algn="ctr" indent="0" marL="0">
              <a:buNone/>
            </a:pPr>
            <a:r>
              <a:rPr lang="en-US" sz="2400" b="1" dirty="0">
                <a:solidFill>
                  <a:srgbClr val="2B2B2B"/>
                </a:solidFill>
                <a:latin typeface="Courier New" pitchFamily="34" charset="0"/>
                <a:ea typeface="Courier New" pitchFamily="34" charset="-122"/>
                <a:cs typeface="Courier New" pitchFamily="34" charset="-120"/>
              </a:rPr>
              <a:t>2</a:t>
            </a:r>
            <a:endParaRPr lang="en-US" sz="2400" dirty="0"/>
          </a:p>
        </p:txBody>
      </p:sp>
      <p:sp>
        <p:nvSpPr>
          <p:cNvPr id="15" name="Shape 13"/>
          <p:cNvSpPr/>
          <p:nvPr/>
        </p:nvSpPr>
        <p:spPr>
          <a:xfrm>
            <a:off x="3630168" y="2212848"/>
            <a:ext cx="868680" cy="731520"/>
          </a:xfrm>
          <a:prstGeom prst="roundRect">
            <a:avLst>
              <a:gd name="adj" fmla="val 10000"/>
            </a:avLst>
          </a:prstGeom>
          <a:solidFill>
            <a:srgbClr val="2B2B2B"/>
          </a:solidFill>
          <a:ln w="12700">
            <a:solidFill>
              <a:srgbClr val="2B2B2B"/>
            </a:solidFill>
            <a:prstDash val="solid"/>
          </a:ln>
        </p:spPr>
      </p:sp>
      <p:sp>
        <p:nvSpPr>
          <p:cNvPr id="16" name="Shape 14"/>
          <p:cNvSpPr/>
          <p:nvPr/>
        </p:nvSpPr>
        <p:spPr>
          <a:xfrm>
            <a:off x="3566160" y="2148840"/>
            <a:ext cx="868680" cy="731520"/>
          </a:xfrm>
          <a:prstGeom prst="roundRect">
            <a:avLst>
              <a:gd name="adj" fmla="val 10000"/>
            </a:avLst>
          </a:prstGeom>
          <a:solidFill>
            <a:srgbClr val="FFFFFF"/>
          </a:solidFill>
          <a:ln w="25400">
            <a:solidFill>
              <a:srgbClr val="2B2B2B"/>
            </a:solidFill>
            <a:prstDash val="solid"/>
          </a:ln>
        </p:spPr>
      </p:sp>
      <p:sp>
        <p:nvSpPr>
          <p:cNvPr id="17" name="Text 15"/>
          <p:cNvSpPr txBox="1"/>
          <p:nvPr/>
        </p:nvSpPr>
        <p:spPr>
          <a:xfrm>
            <a:off x="3566160" y="2148840"/>
            <a:ext cx="868680" cy="731520"/>
          </a:xfrm>
          <a:prstGeom prst="rect">
            <a:avLst/>
          </a:prstGeom>
          <a:noFill/>
          <a:ln/>
        </p:spPr>
        <p:txBody>
          <a:bodyPr wrap="square" lIns="0" tIns="0" rIns="0" bIns="0" rtlCol="0" anchor="ctr"/>
          <a:lstStyle/>
          <a:p>
            <a:pPr algn="ctr" indent="0" marL="0">
              <a:buNone/>
            </a:pPr>
            <a:r>
              <a:rPr lang="en-US" sz="2400" b="1" dirty="0">
                <a:solidFill>
                  <a:srgbClr val="2B2B2B"/>
                </a:solidFill>
                <a:latin typeface="Courier New" pitchFamily="34" charset="0"/>
                <a:ea typeface="Courier New" pitchFamily="34" charset="-122"/>
                <a:cs typeface="Courier New" pitchFamily="34" charset="-120"/>
              </a:rPr>
              <a:t>…</a:t>
            </a:r>
            <a:endParaRPr lang="en-US" sz="2400" dirty="0"/>
          </a:p>
        </p:txBody>
      </p:sp>
      <p:sp>
        <p:nvSpPr>
          <p:cNvPr id="18" name="Shape 16"/>
          <p:cNvSpPr/>
          <p:nvPr/>
        </p:nvSpPr>
        <p:spPr>
          <a:xfrm>
            <a:off x="4681728" y="2212848"/>
            <a:ext cx="868680" cy="731520"/>
          </a:xfrm>
          <a:prstGeom prst="roundRect">
            <a:avLst>
              <a:gd name="adj" fmla="val 10000"/>
            </a:avLst>
          </a:prstGeom>
          <a:solidFill>
            <a:srgbClr val="2B2B2B"/>
          </a:solidFill>
          <a:ln w="12700">
            <a:solidFill>
              <a:srgbClr val="2B2B2B"/>
            </a:solidFill>
            <a:prstDash val="solid"/>
          </a:ln>
        </p:spPr>
      </p:sp>
      <p:sp>
        <p:nvSpPr>
          <p:cNvPr id="19" name="Shape 17"/>
          <p:cNvSpPr/>
          <p:nvPr/>
        </p:nvSpPr>
        <p:spPr>
          <a:xfrm>
            <a:off x="4617720" y="2148840"/>
            <a:ext cx="868680" cy="731520"/>
          </a:xfrm>
          <a:prstGeom prst="roundRect">
            <a:avLst>
              <a:gd name="adj" fmla="val 10000"/>
            </a:avLst>
          </a:prstGeom>
          <a:solidFill>
            <a:srgbClr val="FFFFFF"/>
          </a:solidFill>
          <a:ln w="25400">
            <a:solidFill>
              <a:srgbClr val="2B2B2B"/>
            </a:solidFill>
            <a:prstDash val="solid"/>
          </a:ln>
        </p:spPr>
      </p:sp>
      <p:sp>
        <p:nvSpPr>
          <p:cNvPr id="20" name="Text 18"/>
          <p:cNvSpPr txBox="1"/>
          <p:nvPr/>
        </p:nvSpPr>
        <p:spPr>
          <a:xfrm>
            <a:off x="4617720" y="2148840"/>
            <a:ext cx="868680" cy="731520"/>
          </a:xfrm>
          <a:prstGeom prst="rect">
            <a:avLst/>
          </a:prstGeom>
          <a:noFill/>
          <a:ln/>
        </p:spPr>
        <p:txBody>
          <a:bodyPr wrap="square" lIns="0" tIns="0" rIns="0" bIns="0" rtlCol="0" anchor="ctr"/>
          <a:lstStyle/>
          <a:p>
            <a:pPr algn="ctr" indent="0" marL="0">
              <a:buNone/>
            </a:pPr>
            <a:r>
              <a:rPr lang="en-US" sz="2400" b="1" dirty="0">
                <a:solidFill>
                  <a:srgbClr val="2B2B2B"/>
                </a:solidFill>
                <a:latin typeface="Courier New" pitchFamily="34" charset="0"/>
                <a:ea typeface="Courier New" pitchFamily="34" charset="-122"/>
                <a:cs typeface="Courier New" pitchFamily="34" charset="-120"/>
              </a:rPr>
              <a:t>29</a:t>
            </a:r>
            <a:endParaRPr lang="en-US" sz="2400" dirty="0"/>
          </a:p>
        </p:txBody>
      </p:sp>
      <p:sp>
        <p:nvSpPr>
          <p:cNvPr id="21" name="Shape 19"/>
          <p:cNvSpPr/>
          <p:nvPr/>
        </p:nvSpPr>
        <p:spPr>
          <a:xfrm>
            <a:off x="5733288" y="2212848"/>
            <a:ext cx="868680" cy="731520"/>
          </a:xfrm>
          <a:prstGeom prst="roundRect">
            <a:avLst>
              <a:gd name="adj" fmla="val 10000"/>
            </a:avLst>
          </a:prstGeom>
          <a:solidFill>
            <a:srgbClr val="2B2B2B"/>
          </a:solidFill>
          <a:ln w="12700">
            <a:solidFill>
              <a:srgbClr val="2B2B2B"/>
            </a:solidFill>
            <a:prstDash val="solid"/>
          </a:ln>
        </p:spPr>
      </p:sp>
      <p:sp>
        <p:nvSpPr>
          <p:cNvPr id="22" name="Shape 20"/>
          <p:cNvSpPr/>
          <p:nvPr/>
        </p:nvSpPr>
        <p:spPr>
          <a:xfrm>
            <a:off x="5669280" y="2148840"/>
            <a:ext cx="868680" cy="731520"/>
          </a:xfrm>
          <a:prstGeom prst="roundRect">
            <a:avLst>
              <a:gd name="adj" fmla="val 10000"/>
            </a:avLst>
          </a:prstGeom>
          <a:solidFill>
            <a:srgbClr val="2B2B2B"/>
          </a:solidFill>
          <a:ln w="25400">
            <a:solidFill>
              <a:srgbClr val="2B2B2B"/>
            </a:solidFill>
            <a:prstDash val="solid"/>
          </a:ln>
        </p:spPr>
      </p:sp>
      <p:sp>
        <p:nvSpPr>
          <p:cNvPr id="23" name="Text 21"/>
          <p:cNvSpPr txBox="1"/>
          <p:nvPr/>
        </p:nvSpPr>
        <p:spPr>
          <a:xfrm>
            <a:off x="5669280" y="2148840"/>
            <a:ext cx="868680" cy="731520"/>
          </a:xfrm>
          <a:prstGeom prst="rect">
            <a:avLst/>
          </a:prstGeom>
          <a:noFill/>
          <a:ln/>
        </p:spPr>
        <p:txBody>
          <a:bodyPr wrap="square" lIns="0" tIns="0" rIns="0" bIns="0" rtlCol="0" anchor="ctr"/>
          <a:lstStyle/>
          <a:p>
            <a:pPr algn="ctr" indent="0" marL="0">
              <a:buNone/>
            </a:pPr>
            <a:r>
              <a:rPr lang="en-US" sz="2400" b="1" dirty="0">
                <a:solidFill>
                  <a:srgbClr val="F4C430"/>
                </a:solidFill>
                <a:latin typeface="Courier New" pitchFamily="34" charset="0"/>
                <a:ea typeface="Courier New" pitchFamily="34" charset="-122"/>
                <a:cs typeface="Courier New" pitchFamily="34" charset="-120"/>
              </a:rPr>
              <a:t>0</a:t>
            </a:r>
            <a:endParaRPr lang="en-US" sz="2400" dirty="0"/>
          </a:p>
        </p:txBody>
      </p:sp>
      <p:sp>
        <p:nvSpPr>
          <p:cNvPr id="24" name="Shape 22"/>
          <p:cNvSpPr/>
          <p:nvPr/>
        </p:nvSpPr>
        <p:spPr>
          <a:xfrm>
            <a:off x="6784848" y="2212848"/>
            <a:ext cx="868680" cy="731520"/>
          </a:xfrm>
          <a:prstGeom prst="roundRect">
            <a:avLst>
              <a:gd name="adj" fmla="val 10000"/>
            </a:avLst>
          </a:prstGeom>
          <a:solidFill>
            <a:srgbClr val="2B2B2B"/>
          </a:solidFill>
          <a:ln w="12700">
            <a:solidFill>
              <a:srgbClr val="2B2B2B"/>
            </a:solidFill>
            <a:prstDash val="solid"/>
          </a:ln>
        </p:spPr>
      </p:sp>
      <p:sp>
        <p:nvSpPr>
          <p:cNvPr id="25" name="Shape 23"/>
          <p:cNvSpPr/>
          <p:nvPr/>
        </p:nvSpPr>
        <p:spPr>
          <a:xfrm>
            <a:off x="6720840" y="2148840"/>
            <a:ext cx="868680" cy="731520"/>
          </a:xfrm>
          <a:prstGeom prst="roundRect">
            <a:avLst>
              <a:gd name="adj" fmla="val 10000"/>
            </a:avLst>
          </a:prstGeom>
          <a:solidFill>
            <a:srgbClr val="FFFFFF"/>
          </a:solidFill>
          <a:ln w="25400">
            <a:solidFill>
              <a:srgbClr val="2B2B2B"/>
            </a:solidFill>
            <a:prstDash val="solid"/>
          </a:ln>
        </p:spPr>
      </p:sp>
      <p:sp>
        <p:nvSpPr>
          <p:cNvPr id="26" name="Text 24"/>
          <p:cNvSpPr txBox="1"/>
          <p:nvPr/>
        </p:nvSpPr>
        <p:spPr>
          <a:xfrm>
            <a:off x="6720840" y="2148840"/>
            <a:ext cx="868680" cy="731520"/>
          </a:xfrm>
          <a:prstGeom prst="rect">
            <a:avLst/>
          </a:prstGeom>
          <a:noFill/>
          <a:ln/>
        </p:spPr>
        <p:txBody>
          <a:bodyPr wrap="square" lIns="0" tIns="0" rIns="0" bIns="0" rtlCol="0" anchor="ctr"/>
          <a:lstStyle/>
          <a:p>
            <a:pPr algn="ctr" indent="0" marL="0">
              <a:buNone/>
            </a:pPr>
            <a:r>
              <a:rPr lang="en-US" sz="2400" b="1" dirty="0">
                <a:solidFill>
                  <a:srgbClr val="2B2B2B"/>
                </a:solidFill>
                <a:latin typeface="Courier New" pitchFamily="34" charset="0"/>
                <a:ea typeface="Courier New" pitchFamily="34" charset="-122"/>
                <a:cs typeface="Courier New" pitchFamily="34" charset="-120"/>
              </a:rPr>
              <a:t>1</a:t>
            </a:r>
            <a:endParaRPr lang="en-US" sz="2400" dirty="0"/>
          </a:p>
        </p:txBody>
      </p:sp>
      <p:sp>
        <p:nvSpPr>
          <p:cNvPr id="27" name="Shape 25"/>
          <p:cNvSpPr/>
          <p:nvPr/>
        </p:nvSpPr>
        <p:spPr>
          <a:xfrm>
            <a:off x="7836408" y="2212848"/>
            <a:ext cx="868680" cy="731520"/>
          </a:xfrm>
          <a:prstGeom prst="roundRect">
            <a:avLst>
              <a:gd name="adj" fmla="val 10000"/>
            </a:avLst>
          </a:prstGeom>
          <a:solidFill>
            <a:srgbClr val="2B2B2B"/>
          </a:solidFill>
          <a:ln w="12700">
            <a:solidFill>
              <a:srgbClr val="2B2B2B"/>
            </a:solidFill>
            <a:prstDash val="solid"/>
          </a:ln>
        </p:spPr>
      </p:sp>
      <p:sp>
        <p:nvSpPr>
          <p:cNvPr id="28" name="Shape 26"/>
          <p:cNvSpPr/>
          <p:nvPr/>
        </p:nvSpPr>
        <p:spPr>
          <a:xfrm>
            <a:off x="7772400" y="2148840"/>
            <a:ext cx="868680" cy="731520"/>
          </a:xfrm>
          <a:prstGeom prst="roundRect">
            <a:avLst>
              <a:gd name="adj" fmla="val 10000"/>
            </a:avLst>
          </a:prstGeom>
          <a:solidFill>
            <a:srgbClr val="FFFFFF"/>
          </a:solidFill>
          <a:ln w="25400">
            <a:solidFill>
              <a:srgbClr val="2B2B2B"/>
            </a:solidFill>
            <a:prstDash val="solid"/>
          </a:ln>
        </p:spPr>
      </p:sp>
      <p:sp>
        <p:nvSpPr>
          <p:cNvPr id="29" name="Text 27"/>
          <p:cNvSpPr txBox="1"/>
          <p:nvPr/>
        </p:nvSpPr>
        <p:spPr>
          <a:xfrm>
            <a:off x="7772400" y="2148840"/>
            <a:ext cx="868680" cy="731520"/>
          </a:xfrm>
          <a:prstGeom prst="rect">
            <a:avLst/>
          </a:prstGeom>
          <a:noFill/>
          <a:ln/>
        </p:spPr>
        <p:txBody>
          <a:bodyPr wrap="square" lIns="0" tIns="0" rIns="0" bIns="0" rtlCol="0" anchor="ctr"/>
          <a:lstStyle/>
          <a:p>
            <a:pPr algn="ctr" indent="0" marL="0">
              <a:buNone/>
            </a:pPr>
            <a:r>
              <a:rPr lang="en-US" sz="2400" b="1" dirty="0">
                <a:solidFill>
                  <a:srgbClr val="2B2B2B"/>
                </a:solidFill>
                <a:latin typeface="Courier New" pitchFamily="34" charset="0"/>
                <a:ea typeface="Courier New" pitchFamily="34" charset="-122"/>
                <a:cs typeface="Courier New" pitchFamily="34" charset="-120"/>
              </a:rPr>
              <a:t>…</a:t>
            </a:r>
            <a:endParaRPr lang="en-US" sz="2400" dirty="0"/>
          </a:p>
        </p:txBody>
      </p:sp>
      <p:sp>
        <p:nvSpPr>
          <p:cNvPr id="30" name="Text 28"/>
          <p:cNvSpPr txBox="1"/>
          <p:nvPr/>
        </p:nvSpPr>
        <p:spPr>
          <a:xfrm>
            <a:off x="411480" y="3154680"/>
            <a:ext cx="8321040" cy="822960"/>
          </a:xfrm>
          <a:prstGeom prst="rect">
            <a:avLst/>
          </a:prstGeom>
          <a:noFill/>
          <a:ln/>
        </p:spPr>
        <p:txBody>
          <a:bodyPr wrap="square" lIns="0" tIns="0" rIns="0" bIns="0" rtlCol="0" anchor="t"/>
          <a:lstStyle/>
          <a:p>
            <a:pPr indent="0" marL="0">
              <a:buNone/>
            </a:pPr>
            <a:r>
              <a:rPr lang="en-US" sz="2200" b="1" dirty="0">
                <a:solidFill>
                  <a:srgbClr val="2B2B2B"/>
                </a:solidFill>
                <a:latin typeface="Courier New" pitchFamily="34" charset="0"/>
                <a:ea typeface="Courier New" pitchFamily="34" charset="-122"/>
                <a:cs typeface="Courier New" pitchFamily="34" charset="-120"/>
              </a:rPr>
              <a:t>frameCount % 30</a:t>
            </a:r>
            <a:pPr indent="0" marL="0">
              <a:buNone/>
            </a:pPr>
            <a:r>
              <a:rPr lang="en-US" sz="2200" dirty="0">
                <a:solidFill>
                  <a:srgbClr val="2B2B2B"/>
                </a:solidFill>
              </a:rPr>
              <a:t> counts up to 29, then starts over. The rings grow, then snap back.</a:t>
            </a:r>
            <a:endParaRPr lang="en-US" sz="2200" dirty="0"/>
          </a:p>
        </p:txBody>
      </p:sp>
      <p:sp>
        <p:nvSpPr>
          <p:cNvPr id="31" name="Shape 29"/>
          <p:cNvSpPr/>
          <p:nvPr/>
        </p:nvSpPr>
        <p:spPr>
          <a:xfrm>
            <a:off x="475488" y="4133088"/>
            <a:ext cx="8321040" cy="640080"/>
          </a:xfrm>
          <a:prstGeom prst="roundRect">
            <a:avLst>
              <a:gd name="adj" fmla="val 11429"/>
            </a:avLst>
          </a:prstGeom>
          <a:solidFill>
            <a:srgbClr val="2B2B2B"/>
          </a:solidFill>
          <a:ln w="12700">
            <a:solidFill>
              <a:srgbClr val="2B2B2B"/>
            </a:solidFill>
            <a:prstDash val="solid"/>
          </a:ln>
        </p:spPr>
      </p:sp>
      <p:sp>
        <p:nvSpPr>
          <p:cNvPr id="32" name="Shape 30"/>
          <p:cNvSpPr/>
          <p:nvPr/>
        </p:nvSpPr>
        <p:spPr>
          <a:xfrm>
            <a:off x="411480" y="4069080"/>
            <a:ext cx="8321040" cy="640080"/>
          </a:xfrm>
          <a:prstGeom prst="roundRect">
            <a:avLst>
              <a:gd name="adj" fmla="val 11429"/>
            </a:avLst>
          </a:prstGeom>
          <a:solidFill>
            <a:srgbClr val="FFFFFF"/>
          </a:solidFill>
          <a:ln w="25400">
            <a:solidFill>
              <a:srgbClr val="2B2B2B"/>
            </a:solidFill>
            <a:prstDash val="solid"/>
          </a:ln>
        </p:spPr>
      </p:sp>
      <p:sp>
        <p:nvSpPr>
          <p:cNvPr id="33" name="Text 31"/>
          <p:cNvSpPr txBox="1"/>
          <p:nvPr/>
        </p:nvSpPr>
        <p:spPr>
          <a:xfrm>
            <a:off x="576072" y="4160520"/>
            <a:ext cx="7991856" cy="457200"/>
          </a:xfrm>
          <a:prstGeom prst="rect">
            <a:avLst/>
          </a:prstGeom>
          <a:noFill/>
          <a:ln/>
        </p:spPr>
        <p:txBody>
          <a:bodyPr wrap="square" lIns="0" tIns="0" rIns="0" bIns="0" rtlCol="0" anchor="ctr"/>
          <a:lstStyle/>
          <a:p>
            <a:pPr indent="0" marL="0">
              <a:spcAft>
                <a:spcPts val="600"/>
              </a:spcAft>
              <a:buNone/>
            </a:pPr>
            <a:r>
              <a:rPr lang="en-US" sz="2000" b="1" dirty="0">
                <a:solidFill>
                  <a:srgbClr val="2B2B2B"/>
                </a:solidFill>
                <a:latin typeface="Calibri" pitchFamily="34" charset="0"/>
                <a:ea typeface="Calibri" pitchFamily="34" charset="-122"/>
                <a:cs typeface="Calibri" pitchFamily="34" charset="-120"/>
              </a:rPr>
              <a:t>Too fast? Try </a:t>
            </a:r>
            <a:pPr indent="0" marL="0">
              <a:spcAft>
                <a:spcPts val="600"/>
              </a:spcAft>
              <a:buNone/>
            </a:pPr>
            <a:r>
              <a:rPr lang="en-US" sz="2000" b="1" dirty="0">
                <a:solidFill>
                  <a:srgbClr val="2B2B2B"/>
                </a:solidFill>
                <a:latin typeface="Courier New" pitchFamily="34" charset="0"/>
                <a:ea typeface="Courier New" pitchFamily="34" charset="-122"/>
                <a:cs typeface="Courier New" pitchFamily="34" charset="-120"/>
              </a:rPr>
              <a:t>% 60</a:t>
            </a:r>
            <a:pPr indent="0" marL="0">
              <a:spcAft>
                <a:spcPts val="600"/>
              </a:spcAft>
              <a:buNone/>
            </a:pPr>
            <a:r>
              <a:rPr lang="en-US" sz="2000" b="1" dirty="0">
                <a:solidFill>
                  <a:srgbClr val="2B2B2B"/>
                </a:solidFill>
                <a:latin typeface="Calibri" pitchFamily="34" charset="0"/>
                <a:ea typeface="Calibri" pitchFamily="34" charset="-122"/>
                <a:cs typeface="Calibri" pitchFamily="34" charset="-120"/>
              </a:rPr>
              <a:t>.</a:t>
            </a:r>
            <a:endParaRPr lang="en-US" sz="20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Before you turn it in</a:t>
            </a:r>
            <a:endParaRPr lang="en-US" sz="3200" dirty="0"/>
          </a:p>
        </p:txBody>
      </p:sp>
      <p:sp>
        <p:nvSpPr>
          <p:cNvPr id="3" name="Shape 1"/>
          <p:cNvSpPr/>
          <p:nvPr/>
        </p:nvSpPr>
        <p:spPr>
          <a:xfrm>
            <a:off x="411480" y="1143000"/>
            <a:ext cx="384048" cy="384048"/>
          </a:xfrm>
          <a:prstGeom prst="roundRect">
            <a:avLst>
              <a:gd name="adj" fmla="val 11905"/>
            </a:avLst>
          </a:prstGeom>
          <a:solidFill>
            <a:srgbClr val="FFFFFF"/>
          </a:solidFill>
          <a:ln w="25400">
            <a:solidFill>
              <a:srgbClr val="2B2B2B"/>
            </a:solidFill>
            <a:prstDash val="solid"/>
          </a:ln>
        </p:spPr>
      </p:sp>
      <p:sp>
        <p:nvSpPr>
          <p:cNvPr id="4" name="Text 2"/>
          <p:cNvSpPr txBox="1"/>
          <p:nvPr/>
        </p:nvSpPr>
        <p:spPr>
          <a:xfrm>
            <a:off x="960120" y="1051560"/>
            <a:ext cx="3520440" cy="566928"/>
          </a:xfrm>
          <a:prstGeom prst="rect">
            <a:avLst/>
          </a:prstGeom>
          <a:noFill/>
          <a:ln/>
        </p:spPr>
        <p:txBody>
          <a:bodyPr wrap="square" lIns="0" tIns="0" rIns="0" bIns="0" rtlCol="0" anchor="ctr"/>
          <a:lstStyle/>
          <a:p>
            <a:pPr indent="0" marL="0">
              <a:buNone/>
            </a:pPr>
            <a:r>
              <a:rPr lang="en-US" sz="2200" dirty="0">
                <a:solidFill>
                  <a:srgbClr val="2B2B2B"/>
                </a:solidFill>
              </a:rPr>
              <a:t>200 stars scroll down</a:t>
            </a:r>
            <a:endParaRPr lang="en-US" sz="2200" dirty="0"/>
          </a:p>
        </p:txBody>
      </p:sp>
      <p:sp>
        <p:nvSpPr>
          <p:cNvPr id="5" name="Shape 3"/>
          <p:cNvSpPr/>
          <p:nvPr/>
        </p:nvSpPr>
        <p:spPr>
          <a:xfrm>
            <a:off x="4663440" y="1143000"/>
            <a:ext cx="384048" cy="384048"/>
          </a:xfrm>
          <a:prstGeom prst="roundRect">
            <a:avLst>
              <a:gd name="adj" fmla="val 11905"/>
            </a:avLst>
          </a:prstGeom>
          <a:solidFill>
            <a:srgbClr val="FFFFFF"/>
          </a:solidFill>
          <a:ln w="25400">
            <a:solidFill>
              <a:srgbClr val="2B2B2B"/>
            </a:solidFill>
            <a:prstDash val="solid"/>
          </a:ln>
        </p:spPr>
      </p:sp>
      <p:sp>
        <p:nvSpPr>
          <p:cNvPr id="6" name="Text 4"/>
          <p:cNvSpPr txBox="1"/>
          <p:nvPr/>
        </p:nvSpPr>
        <p:spPr>
          <a:xfrm>
            <a:off x="5212080" y="1051560"/>
            <a:ext cx="3520440" cy="566928"/>
          </a:xfrm>
          <a:prstGeom prst="rect">
            <a:avLst/>
          </a:prstGeom>
          <a:noFill/>
          <a:ln/>
        </p:spPr>
        <p:txBody>
          <a:bodyPr wrap="square" lIns="0" tIns="0" rIns="0" bIns="0" rtlCol="0" anchor="ctr"/>
          <a:lstStyle/>
          <a:p>
            <a:pPr indent="0" marL="0">
              <a:buNone/>
            </a:pPr>
            <a:r>
              <a:rPr lang="en-US" sz="2200" dirty="0">
                <a:solidFill>
                  <a:srgbClr val="2B2B2B"/>
                </a:solidFill>
              </a:rPr>
              <a:t>6 rocks fall and come back</a:t>
            </a:r>
            <a:endParaRPr lang="en-US" sz="2200" dirty="0"/>
          </a:p>
        </p:txBody>
      </p:sp>
      <p:sp>
        <p:nvSpPr>
          <p:cNvPr id="7" name="Shape 5"/>
          <p:cNvSpPr/>
          <p:nvPr/>
        </p:nvSpPr>
        <p:spPr>
          <a:xfrm>
            <a:off x="411480" y="1892808"/>
            <a:ext cx="384048" cy="384048"/>
          </a:xfrm>
          <a:prstGeom prst="roundRect">
            <a:avLst>
              <a:gd name="adj" fmla="val 11905"/>
            </a:avLst>
          </a:prstGeom>
          <a:solidFill>
            <a:srgbClr val="FFFFFF"/>
          </a:solidFill>
          <a:ln w="25400">
            <a:solidFill>
              <a:srgbClr val="2B2B2B"/>
            </a:solidFill>
            <a:prstDash val="solid"/>
          </a:ln>
        </p:spPr>
      </p:sp>
      <p:sp>
        <p:nvSpPr>
          <p:cNvPr id="8" name="Text 6"/>
          <p:cNvSpPr txBox="1"/>
          <p:nvPr/>
        </p:nvSpPr>
        <p:spPr>
          <a:xfrm>
            <a:off x="960120" y="1801368"/>
            <a:ext cx="3520440" cy="566928"/>
          </a:xfrm>
          <a:prstGeom prst="rect">
            <a:avLst/>
          </a:prstGeom>
          <a:noFill/>
          <a:ln/>
        </p:spPr>
        <p:txBody>
          <a:bodyPr wrap="square" lIns="0" tIns="0" rIns="0" bIns="0" rtlCol="0" anchor="ctr"/>
          <a:lstStyle/>
          <a:p>
            <a:pPr indent="0" marL="0">
              <a:buNone/>
            </a:pPr>
            <a:r>
              <a:rPr lang="en-US" sz="2200" dirty="0">
                <a:solidFill>
                  <a:srgbClr val="2B2B2B"/>
                </a:solidFill>
              </a:rPr>
              <a:t>Rock turns red on the ship</a:t>
            </a:r>
            <a:endParaRPr lang="en-US" sz="2200" dirty="0"/>
          </a:p>
        </p:txBody>
      </p:sp>
      <p:sp>
        <p:nvSpPr>
          <p:cNvPr id="9" name="Shape 7"/>
          <p:cNvSpPr/>
          <p:nvPr/>
        </p:nvSpPr>
        <p:spPr>
          <a:xfrm>
            <a:off x="4663440" y="1892808"/>
            <a:ext cx="384048" cy="384048"/>
          </a:xfrm>
          <a:prstGeom prst="roundRect">
            <a:avLst>
              <a:gd name="adj" fmla="val 11905"/>
            </a:avLst>
          </a:prstGeom>
          <a:solidFill>
            <a:srgbClr val="FFFFFF"/>
          </a:solidFill>
          <a:ln w="25400">
            <a:solidFill>
              <a:srgbClr val="2B2B2B"/>
            </a:solidFill>
            <a:prstDash val="solid"/>
          </a:ln>
        </p:spPr>
      </p:sp>
      <p:sp>
        <p:nvSpPr>
          <p:cNvPr id="10" name="Text 8"/>
          <p:cNvSpPr txBox="1"/>
          <p:nvPr/>
        </p:nvSpPr>
        <p:spPr>
          <a:xfrm>
            <a:off x="5212080" y="1801368"/>
            <a:ext cx="3520440" cy="566928"/>
          </a:xfrm>
          <a:prstGeom prst="rect">
            <a:avLst/>
          </a:prstGeom>
          <a:noFill/>
          <a:ln/>
        </p:spPr>
        <p:txBody>
          <a:bodyPr wrap="square" lIns="0" tIns="0" rIns="0" bIns="0" rtlCol="0" anchor="ctr"/>
          <a:lstStyle/>
          <a:p>
            <a:pPr indent="0" marL="0">
              <a:buNone/>
            </a:pPr>
            <a:r>
              <a:rPr lang="en-US" sz="2200" dirty="0">
                <a:solidFill>
                  <a:srgbClr val="2B2B2B"/>
                </a:solidFill>
              </a:rPr>
              <a:t>a adds, d removes, never below 0</a:t>
            </a:r>
            <a:endParaRPr lang="en-US" sz="2200" dirty="0"/>
          </a:p>
        </p:txBody>
      </p:sp>
      <p:sp>
        <p:nvSpPr>
          <p:cNvPr id="11" name="Shape 9"/>
          <p:cNvSpPr/>
          <p:nvPr/>
        </p:nvSpPr>
        <p:spPr>
          <a:xfrm>
            <a:off x="411480" y="2642616"/>
            <a:ext cx="384048" cy="384048"/>
          </a:xfrm>
          <a:prstGeom prst="roundRect">
            <a:avLst>
              <a:gd name="adj" fmla="val 11905"/>
            </a:avLst>
          </a:prstGeom>
          <a:solidFill>
            <a:srgbClr val="FFFFFF"/>
          </a:solidFill>
          <a:ln w="25400">
            <a:solidFill>
              <a:srgbClr val="2B2B2B"/>
            </a:solidFill>
            <a:prstDash val="solid"/>
          </a:ln>
        </p:spPr>
      </p:sp>
      <p:sp>
        <p:nvSpPr>
          <p:cNvPr id="12" name="Text 10"/>
          <p:cNvSpPr txBox="1"/>
          <p:nvPr/>
        </p:nvSpPr>
        <p:spPr>
          <a:xfrm>
            <a:off x="960120" y="2551176"/>
            <a:ext cx="3520440" cy="566928"/>
          </a:xfrm>
          <a:prstGeom prst="rect">
            <a:avLst/>
          </a:prstGeom>
          <a:noFill/>
          <a:ln/>
        </p:spPr>
        <p:txBody>
          <a:bodyPr wrap="square" lIns="0" tIns="0" rIns="0" bIns="0" rtlCol="0" anchor="ctr"/>
          <a:lstStyle/>
          <a:p>
            <a:pPr indent="0" marL="0">
              <a:buNone/>
            </a:pPr>
            <a:r>
              <a:rPr lang="en-US" sz="2200" dirty="0">
                <a:solidFill>
                  <a:srgbClr val="2B2B2B"/>
                </a:solidFill>
              </a:rPr>
              <a:t>Lives use a for, not a while</a:t>
            </a:r>
            <a:endParaRPr lang="en-US" sz="2200" dirty="0"/>
          </a:p>
        </p:txBody>
      </p:sp>
      <p:sp>
        <p:nvSpPr>
          <p:cNvPr id="13" name="Shape 11"/>
          <p:cNvSpPr/>
          <p:nvPr/>
        </p:nvSpPr>
        <p:spPr>
          <a:xfrm>
            <a:off x="4663440" y="2642616"/>
            <a:ext cx="384048" cy="384048"/>
          </a:xfrm>
          <a:prstGeom prst="roundRect">
            <a:avLst>
              <a:gd name="adj" fmla="val 11905"/>
            </a:avLst>
          </a:prstGeom>
          <a:solidFill>
            <a:srgbClr val="FFFFFF"/>
          </a:solidFill>
          <a:ln w="25400">
            <a:solidFill>
              <a:srgbClr val="2B2B2B"/>
            </a:solidFill>
            <a:prstDash val="solid"/>
          </a:ln>
        </p:spPr>
      </p:sp>
      <p:sp>
        <p:nvSpPr>
          <p:cNvPr id="14" name="Text 12"/>
          <p:cNvSpPr txBox="1"/>
          <p:nvPr/>
        </p:nvSpPr>
        <p:spPr>
          <a:xfrm>
            <a:off x="5212080" y="2551176"/>
            <a:ext cx="3520440" cy="566928"/>
          </a:xfrm>
          <a:prstGeom prst="rect">
            <a:avLst/>
          </a:prstGeom>
          <a:noFill/>
          <a:ln/>
        </p:spPr>
        <p:txBody>
          <a:bodyPr wrap="square" lIns="0" tIns="0" rIns="0" bIns="0" rtlCol="0" anchor="ctr"/>
          <a:lstStyle/>
          <a:p>
            <a:pPr indent="0" marL="0">
              <a:buNone/>
            </a:pPr>
            <a:r>
              <a:rPr lang="en-US" sz="2200" dirty="0">
                <a:solidFill>
                  <a:srgbClr val="2B2B2B"/>
                </a:solidFill>
              </a:rPr>
              <a:t>3 rings follow the ship and pulse</a:t>
            </a:r>
            <a:endParaRPr lang="en-US" sz="2200" dirty="0"/>
          </a:p>
        </p:txBody>
      </p:sp>
      <p:sp>
        <p:nvSpPr>
          <p:cNvPr id="15" name="Shape 13"/>
          <p:cNvSpPr/>
          <p:nvPr/>
        </p:nvSpPr>
        <p:spPr>
          <a:xfrm>
            <a:off x="475488" y="3584448"/>
            <a:ext cx="8321040" cy="1143000"/>
          </a:xfrm>
          <a:prstGeom prst="roundRect">
            <a:avLst>
              <a:gd name="adj" fmla="val 6400"/>
            </a:avLst>
          </a:prstGeom>
          <a:solidFill>
            <a:srgbClr val="2B2B2B"/>
          </a:solidFill>
          <a:ln w="12700">
            <a:solidFill>
              <a:srgbClr val="2B2B2B"/>
            </a:solidFill>
            <a:prstDash val="solid"/>
          </a:ln>
        </p:spPr>
      </p:sp>
      <p:sp>
        <p:nvSpPr>
          <p:cNvPr id="16" name="Shape 14"/>
          <p:cNvSpPr/>
          <p:nvPr/>
        </p:nvSpPr>
        <p:spPr>
          <a:xfrm>
            <a:off x="411480" y="3520440"/>
            <a:ext cx="8321040" cy="1143000"/>
          </a:xfrm>
          <a:prstGeom prst="roundRect">
            <a:avLst>
              <a:gd name="adj" fmla="val 6400"/>
            </a:avLst>
          </a:prstGeom>
          <a:solidFill>
            <a:srgbClr val="2B2B2B"/>
          </a:solidFill>
          <a:ln w="25400">
            <a:solidFill>
              <a:srgbClr val="2B2B2B"/>
            </a:solidFill>
            <a:prstDash val="solid"/>
          </a:ln>
        </p:spPr>
      </p:sp>
      <p:sp>
        <p:nvSpPr>
          <p:cNvPr id="17" name="Text 15"/>
          <p:cNvSpPr txBox="1"/>
          <p:nvPr/>
        </p:nvSpPr>
        <p:spPr>
          <a:xfrm>
            <a:off x="576072" y="3611880"/>
            <a:ext cx="7991856" cy="960120"/>
          </a:xfrm>
          <a:prstGeom prst="rect">
            <a:avLst/>
          </a:prstGeom>
          <a:noFill/>
          <a:ln/>
        </p:spPr>
        <p:txBody>
          <a:bodyPr wrap="square" lIns="0" tIns="0" rIns="0" bIns="0" rtlCol="0" anchor="t"/>
          <a:lstStyle/>
          <a:p>
            <a:pPr indent="0" marL="0">
              <a:spcAft>
                <a:spcPts val="400"/>
              </a:spcAft>
              <a:buNone/>
            </a:pPr>
            <a:r>
              <a:rPr lang="en-US" sz="1600" b="1" dirty="0">
                <a:solidFill>
                  <a:srgbClr val="F4C430"/>
                </a:solidFill>
                <a:latin typeface="Courier New" pitchFamily="34" charset="0"/>
                <a:ea typeface="Courier New" pitchFamily="34" charset="-122"/>
                <a:cs typeface="Courier New" pitchFamily="34" charset="-120"/>
              </a:rPr>
              <a:t>DONE EARLY?</a:t>
            </a:r>
            <a:endParaRPr lang="en-US" sz="1600" dirty="0"/>
          </a:p>
          <a:p>
            <a:pPr indent="0" marL="0">
              <a:spcAft>
                <a:spcPts val="600"/>
              </a:spcAft>
              <a:buNone/>
            </a:pPr>
            <a:r>
              <a:rPr lang="en-US" sz="2200" dirty="0">
                <a:solidFill>
                  <a:srgbClr val="FFFFFF"/>
                </a:solidFill>
                <a:latin typeface="Calibri" pitchFamily="34" charset="0"/>
                <a:ea typeface="Calibri" pitchFamily="34" charset="-122"/>
                <a:cs typeface="Calibri" pitchFamily="34" charset="-120"/>
              </a:rPr>
              <a:t>Puzzle and three early finishers are at the bottom of the starter. No </a:t>
            </a:r>
            <a:pPr indent="0" marL="0">
              <a:spcAft>
                <a:spcPts val="600"/>
              </a:spcAft>
              <a:buNone/>
            </a:pPr>
            <a:r>
              <a:rPr lang="en-US" sz="2200" b="1" dirty="0">
                <a:solidFill>
                  <a:srgbClr val="FFFFFF"/>
                </a:solidFill>
                <a:latin typeface="Courier New" pitchFamily="34" charset="0"/>
                <a:ea typeface="Courier New" pitchFamily="34" charset="-122"/>
                <a:cs typeface="Courier New" pitchFamily="34" charset="-120"/>
              </a:rPr>
              <a:t>___</a:t>
            </a:r>
            <a:pPr indent="0" marL="0">
              <a:spcAft>
                <a:spcPts val="600"/>
              </a:spcAft>
              <a:buNone/>
            </a:pPr>
            <a:r>
              <a:rPr lang="en-US" sz="2200" dirty="0">
                <a:solidFill>
                  <a:srgbClr val="FFFFFF"/>
                </a:solidFill>
                <a:latin typeface="Calibri" pitchFamily="34" charset="0"/>
                <a:ea typeface="Calibri" pitchFamily="34" charset="-122"/>
                <a:cs typeface="Calibri" pitchFamily="34" charset="-120"/>
              </a:rPr>
              <a:t> left anywhere.</a:t>
            </a:r>
            <a:endParaRPr lang="en-US" sz="16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Lab 2: n can change</a:t>
            </a:r>
            <a:endParaRPr lang="en-US" sz="3200" dirty="0"/>
          </a:p>
        </p:txBody>
      </p:sp>
      <p:sp>
        <p:nvSpPr>
          <p:cNvPr id="3" name="Shape 1"/>
          <p:cNvSpPr/>
          <p:nvPr/>
        </p:nvSpPr>
        <p:spPr>
          <a:xfrm>
            <a:off x="475488" y="1115568"/>
            <a:ext cx="5394960" cy="3611880"/>
          </a:xfrm>
          <a:prstGeom prst="roundRect">
            <a:avLst>
              <a:gd name="adj" fmla="val 1519"/>
            </a:avLst>
          </a:prstGeom>
          <a:solidFill>
            <a:srgbClr val="2B2B2B"/>
          </a:solidFill>
          <a:ln w="12700">
            <a:solidFill>
              <a:srgbClr val="2B2B2B"/>
            </a:solidFill>
            <a:prstDash val="solid"/>
          </a:ln>
        </p:spPr>
      </p:sp>
      <p:sp>
        <p:nvSpPr>
          <p:cNvPr id="4" name="Shape 2"/>
          <p:cNvSpPr/>
          <p:nvPr/>
        </p:nvSpPr>
        <p:spPr>
          <a:xfrm>
            <a:off x="411480" y="1051560"/>
            <a:ext cx="5394960" cy="3611880"/>
          </a:xfrm>
          <a:prstGeom prst="roundRect">
            <a:avLst>
              <a:gd name="adj" fmla="val 1519"/>
            </a:avLst>
          </a:prstGeom>
          <a:solidFill>
            <a:srgbClr val="1E1E1E"/>
          </a:solidFill>
          <a:ln w="25400">
            <a:solidFill>
              <a:srgbClr val="2B2B2B"/>
            </a:solidFill>
            <a:prstDash val="solid"/>
          </a:ln>
        </p:spPr>
      </p:sp>
      <p:sp>
        <p:nvSpPr>
          <p:cNvPr id="5" name="Text 3"/>
          <p:cNvSpPr txBox="1"/>
          <p:nvPr/>
        </p:nvSpPr>
        <p:spPr>
          <a:xfrm>
            <a:off x="576072" y="1124712"/>
            <a:ext cx="5120640" cy="3465576"/>
          </a:xfrm>
          <a:prstGeom prst="rect">
            <a:avLst/>
          </a:prstGeom>
          <a:noFill/>
          <a:ln/>
        </p:spPr>
        <p:txBody>
          <a:bodyPr wrap="square" lIns="0" tIns="0" rIns="0" bIns="0" rtlCol="0" anchor="ctr"/>
          <a:lstStyle/>
          <a:p>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coins</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3</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a:p>
            <a:pPr indent="0" marL="0">
              <a:lnSpc>
                <a:spcPct val="105000"/>
              </a:lnSpc>
              <a:buNone/>
            </a:pPr>
            <a:r>
              <a:rPr lang="en-US" sz="1800" dirty="0">
                <a:solidFill>
                  <a:srgbClr val="C586C0"/>
                </a:solidFill>
                <a:latin typeface="Courier New" pitchFamily="34" charset="0"/>
                <a:ea typeface="Courier New" pitchFamily="34" charset="-122"/>
                <a:cs typeface="Courier New" pitchFamily="34" charset="-120"/>
              </a:rPr>
              <a:t>for</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&lt;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coins</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i</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x</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random</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40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760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let</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random</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80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560</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circle</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x</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y</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36</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a:p>
            <a:pPr indent="0" marL="0">
              <a:lnSpc>
                <a:spcPct val="105000"/>
              </a:lnSpc>
              <a:buNone/>
            </a:pPr>
            <a:r>
              <a:rPr lang="en-US" sz="1800" dirty="0">
                <a:solidFill>
                  <a:srgbClr val="569CD6"/>
                </a:solidFill>
                <a:latin typeface="Courier New" pitchFamily="34" charset="0"/>
                <a:ea typeface="Courier New" pitchFamily="34" charset="-122"/>
                <a:cs typeface="Courier New" pitchFamily="34" charset="-120"/>
              </a:rPr>
              <a:t>function</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DCDCAA"/>
                </a:solidFill>
                <a:latin typeface="Courier New" pitchFamily="34" charset="0"/>
                <a:ea typeface="Courier New" pitchFamily="34" charset="-122"/>
                <a:cs typeface="Courier New" pitchFamily="34" charset="-120"/>
              </a:rPr>
              <a:t>mousePressed</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coins</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9CDCFE"/>
                </a:solidFill>
                <a:latin typeface="Courier New" pitchFamily="34" charset="0"/>
                <a:ea typeface="Courier New" pitchFamily="34" charset="-122"/>
                <a:cs typeface="Courier New" pitchFamily="34" charset="-120"/>
              </a:rPr>
              <a:t>coins</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 + </a:t>
            </a:r>
            <a:pPr indent="0" marL="0">
              <a:lnSpc>
                <a:spcPct val="105000"/>
              </a:lnSpc>
              <a:buNone/>
            </a:pPr>
            <a:r>
              <a:rPr lang="en-US" sz="1800" dirty="0">
                <a:solidFill>
                  <a:srgbClr val="B5CEA8"/>
                </a:solidFill>
                <a:latin typeface="Courier New" pitchFamily="34" charset="0"/>
                <a:ea typeface="Courier New" pitchFamily="34" charset="-122"/>
                <a:cs typeface="Courier New" pitchFamily="34" charset="-120"/>
              </a:rPr>
              <a:t>1</a:t>
            </a:r>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a:p>
            <a:pPr indent="0" marL="0">
              <a:lnSpc>
                <a:spcPct val="105000"/>
              </a:lnSpc>
              <a:buNone/>
            </a:pPr>
            <a:r>
              <a:rPr lang="en-US" sz="1800" dirty="0">
                <a:solidFill>
                  <a:srgbClr val="D4D4D4"/>
                </a:solidFill>
                <a:latin typeface="Courier New" pitchFamily="34" charset="0"/>
                <a:ea typeface="Courier New" pitchFamily="34" charset="-122"/>
                <a:cs typeface="Courier New" pitchFamily="34" charset="-120"/>
              </a:rPr>
              <a:t>}</a:t>
            </a:r>
            <a:endParaRPr lang="en-US" sz="1800" dirty="0"/>
          </a:p>
        </p:txBody>
      </p:sp>
      <p:sp>
        <p:nvSpPr>
          <p:cNvPr id="6" name="Shape 4"/>
          <p:cNvSpPr/>
          <p:nvPr/>
        </p:nvSpPr>
        <p:spPr>
          <a:xfrm>
            <a:off x="6144768" y="1115568"/>
            <a:ext cx="2651760" cy="2148840"/>
          </a:xfrm>
          <a:prstGeom prst="roundRect">
            <a:avLst>
              <a:gd name="adj" fmla="val 3404"/>
            </a:avLst>
          </a:prstGeom>
          <a:solidFill>
            <a:srgbClr val="2B2B2B"/>
          </a:solidFill>
          <a:ln w="12700">
            <a:solidFill>
              <a:srgbClr val="2B2B2B"/>
            </a:solidFill>
            <a:prstDash val="solid"/>
          </a:ln>
        </p:spPr>
      </p:sp>
      <p:sp>
        <p:nvSpPr>
          <p:cNvPr id="7" name="Shape 5"/>
          <p:cNvSpPr/>
          <p:nvPr/>
        </p:nvSpPr>
        <p:spPr>
          <a:xfrm>
            <a:off x="6080760" y="1051560"/>
            <a:ext cx="2651760" cy="2148840"/>
          </a:xfrm>
          <a:prstGeom prst="roundRect">
            <a:avLst>
              <a:gd name="adj" fmla="val 3404"/>
            </a:avLst>
          </a:prstGeom>
          <a:solidFill>
            <a:srgbClr val="FFFFFF"/>
          </a:solidFill>
          <a:ln w="25400">
            <a:solidFill>
              <a:srgbClr val="2B2B2B"/>
            </a:solidFill>
            <a:prstDash val="solid"/>
          </a:ln>
        </p:spPr>
      </p:sp>
      <p:sp>
        <p:nvSpPr>
          <p:cNvPr id="8" name="Text 6"/>
          <p:cNvSpPr txBox="1"/>
          <p:nvPr/>
        </p:nvSpPr>
        <p:spPr>
          <a:xfrm>
            <a:off x="6245352" y="1143000"/>
            <a:ext cx="2322576" cy="1965960"/>
          </a:xfrm>
          <a:prstGeom prst="rect">
            <a:avLst/>
          </a:prstGeom>
          <a:noFill/>
          <a:ln/>
        </p:spPr>
        <p:txBody>
          <a:bodyPr wrap="square" lIns="0" tIns="0" rIns="0" bIns="0" rtlCol="0" anchor="t"/>
          <a:lstStyle/>
          <a:p>
            <a:pPr indent="0" marL="0">
              <a:spcAft>
                <a:spcPts val="400"/>
              </a:spcAft>
              <a:buNone/>
            </a:pPr>
            <a:r>
              <a:rPr lang="en-US" sz="1600" b="1" dirty="0">
                <a:solidFill>
                  <a:srgbClr val="5C4A12"/>
                </a:solidFill>
                <a:latin typeface="Courier New" pitchFamily="34" charset="0"/>
                <a:ea typeface="Courier New" pitchFamily="34" charset="-122"/>
                <a:cs typeface="Courier New" pitchFamily="34" charset="-120"/>
              </a:rPr>
              <a:t>CLICK FIVE TIMES</a:t>
            </a:r>
            <a:endParaRPr lang="en-US" sz="1600" dirty="0"/>
          </a:p>
          <a:p>
            <a:pPr indent="0" marL="0">
              <a:spcAft>
                <a:spcPts val="600"/>
              </a:spcAft>
              <a:buNone/>
            </a:pPr>
            <a:r>
              <a:rPr lang="en-US" sz="2000" dirty="0">
                <a:solidFill>
                  <a:srgbClr val="2B2B2B"/>
                </a:solidFill>
                <a:latin typeface="Calibri" pitchFamily="34" charset="0"/>
                <a:ea typeface="Calibri" pitchFamily="34" charset="-122"/>
                <a:cs typeface="Calibri" pitchFamily="34" charset="-120"/>
              </a:rPr>
              <a:t>Why do the old coins stay where they were?</a:t>
            </a:r>
            <a:endParaRPr lang="en-US" sz="1600" dirty="0"/>
          </a:p>
        </p:txBody>
      </p:sp>
      <p:sp>
        <p:nvSpPr>
          <p:cNvPr id="9" name="Shape 7"/>
          <p:cNvSpPr/>
          <p:nvPr/>
        </p:nvSpPr>
        <p:spPr>
          <a:xfrm>
            <a:off x="6144768" y="3493008"/>
            <a:ext cx="2651760" cy="1234440"/>
          </a:xfrm>
          <a:prstGeom prst="roundRect">
            <a:avLst>
              <a:gd name="adj" fmla="val 5926"/>
            </a:avLst>
          </a:prstGeom>
          <a:solidFill>
            <a:srgbClr val="2B2B2B"/>
          </a:solidFill>
          <a:ln w="12700">
            <a:solidFill>
              <a:srgbClr val="2B2B2B"/>
            </a:solidFill>
            <a:prstDash val="solid"/>
          </a:ln>
        </p:spPr>
      </p:sp>
      <p:sp>
        <p:nvSpPr>
          <p:cNvPr id="10" name="Shape 8"/>
          <p:cNvSpPr/>
          <p:nvPr/>
        </p:nvSpPr>
        <p:spPr>
          <a:xfrm>
            <a:off x="6080760" y="3429000"/>
            <a:ext cx="2651760" cy="1234440"/>
          </a:xfrm>
          <a:prstGeom prst="roundRect">
            <a:avLst>
              <a:gd name="adj" fmla="val 5926"/>
            </a:avLst>
          </a:prstGeom>
          <a:solidFill>
            <a:srgbClr val="FFFFFF"/>
          </a:solidFill>
          <a:ln w="25400">
            <a:solidFill>
              <a:srgbClr val="2B2B2B"/>
            </a:solidFill>
            <a:prstDash val="solid"/>
          </a:ln>
        </p:spPr>
      </p:sp>
      <p:sp>
        <p:nvSpPr>
          <p:cNvPr id="11" name="Text 9"/>
          <p:cNvSpPr txBox="1"/>
          <p:nvPr/>
        </p:nvSpPr>
        <p:spPr>
          <a:xfrm>
            <a:off x="6245352" y="3520440"/>
            <a:ext cx="2322576" cy="1051560"/>
          </a:xfrm>
          <a:prstGeom prst="rect">
            <a:avLst/>
          </a:prstGeom>
          <a:noFill/>
          <a:ln/>
        </p:spPr>
        <p:txBody>
          <a:bodyPr wrap="square" lIns="0" tIns="0" rIns="0" bIns="0" rtlCol="0" anchor="t"/>
          <a:lstStyle/>
          <a:p>
            <a:pPr indent="0" marL="0">
              <a:spcAft>
                <a:spcPts val="400"/>
              </a:spcAft>
              <a:buNone/>
            </a:pPr>
            <a:r>
              <a:rPr lang="en-US" sz="1600" b="1" dirty="0">
                <a:solidFill>
                  <a:srgbClr val="5C4A12"/>
                </a:solidFill>
                <a:latin typeface="Courier New" pitchFamily="34" charset="0"/>
                <a:ea typeface="Courier New" pitchFamily="34" charset="-122"/>
                <a:cs typeface="Courier New" pitchFamily="34" charset="-120"/>
              </a:rPr>
              <a:t>THEN</a:t>
            </a:r>
            <a:endParaRPr lang="en-US" sz="1600" dirty="0"/>
          </a:p>
          <a:p>
            <a:pPr indent="0" marL="0">
              <a:spcAft>
                <a:spcPts val="600"/>
              </a:spcAft>
              <a:buNone/>
            </a:pPr>
            <a:r>
              <a:rPr lang="en-US" sz="2000" b="1" dirty="0">
                <a:solidFill>
                  <a:srgbClr val="2B2B2B"/>
                </a:solidFill>
                <a:latin typeface="Courier New" pitchFamily="34" charset="0"/>
                <a:ea typeface="Courier New" pitchFamily="34" charset="-122"/>
                <a:cs typeface="Courier New" pitchFamily="34" charset="-120"/>
              </a:rPr>
              <a:t>coins = 0</a:t>
            </a:r>
            <a:pPr indent="0" marL="0">
              <a:spcAft>
                <a:spcPts val="600"/>
              </a:spcAft>
              <a:buNone/>
            </a:pPr>
            <a:r>
              <a:rPr lang="en-US" sz="2000" dirty="0">
                <a:solidFill>
                  <a:srgbClr val="2B2B2B"/>
                </a:solidFill>
                <a:latin typeface="Calibri" pitchFamily="34" charset="0"/>
                <a:ea typeface="Calibri" pitchFamily="34" charset="-122"/>
                <a:cs typeface="Calibri" pitchFamily="34" charset="-120"/>
              </a:rPr>
              <a:t>. What runs?</a:t>
            </a:r>
            <a:endParaRPr lang="en-US" sz="16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Check yourself: how many trips?</a:t>
            </a:r>
            <a:endParaRPr lang="en-US" sz="3200" dirty="0"/>
          </a:p>
        </p:txBody>
      </p:sp>
      <p:sp>
        <p:nvSpPr>
          <p:cNvPr id="3" name="Shape 1"/>
          <p:cNvSpPr/>
          <p:nvPr/>
        </p:nvSpPr>
        <p:spPr>
          <a:xfrm>
            <a:off x="411480" y="1106424"/>
            <a:ext cx="640080" cy="640080"/>
          </a:xfrm>
          <a:prstGeom prst="roundRect">
            <a:avLst>
              <a:gd name="adj" fmla="val 8571"/>
            </a:avLst>
          </a:prstGeom>
          <a:solidFill>
            <a:srgbClr val="2B2B2B"/>
          </a:solidFill>
          <a:ln w="12700">
            <a:solidFill>
              <a:srgbClr val="2B2B2B"/>
            </a:solidFill>
            <a:prstDash val="solid"/>
          </a:ln>
        </p:spPr>
      </p:sp>
      <p:sp>
        <p:nvSpPr>
          <p:cNvPr id="4" name="Text 2"/>
          <p:cNvSpPr txBox="1"/>
          <p:nvPr/>
        </p:nvSpPr>
        <p:spPr>
          <a:xfrm>
            <a:off x="411480" y="1106424"/>
            <a:ext cx="640080" cy="640080"/>
          </a:xfrm>
          <a:prstGeom prst="rect">
            <a:avLst/>
          </a:prstGeom>
          <a:noFill/>
          <a:ln/>
        </p:spPr>
        <p:txBody>
          <a:bodyPr wrap="square" lIns="0" tIns="0" rIns="0" bIns="0" rtlCol="0" anchor="ctr"/>
          <a:lstStyle/>
          <a:p>
            <a:pPr algn="ctr" indent="0" marL="0">
              <a:buNone/>
            </a:pPr>
            <a:r>
              <a:rPr lang="en-US" sz="2400" dirty="0">
                <a:solidFill>
                  <a:srgbClr val="F4C430"/>
                </a:solidFill>
                <a:latin typeface="Arial Black" pitchFamily="34" charset="0"/>
                <a:ea typeface="Arial Black" pitchFamily="34" charset="-122"/>
                <a:cs typeface="Arial Black" pitchFamily="34" charset="-120"/>
              </a:rPr>
              <a:t>1</a:t>
            </a:r>
            <a:endParaRPr lang="en-US" sz="2400" dirty="0"/>
          </a:p>
        </p:txBody>
      </p:sp>
      <p:sp>
        <p:nvSpPr>
          <p:cNvPr id="5" name="Shape 3"/>
          <p:cNvSpPr/>
          <p:nvPr/>
        </p:nvSpPr>
        <p:spPr>
          <a:xfrm>
            <a:off x="1344168" y="1115568"/>
            <a:ext cx="7452360" cy="749808"/>
          </a:xfrm>
          <a:prstGeom prst="roundRect">
            <a:avLst>
              <a:gd name="adj" fmla="val 9756"/>
            </a:avLst>
          </a:prstGeom>
          <a:solidFill>
            <a:srgbClr val="2B2B2B"/>
          </a:solidFill>
          <a:ln w="12700">
            <a:solidFill>
              <a:srgbClr val="2B2B2B"/>
            </a:solidFill>
            <a:prstDash val="solid"/>
          </a:ln>
        </p:spPr>
      </p:sp>
      <p:sp>
        <p:nvSpPr>
          <p:cNvPr id="6" name="Shape 4"/>
          <p:cNvSpPr/>
          <p:nvPr/>
        </p:nvSpPr>
        <p:spPr>
          <a:xfrm>
            <a:off x="1280160" y="1051560"/>
            <a:ext cx="7452360" cy="749808"/>
          </a:xfrm>
          <a:prstGeom prst="roundRect">
            <a:avLst>
              <a:gd name="adj" fmla="val 9756"/>
            </a:avLst>
          </a:prstGeom>
          <a:solidFill>
            <a:srgbClr val="FFFFFF"/>
          </a:solidFill>
          <a:ln w="25400">
            <a:solidFill>
              <a:srgbClr val="2B2B2B"/>
            </a:solidFill>
            <a:prstDash val="solid"/>
          </a:ln>
        </p:spPr>
      </p:sp>
      <p:sp>
        <p:nvSpPr>
          <p:cNvPr id="7" name="Text 5"/>
          <p:cNvSpPr txBox="1"/>
          <p:nvPr/>
        </p:nvSpPr>
        <p:spPr>
          <a:xfrm>
            <a:off x="1463040" y="1051560"/>
            <a:ext cx="7132320" cy="749808"/>
          </a:xfrm>
          <a:prstGeom prst="rect">
            <a:avLst/>
          </a:prstGeom>
          <a:noFill/>
          <a:ln/>
        </p:spPr>
        <p:txBody>
          <a:bodyPr wrap="square" lIns="0" tIns="0" rIns="0" bIns="0" rtlCol="0" anchor="ctr"/>
          <a:lstStyle/>
          <a:p>
            <a:pPr indent="0" marL="0">
              <a:buNone/>
            </a:pPr>
            <a:r>
              <a:rPr lang="en-US" sz="2200" dirty="0">
                <a:solidFill>
                  <a:srgbClr val="2B2B2B"/>
                </a:solidFill>
                <a:latin typeface="Courier New" pitchFamily="34" charset="0"/>
                <a:ea typeface="Courier New" pitchFamily="34" charset="-122"/>
                <a:cs typeface="Courier New" pitchFamily="34" charset="-120"/>
              </a:rPr>
              <a:t>for (let i = 0; i &lt; 7; i++)</a:t>
            </a:r>
            <a:endParaRPr lang="en-US" sz="2200" dirty="0"/>
          </a:p>
        </p:txBody>
      </p:sp>
      <p:sp>
        <p:nvSpPr>
          <p:cNvPr id="8" name="Shape 6"/>
          <p:cNvSpPr/>
          <p:nvPr/>
        </p:nvSpPr>
        <p:spPr>
          <a:xfrm>
            <a:off x="411480" y="2020824"/>
            <a:ext cx="640080" cy="640080"/>
          </a:xfrm>
          <a:prstGeom prst="roundRect">
            <a:avLst>
              <a:gd name="adj" fmla="val 8571"/>
            </a:avLst>
          </a:prstGeom>
          <a:solidFill>
            <a:srgbClr val="2B2B2B"/>
          </a:solidFill>
          <a:ln w="12700">
            <a:solidFill>
              <a:srgbClr val="2B2B2B"/>
            </a:solidFill>
            <a:prstDash val="solid"/>
          </a:ln>
        </p:spPr>
      </p:sp>
      <p:sp>
        <p:nvSpPr>
          <p:cNvPr id="9" name="Text 7"/>
          <p:cNvSpPr txBox="1"/>
          <p:nvPr/>
        </p:nvSpPr>
        <p:spPr>
          <a:xfrm>
            <a:off x="411480" y="2020824"/>
            <a:ext cx="640080" cy="640080"/>
          </a:xfrm>
          <a:prstGeom prst="rect">
            <a:avLst/>
          </a:prstGeom>
          <a:noFill/>
          <a:ln/>
        </p:spPr>
        <p:txBody>
          <a:bodyPr wrap="square" lIns="0" tIns="0" rIns="0" bIns="0" rtlCol="0" anchor="ctr"/>
          <a:lstStyle/>
          <a:p>
            <a:pPr algn="ctr" indent="0" marL="0">
              <a:buNone/>
            </a:pPr>
            <a:r>
              <a:rPr lang="en-US" sz="2400" dirty="0">
                <a:solidFill>
                  <a:srgbClr val="F4C430"/>
                </a:solidFill>
                <a:latin typeface="Arial Black" pitchFamily="34" charset="0"/>
                <a:ea typeface="Arial Black" pitchFamily="34" charset="-122"/>
                <a:cs typeface="Arial Black" pitchFamily="34" charset="-120"/>
              </a:rPr>
              <a:t>2</a:t>
            </a:r>
            <a:endParaRPr lang="en-US" sz="2400" dirty="0"/>
          </a:p>
        </p:txBody>
      </p:sp>
      <p:sp>
        <p:nvSpPr>
          <p:cNvPr id="10" name="Shape 8"/>
          <p:cNvSpPr/>
          <p:nvPr/>
        </p:nvSpPr>
        <p:spPr>
          <a:xfrm>
            <a:off x="1344168" y="2029968"/>
            <a:ext cx="7452360" cy="749808"/>
          </a:xfrm>
          <a:prstGeom prst="roundRect">
            <a:avLst>
              <a:gd name="adj" fmla="val 9756"/>
            </a:avLst>
          </a:prstGeom>
          <a:solidFill>
            <a:srgbClr val="2B2B2B"/>
          </a:solidFill>
          <a:ln w="12700">
            <a:solidFill>
              <a:srgbClr val="2B2B2B"/>
            </a:solidFill>
            <a:prstDash val="solid"/>
          </a:ln>
        </p:spPr>
      </p:sp>
      <p:sp>
        <p:nvSpPr>
          <p:cNvPr id="11" name="Shape 9"/>
          <p:cNvSpPr/>
          <p:nvPr/>
        </p:nvSpPr>
        <p:spPr>
          <a:xfrm>
            <a:off x="1280160" y="1965960"/>
            <a:ext cx="7452360" cy="749808"/>
          </a:xfrm>
          <a:prstGeom prst="roundRect">
            <a:avLst>
              <a:gd name="adj" fmla="val 9756"/>
            </a:avLst>
          </a:prstGeom>
          <a:solidFill>
            <a:srgbClr val="FFFFFF"/>
          </a:solidFill>
          <a:ln w="25400">
            <a:solidFill>
              <a:srgbClr val="2B2B2B"/>
            </a:solidFill>
            <a:prstDash val="solid"/>
          </a:ln>
        </p:spPr>
      </p:sp>
      <p:sp>
        <p:nvSpPr>
          <p:cNvPr id="12" name="Text 10"/>
          <p:cNvSpPr txBox="1"/>
          <p:nvPr/>
        </p:nvSpPr>
        <p:spPr>
          <a:xfrm>
            <a:off x="1463040" y="1965960"/>
            <a:ext cx="7132320" cy="749808"/>
          </a:xfrm>
          <a:prstGeom prst="rect">
            <a:avLst/>
          </a:prstGeom>
          <a:noFill/>
          <a:ln/>
        </p:spPr>
        <p:txBody>
          <a:bodyPr wrap="square" lIns="0" tIns="0" rIns="0" bIns="0" rtlCol="0" anchor="ctr"/>
          <a:lstStyle/>
          <a:p>
            <a:pPr indent="0" marL="0">
              <a:buNone/>
            </a:pPr>
            <a:r>
              <a:rPr lang="en-US" sz="2200" dirty="0">
                <a:solidFill>
                  <a:srgbClr val="2B2B2B"/>
                </a:solidFill>
                <a:latin typeface="Courier New" pitchFamily="34" charset="0"/>
                <a:ea typeface="Courier New" pitchFamily="34" charset="-122"/>
                <a:cs typeface="Courier New" pitchFamily="34" charset="-120"/>
              </a:rPr>
              <a:t>for (let i = 2; i &lt; 7; i++)</a:t>
            </a:r>
            <a:endParaRPr lang="en-US" sz="2200" dirty="0"/>
          </a:p>
        </p:txBody>
      </p:sp>
      <p:sp>
        <p:nvSpPr>
          <p:cNvPr id="13" name="Shape 11"/>
          <p:cNvSpPr/>
          <p:nvPr/>
        </p:nvSpPr>
        <p:spPr>
          <a:xfrm>
            <a:off x="411480" y="2935224"/>
            <a:ext cx="640080" cy="640080"/>
          </a:xfrm>
          <a:prstGeom prst="roundRect">
            <a:avLst>
              <a:gd name="adj" fmla="val 8571"/>
            </a:avLst>
          </a:prstGeom>
          <a:solidFill>
            <a:srgbClr val="2B2B2B"/>
          </a:solidFill>
          <a:ln w="12700">
            <a:solidFill>
              <a:srgbClr val="2B2B2B"/>
            </a:solidFill>
            <a:prstDash val="solid"/>
          </a:ln>
        </p:spPr>
      </p:sp>
      <p:sp>
        <p:nvSpPr>
          <p:cNvPr id="14" name="Text 12"/>
          <p:cNvSpPr txBox="1"/>
          <p:nvPr/>
        </p:nvSpPr>
        <p:spPr>
          <a:xfrm>
            <a:off x="411480" y="2935224"/>
            <a:ext cx="640080" cy="640080"/>
          </a:xfrm>
          <a:prstGeom prst="rect">
            <a:avLst/>
          </a:prstGeom>
          <a:noFill/>
          <a:ln/>
        </p:spPr>
        <p:txBody>
          <a:bodyPr wrap="square" lIns="0" tIns="0" rIns="0" bIns="0" rtlCol="0" anchor="ctr"/>
          <a:lstStyle/>
          <a:p>
            <a:pPr algn="ctr" indent="0" marL="0">
              <a:buNone/>
            </a:pPr>
            <a:r>
              <a:rPr lang="en-US" sz="2400" dirty="0">
                <a:solidFill>
                  <a:srgbClr val="F4C430"/>
                </a:solidFill>
                <a:latin typeface="Arial Black" pitchFamily="34" charset="0"/>
                <a:ea typeface="Arial Black" pitchFamily="34" charset="-122"/>
                <a:cs typeface="Arial Black" pitchFamily="34" charset="-120"/>
              </a:rPr>
              <a:t>3</a:t>
            </a:r>
            <a:endParaRPr lang="en-US" sz="2400" dirty="0"/>
          </a:p>
        </p:txBody>
      </p:sp>
      <p:sp>
        <p:nvSpPr>
          <p:cNvPr id="15" name="Shape 13"/>
          <p:cNvSpPr/>
          <p:nvPr/>
        </p:nvSpPr>
        <p:spPr>
          <a:xfrm>
            <a:off x="1344168" y="2944368"/>
            <a:ext cx="7452360" cy="749808"/>
          </a:xfrm>
          <a:prstGeom prst="roundRect">
            <a:avLst>
              <a:gd name="adj" fmla="val 9756"/>
            </a:avLst>
          </a:prstGeom>
          <a:solidFill>
            <a:srgbClr val="2B2B2B"/>
          </a:solidFill>
          <a:ln w="12700">
            <a:solidFill>
              <a:srgbClr val="2B2B2B"/>
            </a:solidFill>
            <a:prstDash val="solid"/>
          </a:ln>
        </p:spPr>
      </p:sp>
      <p:sp>
        <p:nvSpPr>
          <p:cNvPr id="16" name="Shape 14"/>
          <p:cNvSpPr/>
          <p:nvPr/>
        </p:nvSpPr>
        <p:spPr>
          <a:xfrm>
            <a:off x="1280160" y="2880360"/>
            <a:ext cx="7452360" cy="749808"/>
          </a:xfrm>
          <a:prstGeom prst="roundRect">
            <a:avLst>
              <a:gd name="adj" fmla="val 9756"/>
            </a:avLst>
          </a:prstGeom>
          <a:solidFill>
            <a:srgbClr val="FFFFFF"/>
          </a:solidFill>
          <a:ln w="25400">
            <a:solidFill>
              <a:srgbClr val="2B2B2B"/>
            </a:solidFill>
            <a:prstDash val="solid"/>
          </a:ln>
        </p:spPr>
      </p:sp>
      <p:sp>
        <p:nvSpPr>
          <p:cNvPr id="17" name="Text 15"/>
          <p:cNvSpPr txBox="1"/>
          <p:nvPr/>
        </p:nvSpPr>
        <p:spPr>
          <a:xfrm>
            <a:off x="1463040" y="2880360"/>
            <a:ext cx="7132320" cy="749808"/>
          </a:xfrm>
          <a:prstGeom prst="rect">
            <a:avLst/>
          </a:prstGeom>
          <a:noFill/>
          <a:ln/>
        </p:spPr>
        <p:txBody>
          <a:bodyPr wrap="square" lIns="0" tIns="0" rIns="0" bIns="0" rtlCol="0" anchor="ctr"/>
          <a:lstStyle/>
          <a:p>
            <a:pPr indent="0" marL="0">
              <a:buNone/>
            </a:pPr>
            <a:r>
              <a:rPr lang="en-US" sz="2200" dirty="0">
                <a:solidFill>
                  <a:srgbClr val="2B2B2B"/>
                </a:solidFill>
                <a:latin typeface="Courier New" pitchFamily="34" charset="0"/>
                <a:ea typeface="Courier New" pitchFamily="34" charset="-122"/>
                <a:cs typeface="Courier New" pitchFamily="34" charset="-120"/>
              </a:rPr>
              <a:t>REPEAT 12 TIMES  →  for header?</a:t>
            </a:r>
            <a:endParaRPr lang="en-US" sz="2200" dirty="0"/>
          </a:p>
        </p:txBody>
      </p:sp>
      <p:sp>
        <p:nvSpPr>
          <p:cNvPr id="18" name="Shape 16"/>
          <p:cNvSpPr/>
          <p:nvPr/>
        </p:nvSpPr>
        <p:spPr>
          <a:xfrm>
            <a:off x="411480" y="3849624"/>
            <a:ext cx="640080" cy="640080"/>
          </a:xfrm>
          <a:prstGeom prst="roundRect">
            <a:avLst>
              <a:gd name="adj" fmla="val 8571"/>
            </a:avLst>
          </a:prstGeom>
          <a:solidFill>
            <a:srgbClr val="2B2B2B"/>
          </a:solidFill>
          <a:ln w="12700">
            <a:solidFill>
              <a:srgbClr val="2B2B2B"/>
            </a:solidFill>
            <a:prstDash val="solid"/>
          </a:ln>
        </p:spPr>
      </p:sp>
      <p:sp>
        <p:nvSpPr>
          <p:cNvPr id="19" name="Text 17"/>
          <p:cNvSpPr txBox="1"/>
          <p:nvPr/>
        </p:nvSpPr>
        <p:spPr>
          <a:xfrm>
            <a:off x="411480" y="3849624"/>
            <a:ext cx="640080" cy="640080"/>
          </a:xfrm>
          <a:prstGeom prst="rect">
            <a:avLst/>
          </a:prstGeom>
          <a:noFill/>
          <a:ln/>
        </p:spPr>
        <p:txBody>
          <a:bodyPr wrap="square" lIns="0" tIns="0" rIns="0" bIns="0" rtlCol="0" anchor="ctr"/>
          <a:lstStyle/>
          <a:p>
            <a:pPr algn="ctr" indent="0" marL="0">
              <a:buNone/>
            </a:pPr>
            <a:r>
              <a:rPr lang="en-US" sz="2400" dirty="0">
                <a:solidFill>
                  <a:srgbClr val="F4C430"/>
                </a:solidFill>
                <a:latin typeface="Arial Black" pitchFamily="34" charset="0"/>
                <a:ea typeface="Arial Black" pitchFamily="34" charset="-122"/>
                <a:cs typeface="Arial Black" pitchFamily="34" charset="-120"/>
              </a:rPr>
              <a:t>4</a:t>
            </a:r>
            <a:endParaRPr lang="en-US" sz="2400" dirty="0"/>
          </a:p>
        </p:txBody>
      </p:sp>
      <p:sp>
        <p:nvSpPr>
          <p:cNvPr id="20" name="Shape 18"/>
          <p:cNvSpPr/>
          <p:nvPr/>
        </p:nvSpPr>
        <p:spPr>
          <a:xfrm>
            <a:off x="1344168" y="3858768"/>
            <a:ext cx="7452360" cy="749808"/>
          </a:xfrm>
          <a:prstGeom prst="roundRect">
            <a:avLst>
              <a:gd name="adj" fmla="val 9756"/>
            </a:avLst>
          </a:prstGeom>
          <a:solidFill>
            <a:srgbClr val="2B2B2B"/>
          </a:solidFill>
          <a:ln w="12700">
            <a:solidFill>
              <a:srgbClr val="2B2B2B"/>
            </a:solidFill>
            <a:prstDash val="solid"/>
          </a:ln>
        </p:spPr>
      </p:sp>
      <p:sp>
        <p:nvSpPr>
          <p:cNvPr id="21" name="Shape 19"/>
          <p:cNvSpPr/>
          <p:nvPr/>
        </p:nvSpPr>
        <p:spPr>
          <a:xfrm>
            <a:off x="1280160" y="3794760"/>
            <a:ext cx="7452360" cy="749808"/>
          </a:xfrm>
          <a:prstGeom prst="roundRect">
            <a:avLst>
              <a:gd name="adj" fmla="val 9756"/>
            </a:avLst>
          </a:prstGeom>
          <a:solidFill>
            <a:srgbClr val="FFFFFF"/>
          </a:solidFill>
          <a:ln w="25400">
            <a:solidFill>
              <a:srgbClr val="2B2B2B"/>
            </a:solidFill>
            <a:prstDash val="solid"/>
          </a:ln>
        </p:spPr>
      </p:sp>
      <p:sp>
        <p:nvSpPr>
          <p:cNvPr id="22" name="Text 20"/>
          <p:cNvSpPr txBox="1"/>
          <p:nvPr/>
        </p:nvSpPr>
        <p:spPr>
          <a:xfrm>
            <a:off x="1463040" y="3794760"/>
            <a:ext cx="7132320" cy="749808"/>
          </a:xfrm>
          <a:prstGeom prst="rect">
            <a:avLst/>
          </a:prstGeom>
          <a:noFill/>
          <a:ln/>
        </p:spPr>
        <p:txBody>
          <a:bodyPr wrap="square" lIns="0" tIns="0" rIns="0" bIns="0" rtlCol="0" anchor="ctr"/>
          <a:lstStyle/>
          <a:p>
            <a:pPr indent="0" marL="0">
              <a:buNone/>
            </a:pPr>
            <a:r>
              <a:rPr lang="en-US" sz="2200" dirty="0">
                <a:solidFill>
                  <a:srgbClr val="2B2B2B"/>
                </a:solidFill>
                <a:latin typeface="Courier New" pitchFamily="34" charset="0"/>
                <a:ea typeface="Courier New" pitchFamily="34" charset="-122"/>
                <a:cs typeface="Courier New" pitchFamily="34" charset="-120"/>
              </a:rPr>
              <a:t>for (let i = 0; i &lt; 10; i = i + 2)</a:t>
            </a:r>
            <a:endParaRPr lang="en-US" sz="22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85800"/>
          </a:xfrm>
          <a:prstGeom prst="rect">
            <a:avLst/>
          </a:prstGeom>
          <a:noFill/>
          <a:ln/>
        </p:spPr>
        <p:txBody>
          <a:bodyPr wrap="square" lIns="0" tIns="0" rIns="0" bIns="0" rtlCol="0" anchor="ctr"/>
          <a:lstStyle/>
          <a:p>
            <a:pPr algn="l" indent="0" marL="0">
              <a:buNone/>
            </a:pPr>
            <a:r>
              <a:rPr lang="en-US" sz="3200" dirty="0">
                <a:solidFill>
                  <a:srgbClr val="2B2B2B"/>
                </a:solidFill>
                <a:latin typeface="Arial Black" pitchFamily="34" charset="0"/>
                <a:ea typeface="Arial Black" pitchFamily="34" charset="-122"/>
                <a:cs typeface="Arial Black" pitchFamily="34" charset="-120"/>
              </a:rPr>
              <a:t>Where this fits: 3.8 Iteration</a:t>
            </a:r>
            <a:endParaRPr lang="en-US" sz="3200" dirty="0"/>
          </a:p>
        </p:txBody>
      </p:sp>
      <p:sp>
        <p:nvSpPr>
          <p:cNvPr id="3" name="Shape 1"/>
          <p:cNvSpPr/>
          <p:nvPr/>
        </p:nvSpPr>
        <p:spPr>
          <a:xfrm>
            <a:off x="475488" y="1115568"/>
            <a:ext cx="8321040" cy="3566160"/>
          </a:xfrm>
          <a:prstGeom prst="roundRect">
            <a:avLst>
              <a:gd name="adj" fmla="val 2051"/>
            </a:avLst>
          </a:prstGeom>
          <a:solidFill>
            <a:srgbClr val="2B2B2B"/>
          </a:solidFill>
          <a:ln w="12700">
            <a:solidFill>
              <a:srgbClr val="2B2B2B"/>
            </a:solidFill>
            <a:prstDash val="solid"/>
          </a:ln>
        </p:spPr>
      </p:sp>
      <p:sp>
        <p:nvSpPr>
          <p:cNvPr id="4" name="Shape 2"/>
          <p:cNvSpPr/>
          <p:nvPr/>
        </p:nvSpPr>
        <p:spPr>
          <a:xfrm>
            <a:off x="411480" y="1051560"/>
            <a:ext cx="8321040" cy="3566160"/>
          </a:xfrm>
          <a:prstGeom prst="roundRect">
            <a:avLst>
              <a:gd name="adj" fmla="val 2051"/>
            </a:avLst>
          </a:prstGeom>
          <a:solidFill>
            <a:srgbClr val="FFFFFF"/>
          </a:solidFill>
          <a:ln w="25400">
            <a:solidFill>
              <a:srgbClr val="2B2B2B"/>
            </a:solidFill>
            <a:prstDash val="solid"/>
          </a:ln>
        </p:spPr>
      </p:sp>
      <p:sp>
        <p:nvSpPr>
          <p:cNvPr id="5" name="Text 3"/>
          <p:cNvSpPr txBox="1"/>
          <p:nvPr/>
        </p:nvSpPr>
        <p:spPr>
          <a:xfrm>
            <a:off x="640080" y="1234440"/>
            <a:ext cx="1554480" cy="731520"/>
          </a:xfrm>
          <a:prstGeom prst="rect">
            <a:avLst/>
          </a:prstGeom>
          <a:noFill/>
          <a:ln/>
        </p:spPr>
        <p:txBody>
          <a:bodyPr wrap="square" lIns="0" tIns="0" rIns="0" bIns="0" rtlCol="0" anchor="ctr"/>
          <a:lstStyle/>
          <a:p>
            <a:pPr indent="0" marL="0">
              <a:buNone/>
            </a:pPr>
            <a:r>
              <a:rPr lang="en-US" sz="2200" b="1" dirty="0">
                <a:solidFill>
                  <a:srgbClr val="2B2B2B"/>
                </a:solidFill>
                <a:latin typeface="Courier New" pitchFamily="34" charset="0"/>
                <a:ea typeface="Courier New" pitchFamily="34" charset="-122"/>
                <a:cs typeface="Courier New" pitchFamily="34" charset="-120"/>
              </a:rPr>
              <a:t>AAP-2.J</a:t>
            </a:r>
            <a:endParaRPr lang="en-US" sz="2200" dirty="0"/>
          </a:p>
        </p:txBody>
      </p:sp>
      <p:sp>
        <p:nvSpPr>
          <p:cNvPr id="6" name="Text 4"/>
          <p:cNvSpPr txBox="1"/>
          <p:nvPr/>
        </p:nvSpPr>
        <p:spPr>
          <a:xfrm>
            <a:off x="2286000" y="1234440"/>
            <a:ext cx="6263640" cy="731520"/>
          </a:xfrm>
          <a:prstGeom prst="rect">
            <a:avLst/>
          </a:prstGeom>
          <a:noFill/>
          <a:ln/>
        </p:spPr>
        <p:txBody>
          <a:bodyPr wrap="square" lIns="0" tIns="0" rIns="0" bIns="0" rtlCol="0" anchor="ctr"/>
          <a:lstStyle/>
          <a:p>
            <a:pPr indent="0" marL="0">
              <a:buNone/>
            </a:pPr>
            <a:r>
              <a:rPr lang="en-US" sz="2000" dirty="0">
                <a:solidFill>
                  <a:srgbClr val="2B2B2B"/>
                </a:solidFill>
              </a:rPr>
              <a:t>Express an algorithm that uses iteration without a programming language.</a:t>
            </a:r>
            <a:endParaRPr lang="en-US" sz="2000" dirty="0"/>
          </a:p>
        </p:txBody>
      </p:sp>
      <p:sp>
        <p:nvSpPr>
          <p:cNvPr id="7" name="Text 5"/>
          <p:cNvSpPr txBox="1"/>
          <p:nvPr/>
        </p:nvSpPr>
        <p:spPr>
          <a:xfrm>
            <a:off x="640080" y="2057400"/>
            <a:ext cx="1554480" cy="731520"/>
          </a:xfrm>
          <a:prstGeom prst="rect">
            <a:avLst/>
          </a:prstGeom>
          <a:noFill/>
          <a:ln/>
        </p:spPr>
        <p:txBody>
          <a:bodyPr wrap="square" lIns="0" tIns="0" rIns="0" bIns="0" rtlCol="0" anchor="ctr"/>
          <a:lstStyle/>
          <a:p>
            <a:pPr indent="0" marL="0">
              <a:buNone/>
            </a:pPr>
            <a:r>
              <a:rPr lang="en-US" sz="2200" b="1" dirty="0">
                <a:solidFill>
                  <a:srgbClr val="2B2B2B"/>
                </a:solidFill>
                <a:latin typeface="Courier New" pitchFamily="34" charset="0"/>
                <a:ea typeface="Courier New" pitchFamily="34" charset="-122"/>
                <a:cs typeface="Courier New" pitchFamily="34" charset="-120"/>
              </a:rPr>
              <a:t>AAP-2.K</a:t>
            </a:r>
            <a:endParaRPr lang="en-US" sz="2200" dirty="0"/>
          </a:p>
        </p:txBody>
      </p:sp>
      <p:sp>
        <p:nvSpPr>
          <p:cNvPr id="8" name="Text 6"/>
          <p:cNvSpPr txBox="1"/>
          <p:nvPr/>
        </p:nvSpPr>
        <p:spPr>
          <a:xfrm>
            <a:off x="2286000" y="2057400"/>
            <a:ext cx="6263640" cy="731520"/>
          </a:xfrm>
          <a:prstGeom prst="rect">
            <a:avLst/>
          </a:prstGeom>
          <a:noFill/>
          <a:ln/>
        </p:spPr>
        <p:txBody>
          <a:bodyPr wrap="square" lIns="0" tIns="0" rIns="0" bIns="0" rtlCol="0" anchor="ctr"/>
          <a:lstStyle/>
          <a:p>
            <a:pPr indent="0" marL="0">
              <a:buNone/>
            </a:pPr>
            <a:r>
              <a:rPr lang="en-US" sz="2000" dirty="0">
                <a:solidFill>
                  <a:srgbClr val="2B2B2B"/>
                </a:solidFill>
              </a:rPr>
              <a:t>Write iteration statements and find their result.</a:t>
            </a:r>
            <a:endParaRPr lang="en-US" sz="2000" dirty="0"/>
          </a:p>
        </p:txBody>
      </p:sp>
      <p:sp>
        <p:nvSpPr>
          <p:cNvPr id="9" name="Text 7"/>
          <p:cNvSpPr txBox="1"/>
          <p:nvPr/>
        </p:nvSpPr>
        <p:spPr>
          <a:xfrm>
            <a:off x="640080" y="2880360"/>
            <a:ext cx="1554480" cy="731520"/>
          </a:xfrm>
          <a:prstGeom prst="rect">
            <a:avLst/>
          </a:prstGeom>
          <a:noFill/>
          <a:ln/>
        </p:spPr>
        <p:txBody>
          <a:bodyPr wrap="square" lIns="0" tIns="0" rIns="0" bIns="0" rtlCol="0" anchor="ctr"/>
          <a:lstStyle/>
          <a:p>
            <a:pPr indent="0" marL="0">
              <a:buNone/>
            </a:pPr>
            <a:r>
              <a:rPr lang="en-US" sz="2200" b="1" dirty="0">
                <a:solidFill>
                  <a:srgbClr val="1C7A3A"/>
                </a:solidFill>
                <a:latin typeface="Courier New" pitchFamily="34" charset="0"/>
                <a:ea typeface="Courier New" pitchFamily="34" charset="-122"/>
                <a:cs typeface="Courier New" pitchFamily="34" charset="-120"/>
              </a:rPr>
              <a:t>2.B</a:t>
            </a:r>
            <a:endParaRPr lang="en-US" sz="2200" dirty="0"/>
          </a:p>
        </p:txBody>
      </p:sp>
      <p:sp>
        <p:nvSpPr>
          <p:cNvPr id="10" name="Text 8"/>
          <p:cNvSpPr txBox="1"/>
          <p:nvPr/>
        </p:nvSpPr>
        <p:spPr>
          <a:xfrm>
            <a:off x="2286000" y="2880360"/>
            <a:ext cx="6263640" cy="731520"/>
          </a:xfrm>
          <a:prstGeom prst="rect">
            <a:avLst/>
          </a:prstGeom>
          <a:noFill/>
          <a:ln/>
        </p:spPr>
        <p:txBody>
          <a:bodyPr wrap="square" lIns="0" tIns="0" rIns="0" bIns="0" rtlCol="0" anchor="ctr"/>
          <a:lstStyle/>
          <a:p>
            <a:pPr indent="0" marL="0">
              <a:buNone/>
            </a:pPr>
            <a:r>
              <a:rPr lang="en-US" sz="2000" dirty="0">
                <a:solidFill>
                  <a:srgbClr val="5C4A12"/>
                </a:solidFill>
              </a:rPr>
              <a:t>Implement and apply an algorithm.</a:t>
            </a:r>
            <a:endParaRPr lang="en-US" sz="2000" dirty="0"/>
          </a:p>
        </p:txBody>
      </p:sp>
      <p:sp>
        <p:nvSpPr>
          <p:cNvPr id="11" name="Text 9"/>
          <p:cNvSpPr txBox="1"/>
          <p:nvPr/>
        </p:nvSpPr>
        <p:spPr>
          <a:xfrm>
            <a:off x="640080" y="3703320"/>
            <a:ext cx="1554480" cy="731520"/>
          </a:xfrm>
          <a:prstGeom prst="rect">
            <a:avLst/>
          </a:prstGeom>
          <a:noFill/>
          <a:ln/>
        </p:spPr>
        <p:txBody>
          <a:bodyPr wrap="square" lIns="0" tIns="0" rIns="0" bIns="0" rtlCol="0" anchor="ctr"/>
          <a:lstStyle/>
          <a:p>
            <a:pPr indent="0" marL="0">
              <a:buNone/>
            </a:pPr>
            <a:r>
              <a:rPr lang="en-US" sz="2200" b="1" dirty="0">
                <a:solidFill>
                  <a:srgbClr val="1C7A3A"/>
                </a:solidFill>
                <a:latin typeface="Courier New" pitchFamily="34" charset="0"/>
                <a:ea typeface="Courier New" pitchFamily="34" charset="-122"/>
                <a:cs typeface="Courier New" pitchFamily="34" charset="-120"/>
              </a:rPr>
              <a:t>4.B</a:t>
            </a:r>
            <a:endParaRPr lang="en-US" sz="2200" dirty="0"/>
          </a:p>
        </p:txBody>
      </p:sp>
      <p:sp>
        <p:nvSpPr>
          <p:cNvPr id="12" name="Text 10"/>
          <p:cNvSpPr txBox="1"/>
          <p:nvPr/>
        </p:nvSpPr>
        <p:spPr>
          <a:xfrm>
            <a:off x="2286000" y="3703320"/>
            <a:ext cx="6263640" cy="731520"/>
          </a:xfrm>
          <a:prstGeom prst="rect">
            <a:avLst/>
          </a:prstGeom>
          <a:noFill/>
          <a:ln/>
        </p:spPr>
        <p:txBody>
          <a:bodyPr wrap="square" lIns="0" tIns="0" rIns="0" bIns="0" rtlCol="0" anchor="ctr"/>
          <a:lstStyle/>
          <a:p>
            <a:pPr indent="0" marL="0">
              <a:buNone/>
            </a:pPr>
            <a:r>
              <a:rPr lang="en-US" sz="2000" dirty="0">
                <a:solidFill>
                  <a:srgbClr val="5C4A12"/>
                </a:solidFill>
              </a:rPr>
              <a:t>Determine the result of code segments.</a:t>
            </a:r>
            <a:endParaRPr lang="en-US" sz="2000" dirty="0"/>
          </a:p>
        </p:txBody>
      </p:sp>
      <p:sp>
        <p:nvSpPr>
          <p:cNvPr id="25" name="Slide Number Placeholder 0"/>
          <p:cNvSpPr>
            <a:spLocks noGrp="1"/>
          </p:cNvSpPr>
          <p:nvPr>
            <p:ph type="sldNum" sz="quarter" idx="4294967295"/>
          </p:nvPr>
        </p:nvSpPr>
        <p:spPr>
          <a:xfrm>
            <a:off x="8412480" y="4773168"/>
            <a:ext cx="50292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2B2B2B"/>
                </a:solidFill>
                <a:latin typeface="Calibri"/>
                <a:ea typeface="Calibri"/>
                <a:cs typeface="Calibri"/>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978408" y="841248"/>
            <a:ext cx="7315200" cy="3611880"/>
          </a:xfrm>
          <a:prstGeom prst="roundRect">
            <a:avLst>
              <a:gd name="adj" fmla="val 2025"/>
            </a:avLst>
          </a:prstGeom>
          <a:solidFill>
            <a:srgbClr val="2B2B2B"/>
          </a:solidFill>
          <a:ln w="12700">
            <a:solidFill>
              <a:srgbClr val="2B2B2B"/>
            </a:solidFill>
            <a:prstDash val="solid"/>
          </a:ln>
        </p:spPr>
      </p:sp>
      <p:sp>
        <p:nvSpPr>
          <p:cNvPr id="3" name="Shape 1"/>
          <p:cNvSpPr/>
          <p:nvPr/>
        </p:nvSpPr>
        <p:spPr>
          <a:xfrm>
            <a:off x="914400" y="777240"/>
            <a:ext cx="7315200" cy="3611880"/>
          </a:xfrm>
          <a:prstGeom prst="roundRect">
            <a:avLst>
              <a:gd name="adj" fmla="val 2025"/>
            </a:avLst>
          </a:prstGeom>
          <a:solidFill>
            <a:srgbClr val="FFFFFF"/>
          </a:solidFill>
          <a:ln w="25400">
            <a:solidFill>
              <a:srgbClr val="2B2B2B"/>
            </a:solidFill>
            <a:prstDash val="solid"/>
          </a:ln>
        </p:spPr>
      </p:sp>
      <p:sp>
        <p:nvSpPr>
          <p:cNvPr id="4" name="Text 2"/>
          <p:cNvSpPr txBox="1"/>
          <p:nvPr/>
        </p:nvSpPr>
        <p:spPr>
          <a:xfrm>
            <a:off x="1280160" y="1005840"/>
            <a:ext cx="6583680" cy="640080"/>
          </a:xfrm>
          <a:prstGeom prst="rect">
            <a:avLst/>
          </a:prstGeom>
          <a:noFill/>
          <a:ln/>
        </p:spPr>
        <p:txBody>
          <a:bodyPr wrap="square" lIns="0" tIns="0" rIns="0" bIns="0" rtlCol="0" anchor="ctr"/>
          <a:lstStyle/>
          <a:p>
            <a:pPr indent="0" marL="0">
              <a:buNone/>
            </a:pPr>
            <a:r>
              <a:rPr lang="en-US" sz="3200" dirty="0">
                <a:solidFill>
                  <a:srgbClr val="2B2B2B"/>
                </a:solidFill>
                <a:latin typeface="Arial Black" pitchFamily="34" charset="0"/>
                <a:ea typeface="Arial Black" pitchFamily="34" charset="-122"/>
                <a:cs typeface="Arial Black" pitchFamily="34" charset="-120"/>
              </a:rPr>
              <a:t>Before you log off</a:t>
            </a:r>
            <a:endParaRPr lang="en-US" sz="3200" dirty="0"/>
          </a:p>
        </p:txBody>
      </p:sp>
      <p:sp>
        <p:nvSpPr>
          <p:cNvPr id="5" name="Text 3"/>
          <p:cNvSpPr txBox="1"/>
          <p:nvPr/>
        </p:nvSpPr>
        <p:spPr>
          <a:xfrm>
            <a:off x="1280160" y="1737360"/>
            <a:ext cx="6583680" cy="137160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rgbClr val="2B2B2B"/>
                </a:solidFill>
              </a:rPr>
              <a:t>Save your sketch</a:t>
            </a:r>
            <a:endParaRPr lang="en-US" sz="2400" dirty="0"/>
          </a:p>
          <a:p>
            <a:pPr marL="342900" indent="-342900">
              <a:spcAft>
                <a:spcPts val="1000"/>
              </a:spcAft>
              <a:buSzPct val="100000"/>
              <a:buFont typeface="+mj-lt"/>
              <a:buAutoNum type="arabicPeriod" startAt="1"/>
            </a:pPr>
            <a:r>
              <a:rPr lang="en-US" sz="2400" dirty="0">
                <a:solidFill>
                  <a:srgbClr val="2B2B2B"/>
                </a:solidFill>
              </a:rPr>
              <a:t>Last line of your file: // TODO: what you would add next</a:t>
            </a:r>
            <a:endParaRPr lang="en-US" sz="2400" dirty="0"/>
          </a:p>
        </p:txBody>
      </p:sp>
      <p:sp>
        <p:nvSpPr>
          <p:cNvPr id="6" name="Text 4"/>
          <p:cNvSpPr txBox="1"/>
          <p:nvPr/>
        </p:nvSpPr>
        <p:spPr>
          <a:xfrm>
            <a:off x="1280160" y="3291840"/>
            <a:ext cx="6583680" cy="822960"/>
          </a:xfrm>
          <a:prstGeom prst="rect">
            <a:avLst/>
          </a:prstGeom>
          <a:noFill/>
          <a:ln/>
        </p:spPr>
        <p:txBody>
          <a:bodyPr wrap="square" lIns="0" tIns="0" rIns="0" bIns="0" rtlCol="0" anchor="t"/>
          <a:lstStyle/>
          <a:p>
            <a:pPr indent="0" marL="0">
              <a:buNone/>
            </a:pPr>
            <a:r>
              <a:rPr lang="en-US" sz="2200" dirty="0">
                <a:solidFill>
                  <a:srgbClr val="5C4A12"/>
                </a:solidFill>
              </a:rPr>
              <a:t>Tomorrow: use i to put things exactly where you want them.</a:t>
            </a:r>
            <a:endParaRPr lang="en-US" sz="2200" dirty="0"/>
          </a:p>
        </p:txBody>
      </p:sp>
    </p:spTree>
  </p:cSld>
  <p:clrMapOvr>
    <a:masterClrMapping/>
  </p:clrMapOvr>
</p:sld>
</file>

<file path=ppt/theme/theme1.xml><?xml version="1.0" encoding="utf-8"?>
<a:theme xmlns:a="http://schemas.openxmlformats.org/drawingml/2006/main" name="AP CSP Black and Gold">
  <a:themeElements>
    <a:clrScheme name="AP CSP Black and Gold">
      <a:dk1>
        <a:srgbClr val="2B2B2B"/>
      </a:dk1>
      <a:lt1>
        <a:srgbClr val="FFFFFF"/>
      </a:lt1>
      <a:dk2>
        <a:srgbClr val="1E1E1E"/>
      </a:dk2>
      <a:lt2>
        <a:srgbClr val="F4C430"/>
      </a:lt2>
      <a:accent1>
        <a:srgbClr val="F4C430"/>
      </a:accent1>
      <a:accent2>
        <a:srgbClr val="E63C3C"/>
      </a:accent2>
      <a:accent3>
        <a:srgbClr val="3CBE5A"/>
      </a:accent3>
      <a:accent4>
        <a:srgbClr val="5C4A12"/>
      </a:accent4>
      <a:accent5>
        <a:srgbClr val="9CDCFE"/>
      </a:accent5>
      <a:accent6>
        <a:srgbClr val="C586C0"/>
      </a:accent6>
      <a:hlink>
        <a:srgbClr val="1E1E1E"/>
      </a:hlink>
      <a:folHlink>
        <a:srgbClr val="5C4A12"/>
      </a:folHlink>
    </a:clrScheme>
    <a:fontScheme name="AP CSP Black and Gold">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Lesson 2: Exactly n Times</dc:title>
  <dc:subject>PptxGenJS Presentation</dc:subject>
  <dc:creator>PptxGenJS</dc:creator>
  <cp:lastModifiedBy>PptxGenJS</cp:lastModifiedBy>
  <cp:revision>1</cp:revision>
  <dcterms:created xsi:type="dcterms:W3CDTF">2026-10-27T01:56:43Z</dcterms:created>
  <dcterms:modified xsi:type="dcterms:W3CDTF">2026-10-27T01:56:43Z</dcterms:modified>
</cp:coreProperties>
</file>