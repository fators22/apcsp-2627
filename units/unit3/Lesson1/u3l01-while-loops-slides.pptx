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41-minute lesson. Show the finished sketch. Ask: count the bulbs, now guess how many circle() lines I typed. Answer: one. That is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slide, 20 seconds. Four parts to the period. The build is the longest - about 12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Go straight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Out loud. Q1: only x. Q2: 40 each time. Q3: type ten more lines, and change every one again if the spacing changes. Land it: the computer is good at doing the same thing over and over. You should not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Four parts, and every while loop this unit has all four. The question is a Boolean, like Unit 2. while is an if that goes back up and asks again. Say that sentence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Draw the table on the board; students call out each row. The red row matters most: the loop only ends because a check came back false, and that check costs a turn. Predict: 9 bulbs, the right-corner one goes (580 &lt; 580 is false). Do not run it - it is the puzzle in the starter.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Ask first: if I slowed this down, would you see the bulbs appear one at a time? Most say yes. No - p5 only shows the canvas when draw() ends, and draw() cannot end until the loop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Do NOT run this. The tab stops responding and p5 never shows anything. The exam calls it an infinite loop (AAP-2.K). Second way to get one: x = x - 40, which moves away from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Same loop, opposite question. while keeps going WHILE true; REPEAT UNTIL keeps going UNTIL true. The flip is the Unit 2 one: the opposite of &gt; is &lt;=, not &lt;. Exam detail (AAP-2.K): if the condition is already met at the start, the body runs zero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1 min, if time. Answers: 1) while (y &lt; 600)  2) while (count &gt; 0) or count != 0  3) while (tries &lt;= 5). Number 3 is the trap - the opposite of &gt; is &lt;=.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starter: class website &gt; Unit 3 &gt; Lesson 1. File &gt; New, paste, rename to u3l01-lights,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min. TODO 1 is the slide-6 loop with names instead of numbers. TODO 2 is ONE line inside the loop. TODO 3 uses % from Unit 2. TODO 4 starts at HOUSE_LEFT + 20 and uses &lt;. TODO 5: the opposite of flakes = 150 is flakes != 150; accept flakes &lt; 150 too. WATCH FOR: bulbs + 1 after the loop (readout 1); color check after circle() (colors one behind); let len outside the loop (all icicles the same).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Answers: 1) 4 (x is 100 at the end). 2) 5 (x is 125). 3) while (lives &gt; 0) or lives != 0. 4) 0 - the first check is false. Q4 is on the exam: a loop can run zero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Lights sketch due end of period or as homework. Tease: every loop today had a counter or an x you managed by hand. Tomorrow's loop (for) does that bookkeeping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C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4C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886968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82296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C4A12"/>
                </a:solidFill>
              </a:rPr>
              <a:t>UNIT 3 · LESSON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Keep Going Until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</a:rPr>
              <a:t>while loops · repeat until a condition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621024"/>
            <a:ext cx="3163824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5204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5204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35204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35204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35204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35204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35204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35204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35204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978408"/>
            <a:ext cx="3566160" cy="267919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pic>
        <p:nvPicPr>
          <p:cNvPr id="18" name="Image 0" descr="The finished sketch: a house at night with red and green lights, icicles and sn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14400"/>
            <a:ext cx="3566160" cy="26746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07492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4A12"/>
                </a:solidFill>
              </a:rPr>
              <a:t>Today's build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copy-paste problem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Why ten circle() lines is the wrong 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27448" y="1207008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17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loops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Start, question, body, update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" y="2990088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004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 UNTIL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The exam version is the opposite question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27448" y="2990088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2004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3200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</a:rPr>
              <a:t>Light up the house: lights, icicles, snow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7048" y="1252728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118872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6002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copy-paste problem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468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</a:rPr>
              <a:t>Ten lines that differ by one number.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Here is how you would do it right 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161288"/>
            <a:ext cx="3840480" cy="3566160"/>
          </a:xfrm>
          <a:prstGeom prst="roundRect">
            <a:avLst>
              <a:gd name="adj" fmla="val 153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circle(220,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circle(260,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circle(300,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circle(340,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circle(380,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circle(420,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circle(460,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circle(500,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circle(540, 268, 16);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circle(580, 268, 16);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18888" y="1161288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6916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2B2B"/>
                </a:solidFill>
              </a:rPr>
              <a:t>What is the only thing that changes from line to line?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2B2B"/>
                </a:solidFill>
              </a:rPr>
              <a:t>By how much?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2B2B"/>
                </a:solidFill>
              </a:rPr>
              <a:t>The house gets twice as wide. What do you have to do?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7048" y="1252728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118872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6002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loops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468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</a:rPr>
              <a:t>Keep going while the question is true.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loop repeats a block of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220;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&lt;= 580) 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circle(x, 268, 16);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x + 40;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46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 means: as long as the question is true, do the braces again.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93208" y="1161288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09728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170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</a:rPr>
              <a:t>START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444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220;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17043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Before the loop. Never inside the braces.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93208" y="2075688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01168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</a:rPr>
              <a:t>QUESTION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359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&lt;= 580)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08483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True? Go round again. False? Skip past.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93208" y="2990088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92608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</a:rPr>
              <a:t>BODY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circle(...)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99923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The work you want repeated.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93208" y="3904488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384048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3913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</a:rPr>
              <a:t>UPDATE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+ 40;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91363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Moves x toward false.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many times does the body run?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161288"/>
            <a:ext cx="4023360" cy="32918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4C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4C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&lt;= 580?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4C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bulb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01768" y="1161288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37760" y="109728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636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QUESTIONS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The question was asked 11 times. The body ran 10 times.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01768" y="2944368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28803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Change </a:t>
            </a:r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 to </a:t>
            </a:r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. How many bulbs now? Which one disappears?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whole loop finishes inside one frame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792224"/>
            <a:ext cx="2020824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28216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1448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</a:rPr>
              <a:t>all 10 bulbs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6432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1792224"/>
            <a:ext cx="2020824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31336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87952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1184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6432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</a:rPr>
              <a:t>all 10 again, from scratch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53912" y="1207008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114300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2784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1792224"/>
            <a:ext cx="2020824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1072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8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04304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17536" y="1691640"/>
            <a:ext cx="237744" cy="237744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4152" y="1691640"/>
            <a:ext cx="237744" cy="237744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72784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</a:rPr>
              <a:t>… 60 times a second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1208" y="3127248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200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 a while loop does not animate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363931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draw()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repeats over time.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repeats right now, before anything shows. You never see bulb 1, then bulb 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loop that never ends freezes the tab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1E1E1E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220;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&lt;= 580) {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circle(x, 268, 16);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FB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update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71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x is 220 forever, so 220 &lt;= 580 is true forever.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10328" y="1207008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rules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8745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2B2B"/>
                </a:solidFill>
              </a:rPr>
              <a:t>Save before you run a new loop.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2B2B"/>
                </a:solidFill>
              </a:rPr>
              <a:t>Find the update line. Does it move x toward false?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4A12"/>
                </a:solidFill>
              </a:rPr>
              <a:t>Frozen? Close the tab and reopen the editor. Your saved version is there.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7048" y="1252728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118872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6002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 UNTIL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468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</a:rPr>
              <a:t>The AP exam asks the opposite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 UNTIL is the opposite question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WHILE IT IS TRUE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1208" y="1362456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1E1E1E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&lt;= 580) {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circle(x, 268, 16);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x + 40;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EXAM · UNTIL IT IS TRUE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18888" y="1362456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98448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1E1E1E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8988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(x &gt; 580)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circle(x, 268, 16)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← x + 40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" y="3191256"/>
            <a:ext cx="8229600" cy="138988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27248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C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REPEAT UNTIL (…)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C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 (…)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&gt; 580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&lt;= 580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flakes = 150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flakes != 150   or   flakes &lt; 150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lives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lives &gt;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>
                    <a:lnL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Translate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52728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4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(y ≥ 600)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 ________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252728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73552" y="118872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4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(count = 0)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 ________ 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53912" y="1252728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118872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4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27064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(tries &gt; 5)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 ________ 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</a:rPr>
              <a:t>Boards up. Flip the condition; watch the = sign.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7048" y="1252728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118872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6002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54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468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</a:rPr>
              <a:t>Light up the house: u3l01-lights-starter.js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TODOs, five loops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161288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280160"/>
            <a:ext cx="566928" cy="566928"/>
          </a:xfrm>
          <a:prstGeom prst="ellipse">
            <a:avLst/>
          </a:prstGeom>
          <a:solidFill>
            <a:srgbClr val="E63C3C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lights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A bulb every 40 from HOUSE_LEFT to HOUSE_RIGHT. One on both corners.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1208" y="2331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6771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450592"/>
            <a:ext cx="566928" cy="566928"/>
          </a:xfrm>
          <a:prstGeom prst="ellipse">
            <a:avLst/>
          </a:prstGeom>
          <a:solidFill>
            <a:srgbClr val="3CBE5A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 them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bulbs goes up by 1 each bulb. Readout: 10.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1208" y="350215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3814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621024"/>
            <a:ext cx="566928" cy="566928"/>
          </a:xfrm>
          <a:prstGeom prst="ellipse">
            <a:avLst/>
          </a:prstGeom>
          <a:solidFill>
            <a:srgbClr val="E63C3C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5295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Red, green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96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Use bulbs and % to pick the fill.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27448" y="1161288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97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1280160"/>
            <a:ext cx="566928" cy="566928"/>
          </a:xfrm>
          <a:prstGeom prst="ellipse">
            <a:avLst/>
          </a:prstGeom>
          <a:solidFill>
            <a:srgbClr val="3CBE5A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1280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Icicles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One between every two bulbs. Predict: 9.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27448" y="2331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26771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450592"/>
            <a:ext cx="566928" cy="566928"/>
          </a:xfrm>
          <a:prstGeom prst="ellipse">
            <a:avLst/>
          </a:prstGeom>
          <a:solidFill>
            <a:srgbClr val="E63C3C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28032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Snow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26791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</a:rPr>
              <a:t>Written as REPEAT UNTIL (flakes = 150). Flip it.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27448" y="350215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43814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B2B2B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5295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before every Run of a new loop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yourself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161288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4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0; while (x &lt; 100) { x = x + 25;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</a:rPr>
              <a:t>How many times does the body run?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7448" y="1161288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4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loop with  x &lt;= 100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</a:rPr>
              <a:t>How many times now?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208" y="2944368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4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(lives = 0)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</a:rPr>
              <a:t>Write the while.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27448" y="2944368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8036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4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900; while (x &lt; 800) { … }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</a:rPr>
              <a:t>How many times?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B2B2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5608" y="978408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91440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737360" y="1143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B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log off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828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B2B2B"/>
                </a:solidFill>
              </a:rPr>
              <a:t>Save your sketch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B2B2B"/>
                </a:solidFill>
              </a:rPr>
              <a:t>Last line of your file: // TODO: and what you would add next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37360" y="3337560"/>
            <a:ext cx="5093208" cy="0"/>
          </a:xfrm>
          <a:prstGeom prst="line">
            <a:avLst/>
          </a:prstGeom>
          <a:noFill/>
          <a:ln w="1905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3246120"/>
            <a:ext cx="219456" cy="219456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12264" y="3246120"/>
            <a:ext cx="219456" cy="219456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87168" y="3246120"/>
            <a:ext cx="219456" cy="219456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3246120"/>
            <a:ext cx="219456" cy="219456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6976" y="3246120"/>
            <a:ext cx="219456" cy="219456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3246120"/>
            <a:ext cx="219456" cy="219456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86784" y="3246120"/>
            <a:ext cx="219456" cy="219456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3246120"/>
            <a:ext cx="219456" cy="219456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3246120"/>
            <a:ext cx="219456" cy="219456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11496" y="3246120"/>
            <a:ext cx="219456" cy="219456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3246120"/>
            <a:ext cx="219456" cy="219456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61304" y="3246120"/>
            <a:ext cx="219456" cy="219456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3246120"/>
            <a:ext cx="219456" cy="219456"/>
          </a:xfrm>
          <a:prstGeom prst="ellipse">
            <a:avLst/>
          </a:prstGeom>
          <a:solidFill>
            <a:srgbClr val="E63C3C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1112" y="3246120"/>
            <a:ext cx="219456" cy="219456"/>
          </a:xfrm>
          <a:prstGeom prst="ellipse">
            <a:avLst/>
          </a:prstGeom>
          <a:solidFill>
            <a:srgbClr val="3CBE5A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37360" y="3611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4A12"/>
                </a:solidFill>
              </a:rPr>
              <a:t>Tomorrow: what if you already know exactly how many?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 CSP Black and Gold">
  <a:themeElements>
    <a:clrScheme name="AP CSP Black and Gold">
      <a:dk1>
        <a:srgbClr val="2B2B2B"/>
      </a:dk1>
      <a:lt1>
        <a:srgbClr val="FFFFFF"/>
      </a:lt1>
      <a:dk2>
        <a:srgbClr val="1E1E1E"/>
      </a:dk2>
      <a:lt2>
        <a:srgbClr val="F4C430"/>
      </a:lt2>
      <a:accent1>
        <a:srgbClr val="F4C430"/>
      </a:accent1>
      <a:accent2>
        <a:srgbClr val="E63C3C"/>
      </a:accent2>
      <a:accent3>
        <a:srgbClr val="3CBE5A"/>
      </a:accent3>
      <a:accent4>
        <a:srgbClr val="5C4A12"/>
      </a:accent4>
      <a:accent5>
        <a:srgbClr val="9CDCFE"/>
      </a:accent5>
      <a:accent6>
        <a:srgbClr val="C586C0"/>
      </a:accent6>
      <a:hlink>
        <a:srgbClr val="1E1E1E"/>
      </a:hlink>
      <a:folHlink>
        <a:srgbClr val="5C4A12"/>
      </a:folHlink>
    </a:clrScheme>
    <a:fontScheme name="AP CSP Black and Gold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1: Keep Going Until</dc:title>
  <dc:subject>PptxGenJS Presentation</dc:subject>
  <dc:creator>PptxGenJS</dc:creator>
  <cp:lastModifiedBy>PptxGenJS</cp:lastModifiedBy>
  <cp:revision>1</cp:revision>
  <dcterms:created xsi:type="dcterms:W3CDTF">2026-10-25T02:30:56Z</dcterms:created>
  <dcterms:modified xsi:type="dcterms:W3CDTF">2026-10-25T02:30:56Z</dcterms:modified>
</cp:coreProperties>
</file>