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 SHEET (45 min)</a:t>
            </a:r>
            <a:br>
              <a:rPr lang="en-US"/>
            </a:br>
            <a:r>
              <a:rPr lang="en-US"/>
              <a:t>0-4    Warm-up: sketch runs, nothing happens.</a:t>
            </a:r>
            <a:br>
              <a:rPr lang="en-US"/>
            </a:br>
            <a:r>
              <a:rPr lang="en-US"/>
              <a:t>4-8    Error vs bug.</a:t>
            </a:r>
            <a:br>
              <a:rPr lang="en-US"/>
            </a:br>
            <a:r>
              <a:rPr lang="en-US"/>
              <a:t>8-12   The four-question checklist.</a:t>
            </a:r>
            <a:br>
              <a:rPr lang="en-US"/>
            </a:br>
            <a:r>
              <a:rPr lang="en-US"/>
              <a:t>12-15  Show the finished animation + spec.</a:t>
            </a:r>
            <a:br>
              <a:rPr lang="en-US"/>
            </a:br>
            <a:r>
              <a:rPr lang="en-US"/>
              <a:t>15-23  Phase 1: whiteboard the growth + checkpoint.</a:t>
            </a:r>
            <a:br>
              <a:rPr lang="en-US"/>
            </a:br>
            <a:r>
              <a:rPr lang="en-US"/>
              <a:t>23-25  Explain the stop mechanism (the flag trick).</a:t>
            </a:r>
            <a:br>
              <a:rPr lang="en-US"/>
            </a:br>
            <a:r>
              <a:rPr lang="en-US"/>
              <a:t>25-28  Open the broken starter.</a:t>
            </a:r>
            <a:br>
              <a:rPr lang="en-US"/>
            </a:br>
            <a:r>
              <a:rPr lang="en-US"/>
              <a:t>28-35  Phase 2: find the three bugs + checkpoint.</a:t>
            </a:r>
            <a:br>
              <a:rPr lang="en-US"/>
            </a:br>
            <a:r>
              <a:rPr lang="en-US"/>
              <a:t>35-40  Phase 3: fix and run. Decimal moment. Round().</a:t>
            </a:r>
            <a:br>
              <a:rPr lang="en-US"/>
            </a:br>
            <a:r>
              <a:rPr lang="en-US"/>
              <a:t>40-42  Checkpoint 3 + the if limit.</a:t>
            </a:r>
            <a:br>
              <a:rPr lang="en-US"/>
            </a:br>
            <a:r>
              <a:rPr lang="en-US"/>
              <a:t>42-45  Exam questions.</a:t>
            </a:r>
            <a:br>
              <a:rPr lang="en-US"/>
            </a:br>
            <a:br>
              <a:rPr lang="en-US"/>
            </a:br>
            <a:r>
              <a:rPr lang="en-US"/>
              <a:t>STARTER FILE ships broken in THREE ways. Students find them.</a:t>
            </a:r>
            <a:br>
              <a:rPr lang="en-US"/>
            </a:br>
            <a:r>
              <a:rPr lang="en-US"/>
              <a:t>The deck reveals the three bugs on the checkpoint slide, so DO NOT skip that reveal — it is the whole lesson.</a:t>
            </a:r>
            <a:br>
              <a:rPr lang="en-US"/>
            </a:br>
            <a:br>
              <a:rPr lang="en-US"/>
            </a:br>
            <a:r>
              <a:rPr lang="en-US"/>
              <a:t>BEFORE CLASS</a:t>
            </a:r>
            <a:br>
              <a:rPr lang="en-US"/>
            </a:br>
            <a:r>
              <a:rPr lang="en-US"/>
              <a:t>  Push u1l06-loading-broken.js to the repo. Link in Classroom.</a:t>
            </a:r>
            <a:br>
              <a:rPr lang="en-US"/>
            </a:br>
            <a:r>
              <a:rPr lang="en-US"/>
              <a:t>  Push u1l06-loading-solution.js as the answer key (do not link yet).</a:t>
            </a:r>
            <a:br>
              <a:rPr lang="en-US"/>
            </a:br>
            <a:br>
              <a:rPr lang="en-US"/>
            </a:br>
            <a:r>
              <a:rPr lang="en-US"/>
              <a:t>NOTHING TO TURN IN. The unit assessment is next period.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MINUTES, ASKED OUT LOUD.</a:t>
            </a:r>
            <a:br>
              <a:rPr lang="en-US"/>
            </a:br>
            <a:r>
              <a:rPr lang="en-US"/>
              <a:t>Take five or six answers and write them on the board in the order they come. Students will say: is it saved, did I press Run, is the line inside draw, is it spelled right.</a:t>
            </a:r>
            <a:br>
              <a:rPr lang="en-US"/>
            </a:br>
            <a:r>
              <a:rPr lang="en-US"/>
              <a:t>Do not rank them yet — the next slide does that.</a:t>
            </a:r>
            <a:br>
              <a:rPr lang="en-US"/>
            </a:br>
            <a:br>
              <a:rPr lang="en-US"/>
            </a:br>
            <a:r>
              <a:rPr lang="en-US"/>
              <a:t>WATCH FOR</a:t>
            </a:r>
            <a:br>
              <a:rPr lang="en-US"/>
            </a:br>
            <a:r>
              <a:rPr lang="en-US"/>
              <a:t>"Start over" or "ask you" as a first answer. That is the habit worth replacing today. Starting over throws away the evidence.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MINUTES.</a:t>
            </a:r>
            <a:br>
              <a:rPr lang="en-US"/>
            </a:br>
            <a:r>
              <a:rPr lang="en-US"/>
              <a:t>Sort the board list from the warm-up into these two columns. An error announces itself. A bug does not — the computer did exactly what you wrote, which was not what you meant.</a:t>
            </a:r>
            <a:br>
              <a:rPr lang="en-US"/>
            </a:br>
            <a:r>
              <a:rPr lang="en-US"/>
              <a:t>The last line plants the task: three bugs, no errors.</a:t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MINUTES.</a:t>
            </a:r>
            <a:br>
              <a:rPr lang="en-US"/>
            </a:br>
            <a:r>
              <a:rPr lang="en-US"/>
              <a:t>Most of this came from them — say so. Write the four on the board and leave them up for the rest of the period.</a:t>
            </a:r>
            <a:br>
              <a:rPr lang="en-US"/>
            </a:br>
            <a:r>
              <a:rPr lang="en-US"/>
              <a:t>THE LAST LINE IS THE HABIT. One change, then run.</a:t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MINUTES. Show the target, name the task.</a:t>
            </a:r>
            <a:br>
              <a:rPr lang="en-US"/>
            </a:br>
            <a:r>
              <a:rPr lang="en-US"/>
              <a:t>Say: "This is what the fixed version looks like. What you open will not do this. Three things are wrong with it."</a:t>
            </a:r>
            <a:br>
              <a:rPr lang="en-US"/>
            </a:br>
            <a:r>
              <a:rPr lang="en-US"/>
              <a:t>Do not explain the three bugs. That is the task.</a:t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MINUTES. Read it and move on.</a:t>
            </a:r>
            <a:br>
              <a:rPr lang="en-US"/>
            </a:br>
            <a:r>
              <a:rPr lang="en-US"/>
              <a:t>The bar and the track share the same left edge (x = 80). That is why the fill grows rightward: the position is fixed, only the width changes.</a:t>
            </a:r>
            <a:br>
              <a:rPr lang="en-US"/>
            </a:br>
            <a:r>
              <a:rPr lang="en-US"/>
              <a:t>POINT AT THE THIRD NUMBER in the filled bar. That is the slot the variable goes in.</a:t>
            </a:r>
            <a:br>
              <a:rPr lang="en-US"/>
            </a:br>
            <a:r>
              <a:rPr lang="en-US"/>
              <a:t>THE ANIMATION LOOPING BEHIND THE COORDINATES is the point — students see the target behavior while reading the spec.</a:t>
            </a:r>
            <a:endParaRPr/>
          </a:p>
        </p:txBody>
      </p:sp>
      <p:sp>
        <p:nvSpPr>
          <p:cNvPr id="97" name="Google Shape;9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EIGHT MINUTES, GROUPS OF FOUR, ONE WHITEBOARD PER GROUP.</a:t>
            </a:r>
            <a:br>
              <a:rPr lang="en-US"/>
            </a:br>
            <a:r>
              <a:rPr lang="en-US"/>
              <a:t>The third question is the whole task. The answer is a variable that is either 1 or 0, multiplied into the growth line. When the mouse is pressed, the variable becomes 0, and the growth line adds zero.</a:t>
            </a:r>
            <a:br>
              <a:rPr lang="en-US"/>
            </a:br>
            <a:r>
              <a:rPr lang="en-US"/>
              <a:t>DO NOT ANSWER THIS FOR THEM. Circulate. If a group is stuck, ask: "how could a variable make an addition do nothing?"</a:t>
            </a:r>
            <a:br>
              <a:rPr lang="en-US"/>
            </a:br>
            <a:r>
              <a:rPr lang="en-US"/>
              <a:t>If nobody gets it in 6 minutes, walk around the room and give one word to each group: "multiply." That is enough.</a:t>
            </a:r>
            <a:br>
              <a:rPr lang="en-US"/>
            </a:br>
            <a:r>
              <a:rPr lang="en-US"/>
              <a:t>EXPECT: most groups will get question 1 easily, question 2 easily, and question 3 will be the hard one.</a:t>
            </a:r>
            <a:endParaRPr/>
          </a:p>
        </p:txBody>
      </p:sp>
      <p:sp>
        <p:nvSpPr>
          <p:cNvPr id="129" name="Google Shape;1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MINUTES.</a:t>
            </a:r>
            <a:br>
              <a:rPr lang="en-US"/>
            </a:br>
            <a:r>
              <a:rPr lang="en-US"/>
              <a:t>REVEAL THIS ONLY AFTER EVERY GROUP HAS WRITTEN SOMETHING.</a:t>
            </a:r>
            <a:br>
              <a:rPr lang="en-US"/>
            </a:br>
            <a:r>
              <a:rPr lang="en-US"/>
              <a:t>The trick is 2 * loading. When loading is 1, the bar grows by 2. When loading is 0, the bar grows by 0 — which means it does not grow at all.</a:t>
            </a:r>
            <a:br>
              <a:rPr lang="en-US"/>
            </a:br>
            <a:r>
              <a:rPr lang="en-US"/>
              <a:t>Say this out loud: "Multiplying by zero makes the addition do nothing. That is how we stop without if."</a:t>
            </a:r>
            <a:br>
              <a:rPr lang="en-US"/>
            </a:br>
            <a:r>
              <a:rPr lang="en-US"/>
              <a:t>If a group wrote progress = progress + 2, their bar grows immediately and never stops. Ask them: "what happens if we add zero instead of two?"</a:t>
            </a:r>
            <a:br>
              <a:rPr lang="en-US"/>
            </a:br>
            <a:r>
              <a:rPr lang="en-US"/>
              <a:t>THE THREE CHECKPOINT ITEMS ARE THE WHOLE LESSON.</a:t>
            </a:r>
            <a:endParaRPr/>
          </a:p>
        </p:txBody>
      </p:sp>
      <p:sp>
        <p:nvSpPr>
          <p:cNvPr id="145" name="Google Shape;1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MINUTES.</a:t>
            </a:r>
            <a:br>
              <a:rPr lang="en-US"/>
            </a:br>
            <a:r>
              <a:rPr lang="en-US"/>
              <a:t>THIS IS THE CONCEPTUAL HEART OF THE LESSON. Do not rush it.</a:t>
            </a:r>
            <a:br>
              <a:rPr lang="en-US"/>
            </a:br>
            <a:r>
              <a:rPr lang="en-US"/>
              <a:t>Ask: "what number, multiplied by anything, makes the result zero?" They will get it. Zero.</a:t>
            </a:r>
            <a:br>
              <a:rPr lang="en-US"/>
            </a:br>
            <a:r>
              <a:rPr lang="en-US"/>
              <a:t>Then: "so if we want the growth to happen, what should loading be?" One.</a:t>
            </a:r>
            <a:br>
              <a:rPr lang="en-US"/>
            </a:br>
            <a:r>
              <a:rPr lang="en-US"/>
              <a:t>Then: "and if we want it to stop?" Zero.</a:t>
            </a:r>
            <a:br>
              <a:rPr lang="en-US"/>
            </a:br>
            <a:r>
              <a:rPr lang="en-US"/>
              <a:t>THE NAME "FLAG" IS WORTH SAYING. A variable that flips between 1 and 0 is a pattern they will see all year.</a:t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MINUTES.</a:t>
            </a:r>
            <a:br>
              <a:rPr lang="en-US"/>
            </a:br>
            <a:r>
              <a:rPr lang="en-US"/>
              <a:t>Students open the file, run it, and see... nothing. The bar sits empty. Pressing keys does nothing. Clicking does nothing.</a:t>
            </a:r>
            <a:br>
              <a:rPr lang="en-US"/>
            </a:br>
            <a:r>
              <a:rPr lang="en-US"/>
              <a:t>DO NOT HELP YET. Give them two minutes to stare at it.</a:t>
            </a:r>
            <a:br>
              <a:rPr lang="en-US"/>
            </a:br>
            <a:r>
              <a:rPr lang="en-US"/>
              <a:t>Then move to the next slide, which gives them the debugging task. Do not reveal the bugs.</a:t>
            </a:r>
            <a:br>
              <a:rPr lang="en-US"/>
            </a:br>
            <a:br>
              <a:rPr lang="en-US"/>
            </a:br>
            <a:r>
              <a:rPr lang="en-US"/>
              <a:t>THE THREE BUGS:</a:t>
            </a:r>
            <a:br>
              <a:rPr lang="en-US"/>
            </a:br>
            <a:r>
              <a:rPr lang="en-US"/>
              <a:t>  1. let progress = 0; let loading = 0; let percent = 0; are all inside draw(). They reset every frame.</a:t>
            </a:r>
            <a:br>
              <a:rPr lang="en-US"/>
            </a:br>
            <a:r>
              <a:rPr lang="en-US"/>
              <a:t>  2. The filled bar's third number is 0, not progress. It never grows.</a:t>
            </a:r>
            <a:br>
              <a:rPr lang="en-US"/>
            </a:br>
            <a:r>
              <a:rPr lang="en-US"/>
              <a:t>  3. keyPressed() and mousePressed() are nested inside draw(). p5 never finds them.</a:t>
            </a:r>
            <a:br>
              <a:rPr lang="en-US"/>
            </a:br>
            <a:br>
              <a:rPr lang="en-US"/>
            </a:br>
            <a:r>
              <a:rPr lang="en-US"/>
              <a:t>Each one is silent. Each one is on the checklist.</a:t>
            </a:r>
            <a:endParaRPr/>
          </a:p>
        </p:txBody>
      </p:sp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EIGHT MINUTES.</a:t>
            </a:r>
            <a:br>
              <a:rPr lang="en-US"/>
            </a:br>
            <a:r>
              <a:rPr lang="en-US"/>
              <a:t>CIRCULATE. Ask "which one are you on?" not "did you find it?"</a:t>
            </a:r>
            <a:br>
              <a:rPr lang="en-US"/>
            </a:br>
            <a:br>
              <a:rPr lang="en-US"/>
            </a:br>
            <a:r>
              <a:rPr lang="en-US"/>
              <a:t>THE ORDER MOST GROUPS FIND THEM:</a:t>
            </a:r>
            <a:br>
              <a:rPr lang="en-US"/>
            </a:br>
            <a:r>
              <a:rPr lang="en-US"/>
              <a:t>  1. Bar has no fill. Visible immediately. They will notice the third number in the filled bar is 0.</a:t>
            </a:r>
            <a:br>
              <a:rPr lang="en-US"/>
            </a:br>
            <a:r>
              <a:rPr lang="en-US"/>
              <a:t>  2. Handlers don't fire. They press keys and nothing happens, then look at the handler and see it is nested.</a:t>
            </a:r>
            <a:br>
              <a:rPr lang="en-US"/>
            </a:br>
            <a:r>
              <a:rPr lang="en-US"/>
              <a:t>  3. Nothing grows. This is the hardest because the fix to #1 and #2 will not fix it. They have to check whether progress is changing. If it keeps resetting to 0, the let is in the wrong place.</a:t>
            </a:r>
            <a:br>
              <a:rPr lang="en-US"/>
            </a:br>
            <a:br>
              <a:rPr lang="en-US"/>
            </a:br>
            <a:r>
              <a:rPr lang="en-US"/>
              <a:t>IF A GROUP IS STUCK ON #3: ask them to add console.log(progress) inside draw(). They will see it print 0 over and over.</a:t>
            </a:r>
            <a:br>
              <a:rPr lang="en-US"/>
            </a:br>
            <a:br>
              <a:rPr lang="en-US"/>
            </a:br>
            <a:r>
              <a:rPr lang="en-US"/>
              <a:t>THE COMMENT IS HALF THE TASK. "What was wrong and how you found it" is the WR 2(b) skill.</a:t>
            </a:r>
            <a:endParaRPr/>
          </a:p>
        </p:txBody>
      </p:sp>
      <p:sp>
        <p:nvSpPr>
          <p:cNvPr id="192" name="Google Shape;1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REVEAL ONE AT A TIME. Ask which group found each before you press.</a:t>
            </a:r>
            <a:br>
              <a:rPr lang="en-US"/>
            </a:br>
            <a:r>
              <a:rPr lang="en-US"/>
              <a:t>Bug 1 is the easiest — visible immediately.</a:t>
            </a:r>
            <a:br>
              <a:rPr lang="en-US"/>
            </a:br>
            <a:r>
              <a:rPr lang="en-US"/>
              <a:t>Bug 2 is next. Students press keys, nothing happens, they look at the handler.</a:t>
            </a:r>
            <a:br>
              <a:rPr lang="en-US"/>
            </a:br>
            <a:r>
              <a:rPr lang="en-US"/>
              <a:t>Bug 3 is the hardest. Even after fixing 1 and 2, the bar still doesn't grow because progress resets every frame. This is the same bug as the falling rocket in Lesson 4A.</a:t>
            </a:r>
            <a:br>
              <a:rPr lang="en-US"/>
            </a:br>
            <a:r>
              <a:rPr lang="en-US"/>
              <a:t>THE CLOSING LINE: three bugs, three species, zero errors.</a:t>
            </a:r>
            <a:endParaRPr/>
          </a:p>
        </p:txBody>
      </p:sp>
      <p:sp>
        <p:nvSpPr>
          <p:cNvPr id="210" name="Google Shape;2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MINUTES.</a:t>
            </a:r>
            <a:br>
              <a:rPr lang="en-US"/>
            </a:br>
            <a:r>
              <a:rPr lang="en-US"/>
              <a:t>The fixes are mechanical now that the bugs are known. The lesson is the finding, not the fixing.</a:t>
            </a:r>
            <a:br>
              <a:rPr lang="en-US"/>
            </a:br>
            <a:r>
              <a:rPr lang="en-US"/>
              <a:t>WATCH FOR: students who change all three at once and then cannot say which one fixed the problem. Same lesson as the checklist: change one thing, run it.</a:t>
            </a:r>
            <a:br>
              <a:rPr lang="en-US"/>
            </a:br>
            <a:r>
              <a:rPr lang="en-US"/>
              <a:t>WHEN THEY RUN IT: the bar will grow, but the label will show a long decimal like LOADING 42.35294117647%. That is the next slide.</a:t>
            </a:r>
            <a:endParaRPr/>
          </a:p>
        </p:txBody>
      </p:sp>
      <p:sp>
        <p:nvSpPr>
          <p:cNvPr id="233" name="Google Shape;23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MINUTES.</a:t>
            </a:r>
            <a:br>
              <a:rPr lang="en-US"/>
            </a:br>
            <a:r>
              <a:rPr lang="en-US"/>
              <a:t>THIS IS THE MOMENT. Students built the bar, saw the decimal, and now meet the tool that fixes it.</a:t>
            </a:r>
            <a:br>
              <a:rPr lang="en-US"/>
            </a:br>
            <a:r>
              <a:rPr lang="en-US"/>
              <a:t>Say: "You will not find round() in the core sections of your reference sheet. It is a tool, not a topic. You need it now, so it appears now."</a:t>
            </a:r>
            <a:br>
              <a:rPr lang="en-US"/>
            </a:br>
            <a:r>
              <a:rPr lang="en-US"/>
              <a:t>HAVE THEM ADD IT TO THEIR SHEETS. Two lines: round(x) — rounds to the nearest whole number. round(42.7) gives 43.</a:t>
            </a:r>
            <a:br>
              <a:rPr lang="en-US"/>
            </a:br>
            <a:r>
              <a:rPr lang="en-US"/>
              <a:t>Then have them add it to their sketch and run it again. The label now shows whole numbers.</a:t>
            </a:r>
            <a:endParaRPr/>
          </a:p>
        </p:txBody>
      </p:sp>
      <p:sp>
        <p:nvSpPr>
          <p:cNvPr id="248" name="Google Shape;2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MINUTES.</a:t>
            </a:r>
            <a:br>
              <a:rPr lang="en-US"/>
            </a:br>
            <a:r>
              <a:rPr lang="en-US"/>
              <a:t>THIS IS THE SELF-CHECK. Students who see all three states correctly have finished the activity.</a:t>
            </a:r>
            <a:br>
              <a:rPr lang="en-US"/>
            </a:br>
            <a:r>
              <a:rPr lang="en-US"/>
              <a:t>IF A GROUP IS STUCK ON STATE 2: handlers inside draw(), or loading was never moved to the top.</a:t>
            </a:r>
            <a:br>
              <a:rPr lang="en-US"/>
            </a:br>
            <a:r>
              <a:rPr lang="en-US"/>
              <a:t>IF A GROUP IS STUCK ON STATE 3: loading = 0 is missing from the mouse handler, or the growth line says + 2 instead of + (2 * loading).</a:t>
            </a:r>
            <a:endParaRPr/>
          </a:p>
        </p:txBody>
      </p:sp>
      <p:sp>
        <p:nvSpPr>
          <p:cNvPr id="266" name="Google Shape;2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MINUTES.</a:t>
            </a:r>
            <a:br>
              <a:rPr lang="en-US"/>
            </a:br>
            <a:r>
              <a:rPr lang="en-US"/>
              <a:t>SAY THIS ALOUD. Let it land. This is the emotional hook for Unit 2.</a:t>
            </a:r>
            <a:br>
              <a:rPr lang="en-US"/>
            </a:br>
            <a:r>
              <a:rPr lang="en-US"/>
              <a:t>Students who see the bar shoot past 100 will ask "can't we stop it somehow?" — and the answer is "not yet, but next class we will."</a:t>
            </a:r>
            <a:br>
              <a:rPr lang="en-US"/>
            </a:br>
            <a:r>
              <a:rPr lang="en-US"/>
              <a:t>DO NOT TEACH if HERE. Just name it.</a:t>
            </a:r>
            <a:br>
              <a:rPr lang="en-US"/>
            </a:br>
            <a:r>
              <a:rPr lang="en-US"/>
              <a:t>If a student already knows how to write the if, tell them the plan for Unit 2 and ask them to hold the thought.</a:t>
            </a:r>
            <a:endParaRPr/>
          </a:p>
        </p:txBody>
      </p:sp>
      <p:sp>
        <p:nvSpPr>
          <p:cNvPr id="298" name="Google Shape;29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MINUTES.</a:t>
            </a:r>
            <a:br>
              <a:rPr lang="en-US"/>
            </a:br>
            <a:r>
              <a:rPr lang="en-US"/>
              <a:t>Q1 is exam notation review. The arrow means "becomes." Boards, one number. Answer: 7.</a:t>
            </a:r>
            <a:br>
              <a:rPr lang="en-US"/>
            </a:br>
            <a:r>
              <a:rPr lang="en-US"/>
              <a:t>Q2 is the growth line in pseudocode. Students who built it on the whiteboard should answer instantly.</a:t>
            </a:r>
            <a:br>
              <a:rPr lang="en-US"/>
            </a:br>
            <a:r>
              <a:rPr lang="en-US"/>
              <a:t>ASK: "what happens next frame if loading stays at 0?" The bar does not grow.</a:t>
            </a:r>
            <a:br>
              <a:rPr lang="en-US"/>
            </a:br>
            <a:r>
              <a:rPr lang="en-US"/>
              <a:t>ASK: "and if a key press sets loading back to 1?" The bar grows again.</a:t>
            </a:r>
            <a:br>
              <a:rPr lang="en-US"/>
            </a:br>
            <a:r>
              <a:rPr lang="en-US"/>
              <a:t>THIS IS THE WHOLE PATTERN. If they can read this in pseudocode, they have learned it.</a:t>
            </a:r>
            <a:endParaRPr/>
          </a:p>
        </p:txBody>
      </p:sp>
      <p:sp>
        <p:nvSpPr>
          <p:cNvPr id="319" name="Google Shape;3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57200" y="137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(0, 0)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UNIT 1 · LESSON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777240" y="237744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Finding out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what went wrong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4572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A loading bar, broken three ways.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You have the tools to find every bug.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1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BEFORE WE 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Your sketch runs. Nothing happens.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548640" y="2103120"/>
            <a:ext cx="6035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No red text. No error.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The canvas just sits there.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3108960"/>
            <a:ext cx="54864" cy="137160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03504" y="3108960"/>
            <a:ext cx="5980176" cy="1371600"/>
          </a:xfrm>
          <a:prstGeom prst="rect">
            <a:avLst/>
          </a:prstGeom>
          <a:solidFill>
            <a:srgbClr val="2A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804672" y="3236976"/>
            <a:ext cx="5577840" cy="11155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OUT LOUD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•  What do you check first?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•  And what do you check after that?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315200" y="2103120"/>
            <a:ext cx="4297680" cy="4297680"/>
          </a:xfrm>
          <a:prstGeom prst="roundRect">
            <a:avLst>
              <a:gd fmla="val 1702" name="adj"/>
            </a:avLst>
          </a:prstGeom>
          <a:solidFill>
            <a:srgbClr val="101A2B"/>
          </a:solidFill>
          <a:ln cap="flat" cmpd="sng" w="1270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818120" y="5120640"/>
            <a:ext cx="3291840" cy="365760"/>
          </a:xfrm>
          <a:prstGeom prst="roundRect">
            <a:avLst>
              <a:gd fmla="val 20000" name="adj"/>
            </a:avLst>
          </a:prstGeom>
          <a:solidFill>
            <a:srgbClr val="2B3F5F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7315200" y="35661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(nothing here)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2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THE WORDS FOR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Two different kinds of wrong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48640" y="2057400"/>
            <a:ext cx="5394960" cy="3931920"/>
          </a:xfrm>
          <a:prstGeom prst="roundRect">
            <a:avLst>
              <a:gd fmla="val 1860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 txBox="1"/>
          <p:nvPr/>
        </p:nvSpPr>
        <p:spPr>
          <a:xfrm>
            <a:off x="868680" y="22860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8A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F7A8A"/>
                </a:solidFill>
                <a:latin typeface="Courier New"/>
                <a:ea typeface="Courier New"/>
                <a:cs typeface="Courier New"/>
                <a:sym typeface="Courier New"/>
              </a:rPr>
              <a:t>AN ERROR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868680" y="2788920"/>
            <a:ext cx="47548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The program stops or refuses to run. The console tells you the line.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A missing bracket. A misspelled function name.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Loud, and easy.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263640" y="2057400"/>
            <a:ext cx="5394960" cy="3931920"/>
          </a:xfrm>
          <a:prstGeom prst="roundRect">
            <a:avLst>
              <a:gd fmla="val 1860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6583680" y="22860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A BUG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6583680" y="2788920"/>
            <a:ext cx="47548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The program runs perfectly and does the wrong thing. Nothing is reported.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A pad drawn too late. An offset from the wrong number.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Quiet, and hard.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The sketch you will open today has three bugs. Not one error.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3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WHEN NOTHING IS REPORTED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Four questions, in this order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548640" y="210312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 txBox="1"/>
          <p:nvPr/>
        </p:nvSpPr>
        <p:spPr>
          <a:xfrm>
            <a:off x="685800" y="21031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1371600" y="2103120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Is this line running at all?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7498080" y="210312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console.log("got here")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48640" y="301752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 txBox="1"/>
          <p:nvPr/>
        </p:nvSpPr>
        <p:spPr>
          <a:xfrm>
            <a:off x="685800" y="30175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1371600" y="3017520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Is this variable changing?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7498080" y="301752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console.log(progress)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48640" y="393192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 txBox="1"/>
          <p:nvPr/>
        </p:nvSpPr>
        <p:spPr>
          <a:xfrm>
            <a:off x="685800" y="39319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 txBox="1"/>
          <p:nvPr/>
        </p:nvSpPr>
        <p:spPr>
          <a:xfrm>
            <a:off x="1371600" y="3931920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Is it where I think it is?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7498080" y="393192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inside draw(), or outside?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484632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685800" y="4846320"/>
            <a:ext cx="548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371600" y="4846320"/>
            <a:ext cx="6035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Is it spelled exactly right?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7498080" y="484632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keyPressed, not keypressed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603504" y="5852160"/>
            <a:ext cx="11009376" cy="685800"/>
          </a:xfrm>
          <a:prstGeom prst="rect">
            <a:avLst/>
          </a:prstGeom>
          <a:solidFill>
            <a:srgbClr val="2A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 txBox="1"/>
          <p:nvPr/>
        </p:nvSpPr>
        <p:spPr>
          <a:xfrm>
            <a:off x="804672" y="5980176"/>
            <a:ext cx="106070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Change one thing, then run it. Two changes and you will not know which one worked.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4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WHAT WE'RE BUILDING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 loading bar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 txBox="1"/>
          <p:nvPr/>
        </p:nvSpPr>
        <p:spPr>
          <a:xfrm>
            <a:off x="548640" y="2103120"/>
            <a:ext cx="6035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It sits empty until you </a:t>
            </a:r>
            <a:r>
              <a:rPr b="1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press a key</a:t>
            </a:r>
            <a:r>
              <a:rPr b="0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. Then the bar fills and the number counts up.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Click the mouse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and it stops where it 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48640" y="4114800"/>
            <a:ext cx="54864" cy="128016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603504" y="4114800"/>
            <a:ext cx="5980176" cy="1280160"/>
          </a:xfrm>
          <a:prstGeom prst="rect">
            <a:avLst/>
          </a:prstGeom>
          <a:solidFill>
            <a:srgbClr val="2A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 txBox="1"/>
          <p:nvPr/>
        </p:nvSpPr>
        <p:spPr>
          <a:xfrm>
            <a:off x="804672" y="4242816"/>
            <a:ext cx="55778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THE SKETCH YOU WILL OPEN IS BROKEN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Three bugs, all silent. Your job is to find them.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7315200" y="2103120"/>
            <a:ext cx="4297680" cy="4297680"/>
          </a:xfrm>
          <a:prstGeom prst="roundRect">
            <a:avLst>
              <a:gd fmla="val 1702" name="adj"/>
            </a:avLst>
          </a:prstGeom>
          <a:solidFill>
            <a:srgbClr val="101A2B"/>
          </a:solidFill>
          <a:ln cap="flat" cmpd="sng" w="1270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 txBox="1"/>
          <p:nvPr/>
        </p:nvSpPr>
        <p:spPr>
          <a:xfrm>
            <a:off x="7315200" y="310896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LOADING 42%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7772400" y="3840480"/>
            <a:ext cx="3383280" cy="365760"/>
          </a:xfrm>
          <a:prstGeom prst="roundRect">
            <a:avLst>
              <a:gd fmla="val 20000" name="adj"/>
            </a:avLst>
          </a:prstGeom>
          <a:solidFill>
            <a:srgbClr val="2B3F5F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7772400" y="3840480"/>
            <a:ext cx="1417320" cy="365760"/>
          </a:xfrm>
          <a:prstGeom prst="rect">
            <a:avLst/>
          </a:prstGeom>
          <a:solidFill>
            <a:srgbClr val="7BD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5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THE SPEC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8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Every number you need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548640" y="2103120"/>
            <a:ext cx="6675120" cy="566928"/>
          </a:xfrm>
          <a:prstGeom prst="roundRect">
            <a:avLst>
              <a:gd fmla="val 12903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 txBox="1"/>
          <p:nvPr/>
        </p:nvSpPr>
        <p:spPr>
          <a:xfrm>
            <a:off x="777240" y="210312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Shape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 txBox="1"/>
          <p:nvPr/>
        </p:nvSpPr>
        <p:spPr>
          <a:xfrm>
            <a:off x="3200400" y="2103120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48640" y="2724912"/>
            <a:ext cx="6675120" cy="566928"/>
          </a:xfrm>
          <a:prstGeom prst="roundRect">
            <a:avLst>
              <a:gd fmla="val 12903" name="adj"/>
            </a:avLst>
          </a:prstGeom>
          <a:solidFill>
            <a:srgbClr val="141F33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8"/>
          <p:cNvSpPr txBox="1"/>
          <p:nvPr/>
        </p:nvSpPr>
        <p:spPr>
          <a:xfrm>
            <a:off x="777240" y="272491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Canvas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3200400" y="2724912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500 x 500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48640" y="3346704"/>
            <a:ext cx="6675120" cy="566928"/>
          </a:xfrm>
          <a:prstGeom prst="roundRect">
            <a:avLst>
              <a:gd fmla="val 12903" name="adj"/>
            </a:avLst>
          </a:prstGeom>
          <a:solidFill>
            <a:srgbClr val="141F33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777240" y="3346704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Empty track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 txBox="1"/>
          <p:nvPr/>
        </p:nvSpPr>
        <p:spPr>
          <a:xfrm>
            <a:off x="3200400" y="3346704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rect(80, 220, 340, 30)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548640" y="3968496"/>
            <a:ext cx="6675120" cy="566928"/>
          </a:xfrm>
          <a:prstGeom prst="roundRect">
            <a:avLst>
              <a:gd fmla="val 12903" name="adj"/>
            </a:avLst>
          </a:prstGeom>
          <a:solidFill>
            <a:srgbClr val="141F33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 txBox="1"/>
          <p:nvPr/>
        </p:nvSpPr>
        <p:spPr>
          <a:xfrm>
            <a:off x="777240" y="396849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Filled bar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3200400" y="3968496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rect(80, 220, progress, 30)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48640" y="4590288"/>
            <a:ext cx="6675120" cy="566928"/>
          </a:xfrm>
          <a:prstGeom prst="roundRect">
            <a:avLst>
              <a:gd fmla="val 12903" name="adj"/>
            </a:avLst>
          </a:prstGeom>
          <a:solidFill>
            <a:srgbClr val="141F33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8"/>
          <p:cNvSpPr txBox="1"/>
          <p:nvPr/>
        </p:nvSpPr>
        <p:spPr>
          <a:xfrm>
            <a:off x="777240" y="459028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Label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3200400" y="4590288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text("LOADING " + percent + "%", 175, 200)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548640" y="5376672"/>
            <a:ext cx="54864" cy="105156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603504" y="5376672"/>
            <a:ext cx="6620256" cy="1051560"/>
          </a:xfrm>
          <a:prstGeom prst="rect">
            <a:avLst/>
          </a:prstGeom>
          <a:solidFill>
            <a:srgbClr val="2A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 txBox="1"/>
          <p:nvPr/>
        </p:nvSpPr>
        <p:spPr>
          <a:xfrm>
            <a:off x="804672" y="5504688"/>
            <a:ext cx="621792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COLORS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Background #101A2B  ·  Track #18263C  ·  Fill #7BD88F  ·  Text #EAF0F7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7635240" y="2103120"/>
            <a:ext cx="4023360" cy="4297680"/>
          </a:xfrm>
          <a:prstGeom prst="roundRect">
            <a:avLst>
              <a:gd fmla="val 1818" name="adj"/>
            </a:avLst>
          </a:prstGeom>
          <a:solidFill>
            <a:srgbClr val="101A2B"/>
          </a:solidFill>
          <a:ln cap="flat" cmpd="sng" w="1270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"/>
          <p:cNvSpPr txBox="1"/>
          <p:nvPr/>
        </p:nvSpPr>
        <p:spPr>
          <a:xfrm>
            <a:off x="7635240" y="28346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LOADING 0%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8001000" y="3520440"/>
            <a:ext cx="3291840" cy="292608"/>
          </a:xfrm>
          <a:prstGeom prst="roundRect">
            <a:avLst>
              <a:gd fmla="val 25000" name="adj"/>
            </a:avLst>
          </a:prstGeom>
          <a:solidFill>
            <a:srgbClr val="2B3F5F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8"/>
          <p:cNvSpPr txBox="1"/>
          <p:nvPr/>
        </p:nvSpPr>
        <p:spPr>
          <a:xfrm>
            <a:off x="8001000" y="3886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(80, 220)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7635240" y="41605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340 wide, 30 tall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7635240" y="44348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progress controls this width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6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PHASE 1 · GROUPS OF 4 · WHITEBOARD · 8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Figure out the growth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Before we open the file, write the code on your whiteboard.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Then figure out these three things: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1.  What does progress start at?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2.  What line makes it change each frame?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3.  How does the sketch know to stop when the mouse is clicked?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548640" y="46634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No editor yet. Just the whiteboard.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548640" y="5212080"/>
            <a:ext cx="54864" cy="1097280"/>
          </a:xfrm>
          <a:prstGeom prst="rect">
            <a:avLst/>
          </a:prstGeom>
          <a:solidFill>
            <a:srgbClr val="ED22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603504" y="5212080"/>
            <a:ext cx="11009376" cy="1097280"/>
          </a:xfrm>
          <a:prstGeom prst="rect">
            <a:avLst/>
          </a:prstGeom>
          <a:solidFill>
            <a:srgbClr val="2A12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 txBox="1"/>
          <p:nvPr/>
        </p:nvSpPr>
        <p:spPr>
          <a:xfrm>
            <a:off x="804672" y="5340096"/>
            <a:ext cx="106070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YOU HAVE NOT LEARNED IF YET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So you cannot write "if the mouse was clicked, stop." There is another way. Find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7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CHECKPOINT 1 · AFTER WHITEBOARDING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Your whiteboard should have this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48640" y="2103120"/>
            <a:ext cx="6035040" cy="2834640"/>
          </a:xfrm>
          <a:prstGeom prst="roundRect">
            <a:avLst>
              <a:gd fmla="val 1935" name="adj"/>
            </a:avLst>
          </a:prstGeom>
          <a:solidFill>
            <a:srgbClr val="0E1420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 txBox="1"/>
          <p:nvPr/>
        </p:nvSpPr>
        <p:spPr>
          <a:xfrm>
            <a:off x="777240" y="2267712"/>
            <a:ext cx="5577840" cy="250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let progress = 0;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let loading = 0;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function draw() 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  // ... track and label 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  rect(80, 220, progress, 30);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  progress = progress + (2 * loading);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586C0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function keyPressed() { loading = 1;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function mousePressed() { loading = 0; 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6858000" y="2103120"/>
            <a:ext cx="54864" cy="3566160"/>
          </a:xfrm>
          <a:prstGeom prst="rect">
            <a:avLst/>
          </a:prstGeom>
          <a:solidFill>
            <a:srgbClr val="7BD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6912864" y="2103120"/>
            <a:ext cx="4700016" cy="3566160"/>
          </a:xfrm>
          <a:prstGeom prst="rect">
            <a:avLst/>
          </a:prstGeom>
          <a:solidFill>
            <a:srgbClr val="1224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 txBox="1"/>
          <p:nvPr/>
        </p:nvSpPr>
        <p:spPr>
          <a:xfrm>
            <a:off x="7114032" y="2231136"/>
            <a:ext cx="4297680" cy="3310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DOES YOUR WHITEBOARD MATCH?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•  Two variables at the top, both let, both outside any function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•  Growth line uses 2 * loading, not just + 2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•  Two handlers, both beside draw(), not inside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8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WHY THAT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Multiplying by zero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548640" y="20574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 * loading</a:t>
            </a:r>
            <a:r>
              <a:rPr b="0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means: </a:t>
            </a:r>
            <a:r>
              <a:rPr b="0" i="1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two, unless loading is zero, in which case zero.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548640" y="260604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So the growth line does one of two things: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548640" y="3200400"/>
            <a:ext cx="5394960" cy="1920240"/>
          </a:xfrm>
          <a:prstGeom prst="roundRect">
            <a:avLst>
              <a:gd fmla="val 3810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 txBox="1"/>
          <p:nvPr/>
        </p:nvSpPr>
        <p:spPr>
          <a:xfrm>
            <a:off x="868680" y="33832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loading =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868680" y="3794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progress = progress + 2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868680" y="4297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the bar grows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6263640" y="3200400"/>
            <a:ext cx="5394960" cy="1920240"/>
          </a:xfrm>
          <a:prstGeom prst="roundRect">
            <a:avLst>
              <a:gd fmla="val 3810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 txBox="1"/>
          <p:nvPr/>
        </p:nvSpPr>
        <p:spPr>
          <a:xfrm>
            <a:off x="6583680" y="33832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loading = 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6583680" y="37947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ourier New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progress = progress + 0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6583680" y="4297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the bar stays still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A variable that can be 1 or 0 is called a </a:t>
            </a:r>
            <a:r>
              <a:rPr b="1" i="0" lang="en-US" sz="1800" u="none" cap="none" strike="noStrike">
                <a:solidFill>
                  <a:srgbClr val="F2B705"/>
                </a:solidFill>
                <a:latin typeface="Calibri"/>
                <a:ea typeface="Calibri"/>
                <a:cs typeface="Calibri"/>
                <a:sym typeface="Calibri"/>
              </a:rPr>
              <a:t>flag.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9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PHASE 2 · OPEN THE FILE · 3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Open the broken starter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 txBox="1"/>
          <p:nvPr/>
        </p:nvSpPr>
        <p:spPr>
          <a:xfrm>
            <a:off x="822960" y="21945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1.  Open u1l06-loading-broken.js from the </a:t>
            </a:r>
            <a:r>
              <a:rPr lang="en-US" sz="170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assignment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822960" y="2761488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2.  Copy the whole file, paste it into a new p5 sketch.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822960" y="3328416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3.  Rename it u1l06-loading and save.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822960" y="3895344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4.  Run it. Watch what happens.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/>
          <p:nvPr/>
        </p:nvSpPr>
        <p:spPr>
          <a:xfrm>
            <a:off x="548640" y="4663440"/>
            <a:ext cx="54864" cy="1051560"/>
          </a:xfrm>
          <a:prstGeom prst="rect">
            <a:avLst/>
          </a:prstGeom>
          <a:solidFill>
            <a:srgbClr val="ED22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"/>
          <p:cNvSpPr/>
          <p:nvPr/>
        </p:nvSpPr>
        <p:spPr>
          <a:xfrm>
            <a:off x="603504" y="4663440"/>
            <a:ext cx="11009376" cy="1051560"/>
          </a:xfrm>
          <a:prstGeom prst="rect">
            <a:avLst/>
          </a:prstGeom>
          <a:solidFill>
            <a:srgbClr val="2A12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"/>
          <p:cNvSpPr txBox="1"/>
          <p:nvPr/>
        </p:nvSpPr>
        <p:spPr>
          <a:xfrm>
            <a:off x="804672" y="4791456"/>
            <a:ext cx="106070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THREE BUGS. ALL SILENT. NO ERRORS.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Every bug is one of the three species we just covered in the four-question checklist. Use the checklist. Do not guess.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10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PHASE 3 · GROUPS OF 4 · 8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Find all three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548640" y="210312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Read the code out loud with your group. For each bug, use the four questions.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822960" y="27432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1.  Is the line running at all?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1097280" y="312724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Add a console.log inside a function. Does it print?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822960" y="361188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2.  Is the variable changing?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1097280" y="39959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Log progress. What number do you see?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822960" y="44805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3.  Is it where I think it is?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1097280" y="48646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Inside draw() or outside?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548640" y="5440680"/>
            <a:ext cx="54864" cy="109728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"/>
          <p:cNvSpPr/>
          <p:nvPr/>
        </p:nvSpPr>
        <p:spPr>
          <a:xfrm>
            <a:off x="603504" y="5440680"/>
            <a:ext cx="11009376" cy="1097280"/>
          </a:xfrm>
          <a:prstGeom prst="rect">
            <a:avLst/>
          </a:prstGeom>
          <a:solidFill>
            <a:srgbClr val="2A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"/>
          <p:cNvSpPr txBox="1"/>
          <p:nvPr/>
        </p:nvSpPr>
        <p:spPr>
          <a:xfrm>
            <a:off x="804672" y="5568696"/>
            <a:ext cx="10607040" cy="841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WRITE ON YOUR WHITEBOARD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Bug #1: what it is, and how you found it.   Bug #2: same.   Bug #3: same.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11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CHECKPOINT 2 · AFTER THE BUG HUNT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-US" sz="300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ten</a:t>
            </a: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bugs, in order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548640" y="2103120"/>
            <a:ext cx="3611880" cy="3017520"/>
          </a:xfrm>
          <a:prstGeom prst="roundRect">
            <a:avLst>
              <a:gd fmla="val 2424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777240" y="2286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BUG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4"/>
          <p:cNvSpPr txBox="1"/>
          <p:nvPr/>
        </p:nvSpPr>
        <p:spPr>
          <a:xfrm>
            <a:off x="777240" y="2651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Bar has no fill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77240" y="324612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The third number in the filled bar is 0, not progress. The bar is being drawn, but 0 pixels wide.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4325112" y="2103120"/>
            <a:ext cx="3611880" cy="3017520"/>
          </a:xfrm>
          <a:prstGeom prst="roundRect">
            <a:avLst>
              <a:gd fmla="val 2424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 txBox="1"/>
          <p:nvPr/>
        </p:nvSpPr>
        <p:spPr>
          <a:xfrm>
            <a:off x="4553712" y="2286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BUG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4553712" y="2651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Handlers don't fire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4553712" y="324612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Both keyPressed() and mousePressed() are nested inside draw(). p5 only finds them at the top level.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8101584" y="2103120"/>
            <a:ext cx="3611880" cy="3017520"/>
          </a:xfrm>
          <a:prstGeom prst="roundRect">
            <a:avLst>
              <a:gd fmla="val 2424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 txBox="1"/>
          <p:nvPr/>
        </p:nvSpPr>
        <p:spPr>
          <a:xfrm>
            <a:off x="8330184" y="22860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BUG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8330184" y="265176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Nothing grows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8330184" y="3246120"/>
            <a:ext cx="3200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All three variables are let inside draw(). They reset to 0 every frame. Move them above setup().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548640" y="5349240"/>
            <a:ext cx="54864" cy="914400"/>
          </a:xfrm>
          <a:prstGeom prst="rect">
            <a:avLst/>
          </a:prstGeom>
          <a:solidFill>
            <a:srgbClr val="7BD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603504" y="5349240"/>
            <a:ext cx="11009376" cy="914400"/>
          </a:xfrm>
          <a:prstGeom prst="rect">
            <a:avLst/>
          </a:prstGeom>
          <a:solidFill>
            <a:srgbClr val="1224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 txBox="1"/>
          <p:nvPr/>
        </p:nvSpPr>
        <p:spPr>
          <a:xfrm>
            <a:off x="804672" y="5477256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ALL THREE ARE SILENT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None of these shows an error. That is why the checklist matters — there is nothing to read.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12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PHASE 4 · FIX AND RUN · 5 MIN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Fix all </a:t>
            </a:r>
            <a:r>
              <a:rPr b="1" lang="en-US" sz="300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ten</a:t>
            </a: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. Then interact.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 txBox="1"/>
          <p:nvPr/>
        </p:nvSpPr>
        <p:spPr>
          <a:xfrm>
            <a:off x="822960" y="2194560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1.  Move the three let lines above setup().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 txBox="1"/>
          <p:nvPr/>
        </p:nvSpPr>
        <p:spPr>
          <a:xfrm>
            <a:off x="822960" y="2761488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2.  Change the filled bar's third number from 0 to progress.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 txBox="1"/>
          <p:nvPr/>
        </p:nvSpPr>
        <p:spPr>
          <a:xfrm>
            <a:off x="822960" y="3328416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3.  Move both handlers below draw().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822960" y="3895344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4.  Run it. Press a key. Click the mouse. Press again.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548640" y="4663440"/>
            <a:ext cx="54864" cy="105156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603504" y="4663440"/>
            <a:ext cx="11009376" cy="1051560"/>
          </a:xfrm>
          <a:prstGeom prst="rect">
            <a:avLst/>
          </a:prstGeom>
          <a:solidFill>
            <a:srgbClr val="2A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804672" y="4791456"/>
            <a:ext cx="10607040" cy="79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CHANGE ONE THING AT A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Fix bug 1, run it, then fix bug 2. If you change all three at once and it works, you will not know which fix mattered.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13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A NEW TOOL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The percentage has too many digits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548640" y="2194560"/>
            <a:ext cx="5394960" cy="1005840"/>
          </a:xfrm>
          <a:prstGeom prst="roundRect">
            <a:avLst>
              <a:gd fmla="val 5455" name="adj"/>
            </a:avLst>
          </a:prstGeom>
          <a:solidFill>
            <a:srgbClr val="0E1420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"/>
          <p:cNvSpPr txBox="1"/>
          <p:nvPr/>
        </p:nvSpPr>
        <p:spPr>
          <a:xfrm>
            <a:off x="777240" y="2359152"/>
            <a:ext cx="49377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LOADING 42.35294117647%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 txBox="1"/>
          <p:nvPr/>
        </p:nvSpPr>
        <p:spPr>
          <a:xfrm>
            <a:off x="548640" y="3383280"/>
            <a:ext cx="5394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progress * 100 / 340 almost never lands on a whole number. p5 prints every digit.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6263640" y="19659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THE FIX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6263640" y="2194560"/>
            <a:ext cx="5394960" cy="1005840"/>
          </a:xfrm>
          <a:prstGeom prst="roundRect">
            <a:avLst>
              <a:gd fmla="val 5455" name="adj"/>
            </a:avLst>
          </a:prstGeom>
          <a:solidFill>
            <a:srgbClr val="0E1420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6492240" y="2359152"/>
            <a:ext cx="493776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percent = round(progress * 100 / 340);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6263640" y="3383280"/>
            <a:ext cx="5394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round() takes a number and gives back the nearest whole number.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548640" y="4937760"/>
            <a:ext cx="54864" cy="100584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6"/>
          <p:cNvSpPr/>
          <p:nvPr/>
        </p:nvSpPr>
        <p:spPr>
          <a:xfrm>
            <a:off x="603504" y="4937760"/>
            <a:ext cx="11009376" cy="1005840"/>
          </a:xfrm>
          <a:prstGeom prst="rect">
            <a:avLst/>
          </a:prstGeom>
          <a:solidFill>
            <a:srgbClr val="2A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804672" y="5065776"/>
            <a:ext cx="10607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NOT ON YOUR REFERENCE SHEET YET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round() is a tool, not a topic. You met it because you needed it. Add it to the bottom of your sheet.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14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CHECKPOINT 3 · AFTER YOU RUN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What you should see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548640" y="2103120"/>
            <a:ext cx="3611880" cy="3200400"/>
          </a:xfrm>
          <a:prstGeom prst="roundRect">
            <a:avLst>
              <a:gd fmla="val 2286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 txBox="1"/>
          <p:nvPr/>
        </p:nvSpPr>
        <p:spPr>
          <a:xfrm>
            <a:off x="777240" y="2240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BEFORE ANY 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777240" y="2606040"/>
            <a:ext cx="3154680" cy="1645920"/>
          </a:xfrm>
          <a:prstGeom prst="roundRect">
            <a:avLst>
              <a:gd fmla="val 4444" name="adj"/>
            </a:avLst>
          </a:prstGeom>
          <a:solidFill>
            <a:srgbClr val="101A2B"/>
          </a:solidFill>
          <a:ln cap="flat" cmpd="sng" w="1270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777240" y="27889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LOADING 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1051560" y="3566160"/>
            <a:ext cx="2606040" cy="274320"/>
          </a:xfrm>
          <a:prstGeom prst="roundRect">
            <a:avLst>
              <a:gd fmla="val 26667" name="adj"/>
            </a:avLst>
          </a:prstGeom>
          <a:solidFill>
            <a:srgbClr val="2B3F5F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/>
          <p:cNvSpPr txBox="1"/>
          <p:nvPr/>
        </p:nvSpPr>
        <p:spPr>
          <a:xfrm>
            <a:off x="777240" y="434340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Bar sits empty. Label reads 0%.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4325112" y="2103120"/>
            <a:ext cx="3611880" cy="3200400"/>
          </a:xfrm>
          <a:prstGeom prst="roundRect">
            <a:avLst>
              <a:gd fmla="val 2286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/>
          <p:cNvSpPr txBox="1"/>
          <p:nvPr/>
        </p:nvSpPr>
        <p:spPr>
          <a:xfrm>
            <a:off x="4553712" y="2240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AFTER A KEY PRESS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4553712" y="2606040"/>
            <a:ext cx="3154680" cy="1645920"/>
          </a:xfrm>
          <a:prstGeom prst="roundRect">
            <a:avLst>
              <a:gd fmla="val 4444" name="adj"/>
            </a:avLst>
          </a:prstGeom>
          <a:solidFill>
            <a:srgbClr val="101A2B"/>
          </a:solidFill>
          <a:ln cap="flat" cmpd="sng" w="1270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4553712" y="27889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LOADING 42%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4828032" y="3566160"/>
            <a:ext cx="2606040" cy="274320"/>
          </a:xfrm>
          <a:prstGeom prst="roundRect">
            <a:avLst>
              <a:gd fmla="val 26667" name="adj"/>
            </a:avLst>
          </a:prstGeom>
          <a:solidFill>
            <a:srgbClr val="2B3F5F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4828032" y="3566160"/>
            <a:ext cx="1094537" cy="274320"/>
          </a:xfrm>
          <a:prstGeom prst="rect">
            <a:avLst/>
          </a:prstGeom>
          <a:solidFill>
            <a:srgbClr val="7BD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4553712" y="434340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Bar grows. Number counts up.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8101584" y="2103120"/>
            <a:ext cx="3611880" cy="3200400"/>
          </a:xfrm>
          <a:prstGeom prst="roundRect">
            <a:avLst>
              <a:gd fmla="val 2286" name="adj"/>
            </a:avLst>
          </a:prstGeom>
          <a:solidFill>
            <a:srgbClr val="18263C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8330184" y="2240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AFTER A CLICK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8330184" y="2606040"/>
            <a:ext cx="3154680" cy="1645920"/>
          </a:xfrm>
          <a:prstGeom prst="roundRect">
            <a:avLst>
              <a:gd fmla="val 4444" name="adj"/>
            </a:avLst>
          </a:prstGeom>
          <a:solidFill>
            <a:srgbClr val="101A2B"/>
          </a:solidFill>
          <a:ln cap="flat" cmpd="sng" w="1270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8330184" y="27889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LOADING 42%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8604504" y="3566160"/>
            <a:ext cx="2606040" cy="274320"/>
          </a:xfrm>
          <a:prstGeom prst="roundRect">
            <a:avLst>
              <a:gd fmla="val 26667" name="adj"/>
            </a:avLst>
          </a:prstGeom>
          <a:solidFill>
            <a:srgbClr val="2B3F5F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7"/>
          <p:cNvSpPr/>
          <p:nvPr/>
        </p:nvSpPr>
        <p:spPr>
          <a:xfrm>
            <a:off x="8604504" y="3566160"/>
            <a:ext cx="1094537" cy="274320"/>
          </a:xfrm>
          <a:prstGeom prst="rect">
            <a:avLst/>
          </a:prstGeom>
          <a:solidFill>
            <a:srgbClr val="7BD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8330184" y="397764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frozen here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8330184" y="434340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Bar freezes. Number stops.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548640" y="5486400"/>
            <a:ext cx="54864" cy="914400"/>
          </a:xfrm>
          <a:prstGeom prst="rect">
            <a:avLst/>
          </a:prstGeom>
          <a:solidFill>
            <a:srgbClr val="7BD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7"/>
          <p:cNvSpPr/>
          <p:nvPr/>
        </p:nvSpPr>
        <p:spPr>
          <a:xfrm>
            <a:off x="603504" y="5486400"/>
            <a:ext cx="11009376" cy="914400"/>
          </a:xfrm>
          <a:prstGeom prst="rect">
            <a:avLst/>
          </a:prstGeom>
          <a:solidFill>
            <a:srgbClr val="1224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804672" y="5614416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BD88F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7BD88F"/>
                </a:solidFill>
                <a:latin typeface="Courier New"/>
                <a:ea typeface="Courier New"/>
                <a:cs typeface="Courier New"/>
                <a:sym typeface="Courier New"/>
              </a:rPr>
              <a:t>IF ANY OF THESE THREE LOOKS WRONG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Go back to the four questions. Is the variable changing? Is the handler where I think it is?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15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8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ONE THING YOU CANNOT DO YET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 txBox="1"/>
          <p:nvPr/>
        </p:nvSpPr>
        <p:spPr>
          <a:xfrm>
            <a:off x="548640" y="77724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The bar does not stop at 100%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548640" y="2103120"/>
            <a:ext cx="6126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If you never click the mouse, the number keeps going: LOADING 180%, LOADING 240%, off the right edge of the track.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 txBox="1"/>
          <p:nvPr/>
        </p:nvSpPr>
        <p:spPr>
          <a:xfrm>
            <a:off x="548640" y="3291840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There is nothing in Unit 1 that can check “has it gone past 100?”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548640" y="4114800"/>
            <a:ext cx="54864" cy="1280160"/>
          </a:xfrm>
          <a:prstGeom prst="rect">
            <a:avLst/>
          </a:prstGeom>
          <a:solidFill>
            <a:srgbClr val="F2B7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603504" y="4114800"/>
            <a:ext cx="6071616" cy="1280160"/>
          </a:xfrm>
          <a:prstGeom prst="rect">
            <a:avLst/>
          </a:prstGeom>
          <a:solidFill>
            <a:srgbClr val="2A24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8"/>
          <p:cNvSpPr txBox="1"/>
          <p:nvPr/>
        </p:nvSpPr>
        <p:spPr>
          <a:xfrm>
            <a:off x="804672" y="4242816"/>
            <a:ext cx="566928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NEXT UNIT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if statements. When the number is too big, set loading = 0 — and the bar stops on its own.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7040880" y="2103120"/>
            <a:ext cx="4572000" cy="3291840"/>
          </a:xfrm>
          <a:prstGeom prst="roundRect">
            <a:avLst>
              <a:gd fmla="val 2222" name="adj"/>
            </a:avLst>
          </a:prstGeom>
          <a:solidFill>
            <a:srgbClr val="101A2B"/>
          </a:solidFill>
          <a:ln cap="flat" cmpd="sng" w="12700">
            <a:solidFill>
              <a:srgbClr val="5A73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7040880" y="2468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1600"/>
              <a:buFont typeface="Courier New"/>
              <a:buNone/>
            </a:pPr>
            <a:r>
              <a:rPr b="1" i="0" lang="en-US" sz="16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LOADING 180%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7406640" y="3108960"/>
            <a:ext cx="3840480" cy="320040"/>
          </a:xfrm>
          <a:prstGeom prst="roundRect">
            <a:avLst>
              <a:gd fmla="val 22857" name="adj"/>
            </a:avLst>
          </a:prstGeom>
          <a:solidFill>
            <a:srgbClr val="2B3F5F"/>
          </a:solidFill>
          <a:ln cap="flat" cmpd="sng" w="12700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"/>
          <p:cNvSpPr/>
          <p:nvPr/>
        </p:nvSpPr>
        <p:spPr>
          <a:xfrm>
            <a:off x="7406640" y="3108960"/>
            <a:ext cx="4206240" cy="320040"/>
          </a:xfrm>
          <a:prstGeom prst="rect">
            <a:avLst/>
          </a:prstGeom>
          <a:solidFill>
            <a:srgbClr val="7BD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7040880" y="3657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off the right edge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548640" y="5532120"/>
            <a:ext cx="54864" cy="914400"/>
          </a:xfrm>
          <a:prstGeom prst="rect">
            <a:avLst/>
          </a:prstGeom>
          <a:solidFill>
            <a:srgbClr val="ED22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/>
          <p:nvPr/>
        </p:nvSpPr>
        <p:spPr>
          <a:xfrm>
            <a:off x="603504" y="5532120"/>
            <a:ext cx="11009376" cy="914400"/>
          </a:xfrm>
          <a:prstGeom prst="rect">
            <a:avLst/>
          </a:prstGeom>
          <a:solidFill>
            <a:srgbClr val="2A12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"/>
          <p:cNvSpPr txBox="1"/>
          <p:nvPr/>
        </p:nvSpPr>
        <p:spPr>
          <a:xfrm>
            <a:off x="804672" y="5660136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THIS IS ON PURPOSE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Every sketch in Unit 1 has a limit like this. The rocket fell off the screen. The lift rose out of the shaft. This one keeps counting past 100. Unit 2 gives you the tool to stop all three.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16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A2B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 txBox="1"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225D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ED225D"/>
                </a:solidFill>
                <a:latin typeface="Courier New"/>
                <a:ea typeface="Courier New"/>
                <a:cs typeface="Courier New"/>
                <a:sym typeface="Courier New"/>
              </a:rPr>
              <a:t>ON YOUR BOARD · TWO QUESTIONS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548640" y="77724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1. What is displayed?  2. What is progress after these three lines?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548640" y="2286000"/>
            <a:ext cx="5394960" cy="1645920"/>
          </a:xfrm>
          <a:prstGeom prst="roundRect">
            <a:avLst>
              <a:gd fmla="val 3333" name="adj"/>
            </a:avLst>
          </a:prstGeom>
          <a:solidFill>
            <a:srgbClr val="0E1420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777240" y="2450592"/>
            <a:ext cx="49377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QUESTION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count &lt;- 5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count &lt;- count + 3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count &lt;- count - 1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DISPLAY(count)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6263640" y="2286000"/>
            <a:ext cx="5394960" cy="1645920"/>
          </a:xfrm>
          <a:prstGeom prst="roundRect">
            <a:avLst>
              <a:gd fmla="val 3333" name="adj"/>
            </a:avLst>
          </a:prstGeom>
          <a:solidFill>
            <a:srgbClr val="0E1420"/>
          </a:solidFill>
          <a:ln cap="flat" cmpd="sng" w="9525">
            <a:solidFill>
              <a:srgbClr val="2B3F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6492240" y="2450592"/>
            <a:ext cx="4937760" cy="1316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AEC0D8"/>
                </a:solidFill>
                <a:latin typeface="Courier New"/>
                <a:ea typeface="Courier New"/>
                <a:cs typeface="Courier New"/>
                <a:sym typeface="Courier New"/>
              </a:rPr>
              <a:t>QUESTION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loading &lt;- 1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progress &lt;- progress + (2 x loading)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ourier New"/>
                <a:ea typeface="Courier New"/>
                <a:cs typeface="Courier New"/>
                <a:sym typeface="Courier New"/>
              </a:rPr>
              <a:t>loading &lt;- 0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548640" y="4206240"/>
            <a:ext cx="5394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1.  7</a:t>
            </a:r>
            <a:br>
              <a:rPr b="1" i="0" lang="en-US" sz="20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5, then 8, then 7. Each line uses what the one before it left.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6263640" y="4206240"/>
            <a:ext cx="5394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B705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  <a:t>2.  progress + 2</a:t>
            </a:r>
            <a:br>
              <a:rPr b="1" i="0" lang="en-US" sz="2000" u="none" cap="none" strike="noStrike">
                <a:solidFill>
                  <a:srgbClr val="F2B705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AEC0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C0D8"/>
                </a:solidFill>
                <a:latin typeface="Calibri"/>
                <a:ea typeface="Calibri"/>
                <a:cs typeface="Calibri"/>
                <a:sym typeface="Calibri"/>
              </a:rPr>
              <a:t>Line 1 makes loading 1, so line 2 adds 2. Line 3 resets loading to 0 for the next frame.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 txBox="1"/>
          <p:nvPr/>
        </p:nvSpPr>
        <p:spPr>
          <a:xfrm>
            <a:off x="11000232" y="64008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B3F5F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2B3F5F"/>
                </a:solidFill>
                <a:latin typeface="Courier New"/>
                <a:ea typeface="Courier New"/>
                <a:cs typeface="Courier New"/>
                <a:sym typeface="Courier New"/>
              </a:rPr>
              <a:t>17 / 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