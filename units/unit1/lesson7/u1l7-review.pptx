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E9D48A-FC56-4CB2-9F1E-BD51E7A98CFB}">
  <a:tblStyle styleId="{92E9D48A-FC56-4CB2-9F1E-BD51E7A98C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SHEET (58 min)</a:t>
            </a:r>
            <a:br>
              <a:rPr lang="en-US"/>
            </a:br>
            <a:r>
              <a:rPr lang="en-US"/>
              <a:t>0-2 Title, how today works.</a:t>
            </a:r>
            <a:br>
              <a:rPr lang="en-US"/>
            </a:br>
            <a:r>
              <a:rPr lang="en-US"/>
              <a:t>2-36 iPAD REVIEW: 16 questions, ~2 min each.</a:t>
            </a:r>
            <a:br>
              <a:rPr lang="en-US"/>
            </a:br>
            <a:r>
              <a:rPr lang="en-US"/>
              <a:t>36-39 SYMPTOM ROUND</a:t>
            </a:r>
            <a:br>
              <a:rPr lang="en-US"/>
            </a:br>
            <a:r>
              <a:rPr lang="en-US"/>
              <a:t>39-47 BUG HUNT (Mars rover) — whiteboards, groups of 4</a:t>
            </a:r>
            <a:br>
              <a:rPr lang="en-US"/>
            </a:br>
            <a:r>
              <a:rPr lang="en-US"/>
              <a:t>47-51 COMPARE</a:t>
            </a:r>
            <a:br>
              <a:rPr lang="en-US"/>
            </a:br>
            <a:r>
              <a:rPr lang="en-US"/>
              <a:t>51-56 EXIT TICKET</a:t>
            </a:r>
            <a:br>
              <a:rPr lang="en-US"/>
            </a:br>
            <a:r>
              <a:rPr lang="en-US"/>
              <a:t>56-58 Save, log off.</a:t>
            </a:r>
            <a:br>
              <a:rPr lang="en-US"/>
            </a:br>
            <a:br>
              <a:rPr lang="en-US"/>
            </a:br>
            <a:r>
              <a:rPr lang="en-US"/>
              <a:t>Q14 IS A TWO-CANVAS SLIDE. Before | After side by side.</a:t>
            </a:r>
            <a:br>
              <a:rPr lang="en-US"/>
            </a:br>
            <a:r>
              <a:rPr lang="en-US"/>
              <a:t>Canvas 1 loads immediately. Canvas 2 loads on reveal.</a:t>
            </a:r>
            <a:br>
              <a:rPr lang="en-US"/>
            </a:br>
            <a:br>
              <a:rPr lang="en-US"/>
            </a:br>
            <a:r>
              <a:rPr lang="en-US"/>
              <a:t>NOTHING TO TURN IN.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NINETY SECONDS.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Q1. Foundation.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Q2. On reveal, canvas swaps to 600x1000 showing both lines.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Q3.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Q4.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Q5.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Q6.</a:t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Q7.</a:t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Q8. Balloon rises on reveal.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Q9.</a:t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Q10. Canvas blank until reveal.</a:t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Q11. Blank until reveal.</a:t>
            </a:r>
            <a:endParaRPr/>
          </a:p>
        </p:txBody>
      </p:sp>
      <p:sp>
        <p:nvSpPr>
          <p:cNvPr id="261" name="Google Shape;26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Q12. Blank until reveal. Let the panel freeze before advancing.</a:t>
            </a:r>
            <a:endParaRPr/>
          </a:p>
        </p:txBody>
      </p:sp>
      <p:sp>
        <p:nvSpPr>
          <p:cNvPr id="275" name="Google Shape;27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Q13. Sweep moves with no handler on load. Students try pressing keys — nothing happens. On reveal, the handler loads.</a:t>
            </a:r>
            <a:endParaRPr/>
          </a:p>
        </p:txBody>
      </p:sp>
      <p:sp>
        <p:nvSpPr>
          <p:cNvPr id="289" name="Google Shape;2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Q14. TWO CANVASES, side by side. Before reveal: only the LEFT canvas has content. The RIGHT is blank. On reveal: right canvas loads with the mirrored version. width is the canvas width (300), mouseX ranges 0 to 300, so 300 - mouseX mirrors it.</a:t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b9e94a9a5_1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b9e94a9a5_1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Q15. Concatenation.</a:t>
            </a:r>
            <a:endParaRPr/>
          </a:p>
        </p:txBody>
      </p:sp>
      <p:sp>
        <p:nvSpPr>
          <p:cNvPr id="320" name="Google Shape;320;g3fb9e94a9a5_1_2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Q16.</a:t>
            </a:r>
            <a:endParaRPr/>
          </a:p>
        </p:txBody>
      </p:sp>
      <p:sp>
        <p:nvSpPr>
          <p:cNvPr id="334" name="Google Shape;33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fragment presses.</a:t>
            </a:r>
            <a:endParaRPr/>
          </a:p>
        </p:txBody>
      </p:sp>
      <p:sp>
        <p:nvSpPr>
          <p:cNvPr id="347" name="Google Shape;3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MINUTES, GROUPS OF FOUR, ONE WHITEBOARD PER GROUP.</a:t>
            </a:r>
            <a:br>
              <a:rPr lang="en-US"/>
            </a:br>
            <a:br>
              <a:rPr lang="en-US"/>
            </a:br>
            <a:r>
              <a:rPr lang="en-US"/>
              <a:t>THE FOUR BUGS:</a:t>
            </a:r>
            <a:br>
              <a:rPr lang="en-US"/>
            </a:br>
            <a:r>
              <a:rPr lang="en-US"/>
              <a:t>1. text("POS " + "roverX", ...) — shows the literal word.</a:t>
            </a:r>
            <a:br>
              <a:rPr lang="en-US"/>
            </a:br>
            <a:r>
              <a:rPr lang="en-US"/>
              <a:t>2. let roverX inside draw() — reset every frame.</a:t>
            </a:r>
            <a:br>
              <a:rPr lang="en-US"/>
            </a:br>
            <a:r>
              <a:rPr lang="en-US"/>
              <a:t>3. antenna fixed at x=150 — stays behind.</a:t>
            </a:r>
            <a:br>
              <a:rPr lang="en-US"/>
            </a:br>
            <a:r>
              <a:rPr lang="en-US"/>
              <a:t>4. keyPressed() nested inside draw() — never fires.</a:t>
            </a:r>
            <a:endParaRPr/>
          </a:p>
        </p:txBody>
      </p:sp>
      <p:sp>
        <p:nvSpPr>
          <p:cNvPr id="358" name="Google Shape;3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Drawing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Exit ticket on iPads.</a:t>
            </a:r>
            <a:endParaRPr/>
          </a:p>
        </p:txBody>
      </p:sp>
      <p:sp>
        <p:nvSpPr>
          <p:cNvPr id="368" name="Google Shape;36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wMyIsImNvbnRlbnRJbnN0YW5jZUlkIjoiMTFRTDV5eTY1WmpQSDNPX2xZSGYxblR5NVhxSlpwRkZZb0dJdTB2QlhsTVUvMjZkZDVkNGUtMmRiNC00ZTIwLWIzMjMtMzRmODBmNmFlMmJkIn0=pearId=magic-pear-metadata-identifi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0IiwiY29udGVudEluc3RhbmNlSWQiOiIxMVFMNXl5NjVaalBIM09fbFlIZjFuVHk1WHFKWnBGRllvR0l1MHZCWGxNVS9jZDM4NDY4Mi04MDUyLTQ5MWMtYTIzMC0xOTBhMTQyZWYzZTMifQ==pearId=magic-pear-metadata-identifie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1IiwiY29udGVudEluc3RhbmNlSWQiOiIxMVFMNXl5NjVaalBIM09fbFlIZjFuVHk1WHFKWnBGRllvR0l1MHZCWGxNVS8wYTg2YWYyMy01NGFkLTRmMjMtODQyOS01YWM4OWY4MzEzYzcifQ==pearId=magic-pear-metadata-identifi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2IiwiY29udGVudEluc3RhbmNlSWQiOiIxMVFMNXl5NjVaalBIM09fbFlIZjFuVHk1WHFKWnBGRllvR0l1MHZCWGxNVS83ZjY1OThmZi0xZmM5LTQ3ZGMtOGI2NS01YzgyYzk1MTM3ZTQifQ==pearId=magic-pear-metadata-identifie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3IiwiY29udGVudEluc3RhbmNlSWQiOiIxMVFMNXl5NjVaalBIM09fbFlIZjFuVHk1WHFKWnBGRllvR0l1MHZCWGxNVS80MTFlODU5NS1iNmNiLTRiNzgtYWNkOC03NTRlYmUzNGEzMTUifQ==pearId=magic-pear-metadata-identifi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4IiwiY29udGVudEluc3RhbmNlSWQiOiIxMVFMNXl5NjVaalBIM09fbFlIZjFuVHk1WHFKWnBGRllvR0l1MHZCWGxNVS9mYTEzNzg0Yi0zNWZhLTQzMWUtYjdkMC1lZTMwM2U2ZjJjMzYifQ==pearId=magic-pear-metadata-identifi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wOSIsImNvbnRlbnRJbnN0YW5jZUlkIjoiMTFRTDV5eTY1WmpQSDNPX2xZSGYxblR5NVhxSlpwRkZZb0dJdTB2QlhsTVUvNTdjM2ZlNDEtMmZjZS00OTIxLWE5OGMtYzdjN2JmNjVmMjI5In0=pearId=magic-pear-metadata-identifie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wMTAiLCJjb250ZW50SW5zdGFuY2VJZCI6IjExUUw1eXk2NVpqUEgzT19sWUhmMW5UeTVYcUpacEZGWW9HSXUwdkJYbE1VL2Q3NTMwNDlhLWM3MzQtNGNhYS04ZDBiLWVjZWNjYWZiYmY4MSJ9pearId=magic-pear-metadata-identifier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MSIsImNvbnRlbnRJbnN0YW5jZUlkIjoiMTFRTDV5eTY1WmpQSDNPX2xZSGYxblR5NVhxSlpwRkZZb0dJdTB2QlhsTVUvODVjYTYyOWQtZTdlYy00ZjZkLTg5MzctYTI4NTYzMjY4MzhhIn0=pearId=magic-pear-metadata-identifie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MiIsImNvbnRlbnRJbnN0YW5jZUlkIjoiMTFRTDV5eTY1WmpQSDNPX2xZSGYxblR5NVhxSlpwRkZZb0dJdTB2QlhsTVUvMzhkMDMyY2UtYjU5Zi00NTcyLThhMjgtNWJiY2U4NjZmOGNlIn0=pearId=magic-pear-metadata-identifier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MyIsImNvbnRlbnRJbnN0YW5jZUlkIjoiMTFRTDV5eTY1WmpQSDNPX2xZSGYxblR5NVhxSlpwRkZZb0dJdTB2QlhsTVUvNmIxOTcxMjgtN2RjZS00ODk1LWE0NzYtODgyZGQzNWU4MTE2In0=pearId=magic-pear-metadata-identifie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NCIsImNvbnRlbnRJbnN0YW5jZUlkIjoiMTFRTDV5eTY1WmpQSDNPX2xZSGYxblR5NVhxSlpwRkZZb0dJdTB2QlhsTVUvN2UwNDFjMTMtZGM1Mi00ZGQ4LThmYjEtNDY5MDFlZWU4NTQwIn0=pearId=magic-pear-metadata-identifie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NSIsImNvbnRlbnRJbnN0YW5jZUlkIjoiMTFRTDV5eTY1WmpQSDNPX2xZSGYxblR5NVhxSlpwRkZZb0dJdTB2QlhsTVUvNzA0OGFjZmEtZmRmYS00MTA2LWI3NDUtNGQ3ZmI2MTkzM2JiIn0=pearId=magic-pear-metadata-identifie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NiIsImNvbnRlbnRJbnN0YW5jZUlkIjoiMTFRTDV5eTY1WmpQSDNPX2xZSGYxblR5NVhxSlpwRkZZb0dJdTB2QlhsTVUvMDE5MmRmYjctMzM3ZC00ODE5LWE3NmEtN2Q5ZGNhNjQ1N2NjIn0=pearId=magic-pear-metadata-identifier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nM2ZiOWU5NGE5YTVfMV8yODAiLCJjb250ZW50SW5zdGFuY2VJZCI6IjExUUw1eXk2NVpqUEgzT19sWUhmMW5UeTVYcUpacEZGWW9HSXUwdkJYbE1VL2U1MDM2OWIyLThiNzEtNDIzZS05ODZjLTg5OTljZjViZTRiOSJ9pearId=magic-pear-metadata-identifier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ontchangethislink.peardeckmagic.zone?eyJ0eXBlIjoiZnJlZVJlc3BvbnNlLXRleHQiLCJkcmFnZ2FibGVUZXh0Rm9udFNpemUiOjE4fQ==pearId=magic-pear-shape-identifier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SZXNwb25zZS10ZXh0Iiwic2xpZGVJZCI6InAxOCIsImNvbnRlbnRJbnN0YW5jZUlkIjoiMTFRTDV5eTY1WmpQSDNPX2xZSGYxblR5NVhxSlpwRkZZb0dJdTB2QlhsTVUvZTFlODEzODItNzFhZi00NWNhLTkxZTUtNjY5NmI4ZDg5NjAyIn0=pearId=magic-pear-metadata-identifier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wMTkiLCJjb250ZW50SW5zdGFuY2VJZCI6IjExUUw1eXk2NVpqUEgzT19sWUhmMW5UeTVYcUpacEZGWW9HSXUwdkJYbE1VLzljOGE2MjU1LTk4ZDQtNGViZS05MDU1LTdjMzA5OGUwNzgzMyJ9pearId=magic-pear-metadata-identifie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ontchangethislink.peardeckmagic.zone?eyJ0eXBlIjoiZnJlZWhhbmREcmF3aW5nIiwiZHJhZ2dhYmxlVGV4dEZvbnRTaXplIjoxOH0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Dk4MDk4ODAzNjY2Mzc2NTQxMzUiLCJwcmVzZW50YXRpb25JZCI6IjExUUw1eXk2NVpqUEgzT19sWUhmMW5UeTVYcUpacEZGWW9HSXUwdkJYbE1VIiwiY29udGVudElkIjoiY3VzdG9tLXJlc3BvbnNlLWZyZWVoYW5kRHJhd2luZyIsInNsaWRlSWQiOiJwMjIiLCJjb250ZW50SW5zdGFuY2VJZCI6IjExUUw1eXk2NVpqUEgzT19sWUhmMW5UeTVYcUpacEZGWW9HSXUwdkJYbE1VL2VjODNiZjVmLWVhOGQtNGQ1MC1iMzlkLTFjNzI1OWM5OGE3YiJ9pearId=magic-pear-metadata-identif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UNIT 1 · REVIEW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2057400"/>
            <a:ext cx="10515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Everything,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live on the screen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43434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Sixteen questions from all six lessons — then a bug hunt,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then a walk through every silent failure you have met.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THREE PARTS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457200" y="658368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How today runs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640080" y="178308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b="1" i="0" lang="en-US" sz="22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Sixteen questions</a:t>
            </a:r>
            <a:r>
              <a:rPr b="0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 — code on the screen, you write your own answer on your iPad, then we reveal.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640080" y="26517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2.  </a:t>
            </a:r>
            <a:r>
              <a:rPr b="1" i="0" lang="en-US" sz="22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bug hunt</a:t>
            </a:r>
            <a:r>
              <a:rPr b="0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 — groups of four, whiteboard, one answer per group. One broken rover, four bugs.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35204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3.  </a:t>
            </a:r>
            <a:r>
              <a:rPr b="1" i="0" lang="en-US" sz="22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Symptom round</a:t>
            </a:r>
            <a:r>
              <a:rPr b="0" i="0" lang="en-US" sz="22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 — five silent failures, name the cause.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fmla="val 5333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868680" y="4828032"/>
            <a:ext cx="1042416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INDIVIDUAL ANSWERS: IPAD. GROUP ANSWERS: WHITEBOARD.</a:t>
            </a:r>
            <a:br>
              <a:rPr b="1" i="0" lang="en-US" sz="19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Canvas 300 wide, 500 tall — all new code.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 OF 16 · LESSON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ground control display is 300 by 500.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40080" y="1737360"/>
            <a:ext cx="4023360" cy="448056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198120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5"/>
          <p:cNvCxnSpPr/>
          <p:nvPr/>
        </p:nvCxnSpPr>
        <p:spPr>
          <a:xfrm>
            <a:off x="332232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5"/>
          <p:cNvCxnSpPr/>
          <p:nvPr/>
        </p:nvCxnSpPr>
        <p:spPr>
          <a:xfrm>
            <a:off x="640080" y="2633472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5"/>
          <p:cNvCxnSpPr/>
          <p:nvPr/>
        </p:nvCxnSpPr>
        <p:spPr>
          <a:xfrm>
            <a:off x="640080" y="3529584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640080" y="4425696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5"/>
          <p:cNvCxnSpPr/>
          <p:nvPr/>
        </p:nvCxnSpPr>
        <p:spPr>
          <a:xfrm>
            <a:off x="640080" y="532180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539496" y="1625346"/>
            <a:ext cx="201168" cy="224028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768096" y="1865376"/>
            <a:ext cx="1554480" cy="274320"/>
          </a:xfrm>
          <a:prstGeom prst="rect">
            <a:avLst/>
          </a:prstGeom>
          <a:solidFill>
            <a:srgbClr val="18263C"/>
          </a:solidFill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(0, 0)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19379" y="6083503"/>
            <a:ext cx="241402" cy="268834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768096" y="5925312"/>
            <a:ext cx="1554480" cy="274320"/>
          </a:xfrm>
          <a:prstGeom prst="rect">
            <a:avLst/>
          </a:prstGeom>
          <a:solidFill>
            <a:srgbClr val="18263C"/>
          </a:solidFill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(0, 500)?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40080" y="62544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300 wide, 500 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029200" y="1783080"/>
            <a:ext cx="6492240" cy="1463040"/>
          </a:xfrm>
          <a:prstGeom prst="roundRect">
            <a:avLst>
              <a:gd fmla="val 5000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5257800" y="1947672"/>
            <a:ext cx="603504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NUMBERS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Where on the display does (0, 500) land?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53" name="Google Shape;53;p5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2 OF 16 · LESSON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runway centerline. Same picture, until it isn't.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40080" y="1737360"/>
            <a:ext cx="5394960" cy="914400"/>
          </a:xfrm>
          <a:prstGeom prst="roundRect">
            <a:avLst>
              <a:gd fmla="val 8000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841248" y="1874520"/>
            <a:ext cx="49926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line(0, 250, 300, 250);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40080" y="2743200"/>
            <a:ext cx="5394960" cy="914400"/>
          </a:xfrm>
          <a:prstGeom prst="roundRect">
            <a:avLst>
              <a:gd fmla="val 8000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841248" y="2880360"/>
            <a:ext cx="49926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line(0, height/2, width, height/2);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40080" y="379476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868680" y="3959352"/>
            <a:ext cx="4937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CHANGE THE CANVAS TO 600 BY 1000</a:t>
            </a:r>
            <a:b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Which line is still centered?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492240" y="1737360"/>
            <a:ext cx="3017520" cy="457200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6"/>
          <p:cNvCxnSpPr/>
          <p:nvPr/>
        </p:nvCxnSpPr>
        <p:spPr>
          <a:xfrm>
            <a:off x="749808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6"/>
          <p:cNvCxnSpPr/>
          <p:nvPr/>
        </p:nvCxnSpPr>
        <p:spPr>
          <a:xfrm>
            <a:off x="850392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6"/>
          <p:cNvCxnSpPr/>
          <p:nvPr/>
        </p:nvCxnSpPr>
        <p:spPr>
          <a:xfrm>
            <a:off x="6492240" y="26517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6"/>
          <p:cNvCxnSpPr/>
          <p:nvPr/>
        </p:nvCxnSpPr>
        <p:spPr>
          <a:xfrm>
            <a:off x="6492240" y="35661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6"/>
          <p:cNvCxnSpPr/>
          <p:nvPr/>
        </p:nvCxnSpPr>
        <p:spPr>
          <a:xfrm>
            <a:off x="6492240" y="44805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6"/>
          <p:cNvCxnSpPr/>
          <p:nvPr/>
        </p:nvCxnSpPr>
        <p:spPr>
          <a:xfrm>
            <a:off x="6492240" y="53949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6"/>
          <p:cNvSpPr/>
          <p:nvPr/>
        </p:nvSpPr>
        <p:spPr>
          <a:xfrm>
            <a:off x="6492240" y="4023360"/>
            <a:ext cx="3017520" cy="27432"/>
          </a:xfrm>
          <a:prstGeom prst="rect">
            <a:avLst/>
          </a:prstGeom>
          <a:solidFill>
            <a:srgbClr val="ED22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6492240" y="634593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before: 300×500 (line stuck at y=250)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692640" y="1737360"/>
            <a:ext cx="2011680" cy="457200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6"/>
          <p:cNvCxnSpPr/>
          <p:nvPr/>
        </p:nvCxnSpPr>
        <p:spPr>
          <a:xfrm>
            <a:off x="1036320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6"/>
          <p:cNvCxnSpPr/>
          <p:nvPr/>
        </p:nvCxnSpPr>
        <p:spPr>
          <a:xfrm>
            <a:off x="1103376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6"/>
          <p:cNvCxnSpPr/>
          <p:nvPr/>
        </p:nvCxnSpPr>
        <p:spPr>
          <a:xfrm>
            <a:off x="9692640" y="265176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6"/>
          <p:cNvCxnSpPr/>
          <p:nvPr/>
        </p:nvCxnSpPr>
        <p:spPr>
          <a:xfrm>
            <a:off x="9692640" y="356616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6"/>
          <p:cNvCxnSpPr/>
          <p:nvPr/>
        </p:nvCxnSpPr>
        <p:spPr>
          <a:xfrm>
            <a:off x="9692640" y="448056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6"/>
          <p:cNvCxnSpPr/>
          <p:nvPr/>
        </p:nvCxnSpPr>
        <p:spPr>
          <a:xfrm>
            <a:off x="9692640" y="539496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9692640" y="4023360"/>
            <a:ext cx="2011680" cy="27432"/>
          </a:xfrm>
          <a:prstGeom prst="rect">
            <a:avLst/>
          </a:prstGeom>
          <a:solidFill>
            <a:srgbClr val="ED22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692640" y="4023360"/>
            <a:ext cx="2011680" cy="27432"/>
          </a:xfrm>
          <a:prstGeom prst="rect">
            <a:avLst/>
          </a:prstGeom>
          <a:solidFill>
            <a:srgbClr val="78D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9692640" y="634593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after: 600×1000 (both drawn)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88" name="Google Shape;88;p6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3 OF 16 · LESSON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An instrument panel section. Where does it end?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0080" y="1737360"/>
            <a:ext cx="4023360" cy="448056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7"/>
          <p:cNvCxnSpPr/>
          <p:nvPr/>
        </p:nvCxnSpPr>
        <p:spPr>
          <a:xfrm>
            <a:off x="198120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7"/>
          <p:cNvCxnSpPr/>
          <p:nvPr/>
        </p:nvCxnSpPr>
        <p:spPr>
          <a:xfrm>
            <a:off x="332232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7"/>
          <p:cNvCxnSpPr/>
          <p:nvPr/>
        </p:nvCxnSpPr>
        <p:spPr>
          <a:xfrm>
            <a:off x="640080" y="2633472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7"/>
          <p:cNvCxnSpPr/>
          <p:nvPr/>
        </p:nvCxnSpPr>
        <p:spPr>
          <a:xfrm>
            <a:off x="640080" y="3529584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7"/>
          <p:cNvCxnSpPr/>
          <p:nvPr/>
        </p:nvCxnSpPr>
        <p:spPr>
          <a:xfrm>
            <a:off x="640080" y="4425696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7"/>
          <p:cNvCxnSpPr/>
          <p:nvPr/>
        </p:nvCxnSpPr>
        <p:spPr>
          <a:xfrm>
            <a:off x="640080" y="532180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7"/>
          <p:cNvSpPr/>
          <p:nvPr/>
        </p:nvSpPr>
        <p:spPr>
          <a:xfrm>
            <a:off x="1310640" y="2633472"/>
            <a:ext cx="2011680" cy="1792224"/>
          </a:xfrm>
          <a:prstGeom prst="rect">
            <a:avLst/>
          </a:prstGeom>
          <a:solidFill>
            <a:srgbClr val="5AA9E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220114" y="2532659"/>
            <a:ext cx="181051" cy="201625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1438656" y="2340864"/>
            <a:ext cx="1554480" cy="274320"/>
          </a:xfrm>
          <a:prstGeom prst="rect">
            <a:avLst/>
          </a:prstGeom>
          <a:solidFill>
            <a:srgbClr val="18263C"/>
          </a:solidFill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50, 100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221736" y="4313682"/>
            <a:ext cx="201168" cy="224028"/>
          </a:xfrm>
          <a:prstGeom prst="ellipse">
            <a:avLst/>
          </a:prstGeom>
          <a:solidFill>
            <a:srgbClr val="EAF0F7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640080" y="62544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300 wide, 500 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0" y="1737360"/>
            <a:ext cx="6492240" cy="685800"/>
          </a:xfrm>
          <a:prstGeom prst="roundRect">
            <a:avLst>
              <a:gd fmla="val 10667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5230368" y="1874520"/>
            <a:ext cx="60899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rect(50, 100, 150, 200);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0" y="2560320"/>
            <a:ext cx="6492240" cy="1417320"/>
          </a:xfrm>
          <a:prstGeom prst="roundRect">
            <a:avLst>
              <a:gd fmla="val 5161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5257800" y="2724912"/>
            <a:ext cx="603504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NUMBERS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x of the right edge.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y of the bottom edge.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114" name="Google Shape;114;p7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4 OF 16 · LESSON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aircraft is not on the display. Is it gone?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1737360"/>
            <a:ext cx="5394960" cy="1463040"/>
          </a:xfrm>
          <a:prstGeom prst="roundRect">
            <a:avLst>
              <a:gd fmla="val 5000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841248" y="1874520"/>
            <a:ext cx="49926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triangle(150, 180, 190, 240, 110, 240);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ellipse(150, 230, 220, 120);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3337560"/>
            <a:ext cx="5394960" cy="1005840"/>
          </a:xfrm>
          <a:prstGeom prst="roundRect">
            <a:avLst>
              <a:gd fmla="val 7273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868680" y="3502152"/>
            <a:ext cx="4937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aircraft is not visible anywhere. Is it gone?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492240" y="1737360"/>
            <a:ext cx="2926080" cy="457200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8"/>
          <p:cNvCxnSpPr/>
          <p:nvPr/>
        </p:nvCxnSpPr>
        <p:spPr>
          <a:xfrm>
            <a:off x="746760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8"/>
          <p:cNvCxnSpPr/>
          <p:nvPr/>
        </p:nvCxnSpPr>
        <p:spPr>
          <a:xfrm>
            <a:off x="844296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8"/>
          <p:cNvCxnSpPr/>
          <p:nvPr/>
        </p:nvCxnSpPr>
        <p:spPr>
          <a:xfrm>
            <a:off x="6492240" y="265176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8"/>
          <p:cNvCxnSpPr/>
          <p:nvPr/>
        </p:nvCxnSpPr>
        <p:spPr>
          <a:xfrm>
            <a:off x="6492240" y="356616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8"/>
          <p:cNvCxnSpPr/>
          <p:nvPr/>
        </p:nvCxnSpPr>
        <p:spPr>
          <a:xfrm>
            <a:off x="6492240" y="448056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8"/>
          <p:cNvCxnSpPr/>
          <p:nvPr/>
        </p:nvCxnSpPr>
        <p:spPr>
          <a:xfrm>
            <a:off x="6492240" y="539496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8"/>
          <p:cNvSpPr/>
          <p:nvPr/>
        </p:nvSpPr>
        <p:spPr>
          <a:xfrm>
            <a:off x="6882384" y="3291840"/>
            <a:ext cx="2145792" cy="1097280"/>
          </a:xfrm>
          <a:prstGeom prst="ellipse">
            <a:avLst/>
          </a:prstGeom>
          <a:solidFill>
            <a:srgbClr val="C8D2E1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6492240" y="634593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live demo: draw order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137" name="Google Shape;137;p8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5 OF 16 · LESSON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EAF0F7"/>
                </a:solidFill>
              </a:rPr>
              <a:t>Engine</a:t>
            </a:r>
            <a:r>
              <a:rPr b="1" i="0" lang="en-US" sz="28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 indicators, all red.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40080" y="1737360"/>
            <a:ext cx="5394960" cy="1737360"/>
          </a:xfrm>
          <a:prstGeom prst="roundRect">
            <a:avLst>
              <a:gd fmla="val 4211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841248" y="1874520"/>
            <a:ext cx="49926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fill(255, 0, 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rect(40, 140, 100, 100);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rect(160, 140, 100, 100);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rect(40, 260, 100, 100);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rect(160, 260, 100, 100);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0080" y="3657600"/>
            <a:ext cx="5394960" cy="1097280"/>
          </a:xfrm>
          <a:prstGeom prst="roundRect">
            <a:avLst>
              <a:gd fmla="val 6667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755705" y="3730742"/>
            <a:ext cx="4937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How many indicators are red? </a:t>
            </a:r>
            <a:endParaRPr b="0" i="0" sz="1400" u="none" cap="none" strike="noStrike">
              <a:solidFill>
                <a:srgbClr val="EAF0F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would you change to make the second one green?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492240" y="1737360"/>
            <a:ext cx="3017520" cy="457200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9"/>
          <p:cNvCxnSpPr/>
          <p:nvPr/>
        </p:nvCxnSpPr>
        <p:spPr>
          <a:xfrm>
            <a:off x="749808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9"/>
          <p:cNvCxnSpPr/>
          <p:nvPr/>
        </p:nvCxnSpPr>
        <p:spPr>
          <a:xfrm>
            <a:off x="8503920" y="173736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9"/>
          <p:cNvCxnSpPr/>
          <p:nvPr/>
        </p:nvCxnSpPr>
        <p:spPr>
          <a:xfrm>
            <a:off x="6492240" y="26517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9"/>
          <p:cNvCxnSpPr/>
          <p:nvPr/>
        </p:nvCxnSpPr>
        <p:spPr>
          <a:xfrm>
            <a:off x="6492240" y="35661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9"/>
          <p:cNvCxnSpPr/>
          <p:nvPr/>
        </p:nvCxnSpPr>
        <p:spPr>
          <a:xfrm>
            <a:off x="6492240" y="44805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9"/>
          <p:cNvCxnSpPr/>
          <p:nvPr/>
        </p:nvCxnSpPr>
        <p:spPr>
          <a:xfrm>
            <a:off x="6492240" y="5394960"/>
            <a:ext cx="301752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his is a Pear Deck interactive slide. Students, write your response." id="158" name="Google Shape;158;p9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6 OF 16 · LESSON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satellite body is down and right by half its size.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0080" y="1737360"/>
            <a:ext cx="4023360" cy="448056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0"/>
          <p:cNvCxnSpPr/>
          <p:nvPr/>
        </p:nvCxnSpPr>
        <p:spPr>
          <a:xfrm>
            <a:off x="198120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0"/>
          <p:cNvCxnSpPr/>
          <p:nvPr/>
        </p:nvCxnSpPr>
        <p:spPr>
          <a:xfrm>
            <a:off x="332232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0"/>
          <p:cNvCxnSpPr/>
          <p:nvPr/>
        </p:nvCxnSpPr>
        <p:spPr>
          <a:xfrm>
            <a:off x="640080" y="2633472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0"/>
          <p:cNvCxnSpPr/>
          <p:nvPr/>
        </p:nvCxnSpPr>
        <p:spPr>
          <a:xfrm>
            <a:off x="640080" y="3529584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0"/>
          <p:cNvCxnSpPr/>
          <p:nvPr/>
        </p:nvCxnSpPr>
        <p:spPr>
          <a:xfrm>
            <a:off x="640080" y="4425696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0"/>
          <p:cNvCxnSpPr/>
          <p:nvPr/>
        </p:nvCxnSpPr>
        <p:spPr>
          <a:xfrm>
            <a:off x="640080" y="532180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0"/>
          <p:cNvSpPr/>
          <p:nvPr/>
        </p:nvSpPr>
        <p:spPr>
          <a:xfrm>
            <a:off x="1981200" y="3529584"/>
            <a:ext cx="1341120" cy="896112"/>
          </a:xfrm>
          <a:prstGeom prst="rect">
            <a:avLst/>
          </a:prstGeom>
          <a:noFill/>
          <a:ln cap="flat" cmpd="sng" w="25400">
            <a:solidFill>
              <a:srgbClr val="F2B70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1981200" y="4443984"/>
            <a:ext cx="1341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wanted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2651760" y="3977640"/>
            <a:ext cx="1341120" cy="896112"/>
          </a:xfrm>
          <a:prstGeom prst="rect">
            <a:avLst/>
          </a:prstGeom>
          <a:solidFill>
            <a:srgbClr val="5AA9E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2651760" y="4892040"/>
            <a:ext cx="1341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got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2561234" y="3876827"/>
            <a:ext cx="181051" cy="201625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2779776" y="3685032"/>
            <a:ext cx="1554480" cy="274320"/>
          </a:xfrm>
          <a:prstGeom prst="rect">
            <a:avLst/>
          </a:prstGeom>
          <a:solidFill>
            <a:srgbClr val="18263C"/>
          </a:solidFill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150, 250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640080" y="62544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300 wide, 500 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0" y="1737360"/>
            <a:ext cx="6492240" cy="1463040"/>
          </a:xfrm>
          <a:prstGeom prst="roundRect">
            <a:avLst>
              <a:gd fmla="val 5000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5257800" y="1901952"/>
            <a:ext cx="603504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You place the satellite body at (150, 250), size 100 by 100. It comes out down and to the right by half its size.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029200" y="3337560"/>
            <a:ext cx="6492240" cy="914400"/>
          </a:xfrm>
          <a:prstGeom prst="roundRect">
            <a:avLst>
              <a:gd fmla="val 8000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5257800" y="3502152"/>
            <a:ext cx="6035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WHAT'S MISSING?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One line, and where does it go?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186" name="Google Shape;186;p10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7 OF 16 · LESSON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radar dish and a planet. Two round shapes.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40080" y="1737360"/>
            <a:ext cx="4023360" cy="4480560"/>
          </a:xfrm>
          <a:prstGeom prst="rect">
            <a:avLst/>
          </a:prstGeom>
          <a:solidFill>
            <a:srgbClr val="18263C"/>
          </a:solidFill>
          <a:ln cap="flat" cmpd="sng" w="1905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97;p11"/>
          <p:cNvCxnSpPr/>
          <p:nvPr/>
        </p:nvCxnSpPr>
        <p:spPr>
          <a:xfrm>
            <a:off x="198120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1"/>
          <p:cNvCxnSpPr/>
          <p:nvPr/>
        </p:nvCxnSpPr>
        <p:spPr>
          <a:xfrm>
            <a:off x="3322320" y="1737360"/>
            <a:ext cx="0" cy="448056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1"/>
          <p:cNvCxnSpPr/>
          <p:nvPr/>
        </p:nvCxnSpPr>
        <p:spPr>
          <a:xfrm>
            <a:off x="640080" y="2633472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1"/>
          <p:cNvCxnSpPr/>
          <p:nvPr/>
        </p:nvCxnSpPr>
        <p:spPr>
          <a:xfrm>
            <a:off x="640080" y="3529584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1"/>
          <p:cNvCxnSpPr/>
          <p:nvPr/>
        </p:nvCxnSpPr>
        <p:spPr>
          <a:xfrm>
            <a:off x="640080" y="4425696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1"/>
          <p:cNvCxnSpPr/>
          <p:nvPr/>
        </p:nvCxnSpPr>
        <p:spPr>
          <a:xfrm>
            <a:off x="640080" y="532180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1E2F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1"/>
          <p:cNvSpPr/>
          <p:nvPr/>
        </p:nvSpPr>
        <p:spPr>
          <a:xfrm>
            <a:off x="1444752" y="2902306"/>
            <a:ext cx="2414016" cy="806501"/>
          </a:xfrm>
          <a:prstGeom prst="ellipse">
            <a:avLst/>
          </a:prstGeom>
          <a:solidFill>
            <a:srgbClr val="5AA9E6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1444752" y="3727094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radar dish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712976" y="4470502"/>
            <a:ext cx="1877568" cy="1254557"/>
          </a:xfrm>
          <a:prstGeom prst="ellipse">
            <a:avLst/>
          </a:prstGeom>
          <a:solidFill>
            <a:srgbClr val="F2B705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1712976" y="5743346"/>
            <a:ext cx="18775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planet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561234" y="3204743"/>
            <a:ext cx="181051" cy="201625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2561234" y="4996967"/>
            <a:ext cx="181051" cy="201625"/>
          </a:xfrm>
          <a:prstGeom prst="ellipse">
            <a:avLst/>
          </a:prstGeom>
          <a:solidFill>
            <a:srgbClr val="ED225D"/>
          </a:solidFill>
          <a:ln cap="flat" cmpd="sng" w="15875">
            <a:solidFill>
              <a:srgbClr val="EA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640080" y="62544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300 wide, 500 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029200" y="1737360"/>
            <a:ext cx="6492240" cy="914400"/>
          </a:xfrm>
          <a:prstGeom prst="roundRect">
            <a:avLst>
              <a:gd fmla="val 8000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5230368" y="1874520"/>
            <a:ext cx="60899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ellipse(150, 175, 180, 90);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circle(150, 375, 140);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029200" y="2788920"/>
            <a:ext cx="6492240" cy="1280160"/>
          </a:xfrm>
          <a:prstGeom prst="roundRect">
            <a:avLst>
              <a:gd fmla="val 5714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5257800" y="2953512"/>
            <a:ext cx="603504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6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Where does (150, 175) sit in the dish? In the ellipse, is 180 a width or a radius?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214" name="Google Shape;214;p11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8 OF 16 · LESSON 4A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weather balloon should be ascending. It isn't.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let altitude = 420;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circle(150, altitude, 50);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altitude = altitude - 1;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7040880" y="1691640"/>
            <a:ext cx="4526280" cy="1028192"/>
          </a:xfrm>
          <a:prstGeom prst="roundRect">
            <a:avLst>
              <a:gd fmla="val 7115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7269480" y="1856232"/>
            <a:ext cx="4069080" cy="69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WHY DOESN'T THE BALLOON MOVE?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228" name="Google Shape;228;p12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9 OF 16 · LESSON 4A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reconnaissance drone on patrol.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droneX = 40;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fill(120, 220, 140);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circle(droneX, 250, 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droneX = droneX + 2;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7040880" y="1691640"/>
            <a:ext cx="4526280" cy="1490472"/>
          </a:xfrm>
          <a:prstGeom prst="roundRect">
            <a:avLst>
              <a:gd fmla="val 4908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7269480" y="1856232"/>
            <a:ext cx="406908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THREE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Which direction does the drone move?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would you change to move it left?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And to move it faster?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242" name="Google Shape;242;p13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10 OF 16 · LESSON 4A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probe enters the atmosphere.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probeX = 40;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probeY = 80;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fill(240, 160, 60);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circle(probeX, probeY, 30);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probeX = probeX + 2;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probeY = probeY + 1;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7040880" y="1691640"/>
            <a:ext cx="4526280" cy="1490472"/>
          </a:xfrm>
          <a:prstGeom prst="roundRect">
            <a:avLst>
              <a:gd fmla="val 4908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7269480" y="1856232"/>
            <a:ext cx="406908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path does the probe trace?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Would it still trace that path if only one 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two variables changed?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256" name="Google Shape;256;p14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11 OF 16 · LESSON 4A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 targeting ring... What's going on here?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ringSize = 20;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noFill();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stroke(120, 220, 140);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strokeWeight(3);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circle(150, 250, ringSize);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ringSize = ringSize + 1;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7040880" y="1691640"/>
            <a:ext cx="4526280" cy="1721612"/>
          </a:xfrm>
          <a:prstGeom prst="roundRect">
            <a:avLst>
              <a:gd fmla="val 4249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7269480" y="1856232"/>
            <a:ext cx="4069080" cy="1392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THREE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changes as the program runs?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Does the shape move?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would you change to make it grow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faster?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270" name="Google Shape;270;p15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5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12 OF 16 · LESSON 4A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An alert panel...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alert = 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fill(alert, 40, 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rect(50, 200, 200, 100);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alert = alert + 2;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7040880" y="1691640"/>
            <a:ext cx="4526280" cy="1952752"/>
          </a:xfrm>
          <a:prstGeom prst="roundRect">
            <a:avLst>
              <a:gd fmla="val 3746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7269480" y="1856232"/>
            <a:ext cx="4069080" cy="1623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THREE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happens to the panel's color?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Watch it a few seconds — does it keep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getting redder?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would you change to make it turn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yellow instead?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284" name="Google Shape;284;p16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13 OF 16 · LESSON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radar sweep across the display.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640080" y="1691640"/>
            <a:ext cx="6126480" cy="489204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841248" y="1828800"/>
            <a:ext cx="572414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let scanX = 20;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background(16, 26, 43);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stroke(120, 220, 140);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strokeWeight(3);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line(scanX, 0, scanX, 500);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scanX = scanX + 2;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keyPressed()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scanX = 20;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7040880" y="1691640"/>
            <a:ext cx="4526280" cy="1259332"/>
          </a:xfrm>
          <a:prstGeom prst="roundRect">
            <a:avLst>
              <a:gd fmla="val 5809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7269480" y="1856232"/>
            <a:ext cx="4069080" cy="9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Try pressing a key on the canvas.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Then: what does the handler need to do?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298" name="Google Shape;298;p17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14 OF 16 · LESSON 4B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reticle that goes the wrong way.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640080" y="1691640"/>
            <a:ext cx="3200400" cy="2743200"/>
          </a:xfrm>
          <a:prstGeom prst="roundRect">
            <a:avLst>
              <a:gd fmla="val 2667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868680" y="1965960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circle(mouseX, mouseY, 40);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follows the mouse directly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4023360" y="1691640"/>
            <a:ext cx="3200400" cy="2743200"/>
          </a:xfrm>
          <a:prstGeom prst="roundRect">
            <a:avLst>
              <a:gd fmla="val 2667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7406640" y="169164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7607808" y="1828800"/>
            <a:ext cx="37581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circle(mouseX, mouseY, 40);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40080" y="4617720"/>
            <a:ext cx="6583680" cy="1554480"/>
          </a:xfrm>
          <a:prstGeom prst="roundRect">
            <a:avLst>
              <a:gd fmla="val 4706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868680" y="4782312"/>
            <a:ext cx="6126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WHAT WOULD YOU CHANGE</a:t>
            </a:r>
            <a:br>
              <a:rPr b="1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So the circle appears on the LEFT when your mouse is on the RIGHT? Write one expression.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315" name="Google Shape;315;p18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8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/>
        </p:nvSpPr>
        <p:spPr>
          <a:xfrm>
            <a:off x="45720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15 OF 16 · LESSON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8778240" y="274320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457200" y="658368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does the + do?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640080" y="1691640"/>
            <a:ext cx="6126600" cy="4892100"/>
          </a:xfrm>
          <a:prstGeom prst="roundRect">
            <a:avLst>
              <a:gd fmla="val 1495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841248" y="1828800"/>
            <a:ext cx="5724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text("AIRSPEED " + airspeed, 30, 150);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7040880" y="1691640"/>
            <a:ext cx="4526400" cy="1259400"/>
          </a:xfrm>
          <a:prstGeom prst="roundRect">
            <a:avLst>
              <a:gd fmla="val 5809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7269480" y="1856232"/>
            <a:ext cx="40692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QUESTIONS</a:t>
            </a:r>
            <a:br>
              <a:rPr b="1" i="0" lang="en-US" sz="14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appears if airspeed is 285?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What does + mean here?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329" name="Google Shape;329;p19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9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QUESTION 16 OF 16 · LESSON 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8778240" y="2743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nsolas"/>
                <a:ea typeface="Consolas"/>
                <a:cs typeface="Consolas"/>
                <a:sym typeface="Consolas"/>
              </a:rPr>
              <a:t>read · iPad · reveal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shape is missing. No error. Name two causes.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640080" y="1828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Your sketch runs cleanly. A shape you drew is not visible anywhere on the canvas.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40080" y="2651760"/>
            <a:ext cx="10881360" cy="1005840"/>
          </a:xfrm>
          <a:prstGeom prst="roundRect">
            <a:avLst>
              <a:gd fmla="val 7273" name="adj"/>
            </a:avLst>
          </a:prstGeom>
          <a:solidFill>
            <a:srgbClr val="18263C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868680" y="2816352"/>
            <a:ext cx="10424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TWO CAUSES, AND WHAT YOU WOULD CHECK FOR EACH</a:t>
            </a:r>
            <a:br>
              <a:rPr b="1" i="0" lang="en-US" sz="17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Both are silent. The console says nothing.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Students, write your response." id="342" name="Google Shape;342;p20" title="This is a Pear Deck interactive slide. Students, write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0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LESSON 6 · NAME THE CAUSE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Five silent failures you have all met.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21"/>
          <p:cNvGraphicFramePr/>
          <p:nvPr/>
        </p:nvGraphicFramePr>
        <p:xfrm>
          <a:off x="64008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{92E9D48A-FC56-4CB2-9F1E-BD51E7A98CFB}</a:tableStyleId>
              </a:tblPr>
              <a:tblGrid>
                <a:gridCol w="5943600"/>
                <a:gridCol w="49377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you see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Usually means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F5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Nothing moves at all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D88F"/>
                        </a:buClr>
                        <a:buSzPts val="1600"/>
                        <a:buFont typeface="Consola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shape is missing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D88F"/>
                        </a:buClr>
                        <a:buSzPts val="1600"/>
                        <a:buFont typeface="Consola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is invisible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D88F"/>
                        </a:buClr>
                        <a:buSzPts val="1600"/>
                        <a:buFont typeface="Consola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Everything down and right by half its size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D88F"/>
                        </a:buClr>
                        <a:buSzPts val="1600"/>
                        <a:buFont typeface="Consola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7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EAF0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handler does nothing, no error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D88F"/>
                        </a:buClr>
                        <a:buSzPts val="1600"/>
                        <a:buFont typeface="Consola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101600" marB="101600" marR="101600" marL="101600" anchor="ctr">
                    <a:lnL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3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63C"/>
                    </a:solidFill>
                  </a:tcPr>
                </a:tc>
              </a:tr>
            </a:tbl>
          </a:graphicData>
        </a:graphic>
      </p:graphicFrame>
      <p:sp>
        <p:nvSpPr>
          <p:cNvPr id="352" name="Google Shape;352;p2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None of these shows an error.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353" name="Google Shape;353;p21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GROUPS OF 4 · WHITEBOARD · 6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Mars rover. Four bugs. Find them all.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640080" y="1417320"/>
            <a:ext cx="10881360" cy="5074920"/>
          </a:xfrm>
          <a:prstGeom prst="roundRect">
            <a:avLst>
              <a:gd fmla="val 1441" name="adj"/>
            </a:avLst>
          </a:prstGeom>
          <a:solidFill>
            <a:srgbClr val="1E1E1E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841248" y="1554480"/>
            <a:ext cx="10479024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setup()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createCanvas(300, 500);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rectMode(CENTER);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function draw()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let roverX = 40;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background(120, 60, 30);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noStroke();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fill(120, 220, 140);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text("POS " + "roverX", 150, 40);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fill(255, 200, 60);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circle(150, 240, 16);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fill(190, 200, 215);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rect(roverX, 300, 80, 40);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fill(80);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circle(roverX - 25, 330, 20);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circle(roverX + 25, 330, 20);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roverX = roverX + 1;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function keyPressed()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roverX = 40;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640080" y="656539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Warning: Some bugs hide behind others. Fix one, run it, and the next one shows 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D225D"/>
                </a:solidFill>
                <a:latin typeface="Consolas"/>
                <a:ea typeface="Consolas"/>
                <a:cs typeface="Consolas"/>
                <a:sym typeface="Consolas"/>
              </a:rPr>
              <a:t>EXIT TICKET · IPAD · 3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457200" y="658368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Answer before you leave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640080" y="178308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b="0" i="0" lang="en-US" sz="17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let subX = 60; and inside draw(), subX = subX - 3; — which direction does the submarine move?  </a:t>
            </a:r>
            <a:r>
              <a:rPr b="0" i="1" lang="en-US" sz="1700" u="none" cap="none" strike="noStrike">
                <a:solidFill>
                  <a:srgbClr val="7BD88F"/>
                </a:solidFill>
                <a:latin typeface="Arial"/>
                <a:ea typeface="Arial"/>
                <a:cs typeface="Arial"/>
                <a:sym typeface="Arial"/>
              </a:rPr>
              <a:t>left — x grows right, so subtracting goes left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40080" y="301752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2.  </a:t>
            </a:r>
            <a:r>
              <a:rPr b="0" i="0" lang="en-US" sz="17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text("airspeed", 30, 150) — what appears?  </a:t>
            </a:r>
            <a:r>
              <a:rPr b="0" i="1" lang="en-US" sz="1700" u="none" cap="none" strike="noStrike">
                <a:solidFill>
                  <a:srgbClr val="7BD88F"/>
                </a:solidFill>
                <a:latin typeface="Arial"/>
                <a:ea typeface="Arial"/>
                <a:cs typeface="Arial"/>
                <a:sym typeface="Arial"/>
              </a:rPr>
              <a:t>the word — quotes make it a string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640080" y="425196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3.  </a:t>
            </a:r>
            <a:r>
              <a:rPr b="0" i="0" lang="en-US" sz="1700" u="none" cap="none" strike="noStrike">
                <a:solidFill>
                  <a:srgbClr val="EAF0F7"/>
                </a:solidFill>
                <a:latin typeface="Arial"/>
                <a:ea typeface="Arial"/>
                <a:cs typeface="Arial"/>
                <a:sym typeface="Arial"/>
              </a:rPr>
              <a:t>A variable feeds fill() and the panel goes from black to red, then stops. Why?  </a:t>
            </a:r>
            <a:r>
              <a:rPr b="0" i="1" lang="en-US" sz="1700" u="none" cap="none" strike="noStrike">
                <a:solidFill>
                  <a:srgbClr val="7BD88F"/>
                </a:solidFill>
                <a:latin typeface="Arial"/>
                <a:ea typeface="Arial"/>
                <a:cs typeface="Arial"/>
                <a:sym typeface="Arial"/>
              </a:rPr>
              <a:t>RGB tops out at 255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EC0D8"/>
                </a:solidFill>
                <a:latin typeface="Arial"/>
                <a:ea typeface="Arial"/>
                <a:cs typeface="Arial"/>
                <a:sym typeface="Arial"/>
              </a:rPr>
              <a:t>Nothing to turn in. Keep the cumulative reference sheet.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Next lesson: conditionals.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is is a Pear Deck interactive slide.  Students, draw your response." id="377" name="Google Shape;377;p23" title="This is a Pear Deck interactive slide.  Students, draw your response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