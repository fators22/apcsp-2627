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Bree Serif"/>
      <p:regular r:id="rId17"/>
    </p:embeddedFon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BreeSerif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de5c963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8de5c963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8de5c96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8de5c96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06a30cc8_0_13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06a30cc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006a30cc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006a30cc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06a30cc8_0_14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06a30cc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06a30cc8_0_14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06a30cc8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42234177bfcdbacf_0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h42234177bfcdba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06a30cc8_0_16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006a30cc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006a30cc8_0_15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006a30cc8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006a30cc8_0_17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006a30cc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006a30cc8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006a30cc8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title">
  <p:cSld name="CUSTOM_18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38" y="315829"/>
            <a:ext cx="8520600" cy="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 Text and Image">
  <p:cSld name="CUSTOM_9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08456" y="1295250"/>
            <a:ext cx="3343800" cy="178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2pPr>
            <a:lvl3pPr lvl="2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3pPr>
            <a:lvl4pPr lvl="3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4pPr>
            <a:lvl5pPr lvl="4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5pPr>
            <a:lvl6pPr lvl="5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6pPr>
            <a:lvl7pPr lvl="6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7pPr>
            <a:lvl8pPr lvl="7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8pPr>
            <a:lvl9pPr lvl="8">
              <a:spcBef>
                <a:spcPts val="0"/>
              </a:spcBef>
              <a:spcAft>
                <a:spcPts val="0"/>
              </a:spcAft>
              <a:buSzPts val="11300"/>
              <a:buNone/>
              <a:defRPr sz="11300"/>
            </a:lvl9pPr>
          </a:lstStyle>
          <a:p/>
        </p:txBody>
      </p:sp>
      <p:sp>
        <p:nvSpPr>
          <p:cNvPr id="54" name="Google Shape;54;p14"/>
          <p:cNvSpPr txBox="1"/>
          <p:nvPr>
            <p:ph idx="1" type="subTitle"/>
          </p:nvPr>
        </p:nvSpPr>
        <p:spPr>
          <a:xfrm>
            <a:off x="308456" y="3772331"/>
            <a:ext cx="33438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p5js.org/reference/#/p5/keyReleased" TargetMode="External"/><Relationship Id="rId10" Type="http://schemas.openxmlformats.org/officeDocument/2006/relationships/hyperlink" Target="https://p5js.org/reference/#/p5/keyPressed" TargetMode="External"/><Relationship Id="rId13" Type="http://schemas.openxmlformats.org/officeDocument/2006/relationships/hyperlink" Target="https://p5js.org/reference/#/p5/keyTyped" TargetMode="External"/><Relationship Id="rId12" Type="http://schemas.openxmlformats.org/officeDocument/2006/relationships/hyperlink" Target="https://p5js.org/reference/#/p5/keyReleased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5js.org/reference/#/p5/keyIsPressed" TargetMode="External"/><Relationship Id="rId4" Type="http://schemas.openxmlformats.org/officeDocument/2006/relationships/hyperlink" Target="https://p5js.org/reference/#/p5/keyIsPressed" TargetMode="External"/><Relationship Id="rId9" Type="http://schemas.openxmlformats.org/officeDocument/2006/relationships/hyperlink" Target="https://p5js.org/reference/#/p5/keyPressed" TargetMode="External"/><Relationship Id="rId15" Type="http://schemas.openxmlformats.org/officeDocument/2006/relationships/hyperlink" Target="https://p5js.org/reference/#/p5/keyIsDown" TargetMode="External"/><Relationship Id="rId14" Type="http://schemas.openxmlformats.org/officeDocument/2006/relationships/hyperlink" Target="https://p5js.org/reference/#/p5/keyTyped" TargetMode="External"/><Relationship Id="rId16" Type="http://schemas.openxmlformats.org/officeDocument/2006/relationships/image" Target="../media/image4.png"/><Relationship Id="rId5" Type="http://schemas.openxmlformats.org/officeDocument/2006/relationships/hyperlink" Target="https://p5js.org/reference/#/p5/key" TargetMode="External"/><Relationship Id="rId6" Type="http://schemas.openxmlformats.org/officeDocument/2006/relationships/hyperlink" Target="https://p5js.org/reference/#/p5/key" TargetMode="External"/><Relationship Id="rId7" Type="http://schemas.openxmlformats.org/officeDocument/2006/relationships/hyperlink" Target="https://p5js.org/reference/#/p5/keyCode" TargetMode="External"/><Relationship Id="rId8" Type="http://schemas.openxmlformats.org/officeDocument/2006/relationships/hyperlink" Target="https://p5js.org/reference/#/p5/keyCo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://www.keycode.info" TargetMode="External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idx="1" type="subTitle"/>
          </p:nvPr>
        </p:nvSpPr>
        <p:spPr>
          <a:xfrm rot="113">
            <a:off x="0" y="2236450"/>
            <a:ext cx="91440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500">
                <a:solidFill>
                  <a:srgbClr val="FFFFFF"/>
                </a:solidFill>
                <a:highlight>
                  <a:srgbClr val="00A7EB"/>
                </a:highlight>
                <a:latin typeface="Bree Serif"/>
                <a:ea typeface="Bree Serif"/>
                <a:cs typeface="Bree Serif"/>
                <a:sym typeface="Bree Serif"/>
              </a:rPr>
              <a:t>We will be able to:</a:t>
            </a:r>
            <a:endParaRPr b="1" i="1" sz="2500">
              <a:solidFill>
                <a:srgbClr val="FFFFFF"/>
              </a:solidFill>
              <a:highlight>
                <a:srgbClr val="00A7EB"/>
              </a:highlight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Use </a:t>
            </a:r>
            <a:r>
              <a:rPr b="1" i="1" lang="en" sz="2400">
                <a:solidFill>
                  <a:srgbClr val="434343"/>
                </a:solidFill>
                <a:highlight>
                  <a:schemeClr val="accent6"/>
                </a:highlight>
                <a:latin typeface="Bree Serif"/>
                <a:ea typeface="Bree Serif"/>
                <a:cs typeface="Bree Serif"/>
                <a:sym typeface="Bree Serif"/>
              </a:rPr>
              <a:t>mouseIsPressed </a:t>
            </a: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 built-in boolean variable to create mouse click reactions.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  <a:p>
            <a:pPr indent="-228600" lvl="0" marL="457200" rt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Bree Serif"/>
              <a:buNone/>
            </a:pP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Use </a:t>
            </a:r>
            <a:r>
              <a:rPr b="1" i="1" lang="en" sz="2400">
                <a:solidFill>
                  <a:srgbClr val="434343"/>
                </a:solidFill>
                <a:highlight>
                  <a:schemeClr val="accent6"/>
                </a:highlight>
                <a:latin typeface="Bree Serif"/>
                <a:ea typeface="Bree Serif"/>
                <a:cs typeface="Bree Serif"/>
                <a:sym typeface="Bree Serif"/>
              </a:rPr>
              <a:t>keyIsPressed </a:t>
            </a:r>
            <a:r>
              <a:rPr b="1" i="1" lang="en" sz="2400">
                <a:solidFill>
                  <a:srgbClr val="434343"/>
                </a:solidFill>
                <a:latin typeface="Bree Serif"/>
                <a:ea typeface="Bree Serif"/>
                <a:cs typeface="Bree Serif"/>
                <a:sym typeface="Bree Serif"/>
              </a:rPr>
              <a:t> built-in boolean variable to create key press reactions.</a:t>
            </a:r>
            <a:endParaRPr b="1" i="1" sz="2400">
              <a:solidFill>
                <a:srgbClr val="434343"/>
              </a:solidFill>
              <a:latin typeface="Bree Serif"/>
              <a:ea typeface="Bree Serif"/>
              <a:cs typeface="Bree Serif"/>
              <a:sym typeface="Bree Serif"/>
            </a:endParaRPr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3">
            <a:alphaModFix/>
          </a:blip>
          <a:srcRect b="19895" l="0" r="0" t="20913"/>
          <a:stretch/>
        </p:blipFill>
        <p:spPr>
          <a:xfrm>
            <a:off x="442243" y="682024"/>
            <a:ext cx="5987632" cy="147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6899" y="604525"/>
            <a:ext cx="2491276" cy="163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1767" y="288725"/>
            <a:ext cx="2912232" cy="194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050" y="922240"/>
            <a:ext cx="4700699" cy="32990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/>
        </p:nvSpPr>
        <p:spPr>
          <a:xfrm>
            <a:off x="347400" y="530750"/>
            <a:ext cx="3339000" cy="42942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mouseX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mouseY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pmouseX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pmouseY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random()</a:t>
            </a:r>
            <a:endParaRPr sz="3600">
              <a:solidFill>
                <a:srgbClr val="F3F3F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600"/>
              <a:buChar char="●"/>
            </a:pPr>
            <a:r>
              <a:rPr lang="en" sz="3600">
                <a:solidFill>
                  <a:srgbClr val="F3F3F3"/>
                </a:solidFill>
              </a:rPr>
              <a:t>frameRate()</a:t>
            </a:r>
            <a:endParaRPr sz="36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/>
        </p:nvSpPr>
        <p:spPr>
          <a:xfrm>
            <a:off x="381000" y="1197475"/>
            <a:ext cx="2681100" cy="3273900"/>
          </a:xfrm>
          <a:prstGeom prst="rect">
            <a:avLst/>
          </a:prstGeom>
          <a:solidFill>
            <a:srgbClr val="DC3787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FFFFFF"/>
                </a:solidFill>
              </a:rPr>
              <a:t>P5 REFERENCE</a:t>
            </a:r>
            <a:endParaRPr b="1" sz="1800" u="sng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keyIsPressed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keyCode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8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keyPressed()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10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keyReleased()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12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keyTyped()</a:t>
            </a:r>
            <a:endParaRPr sz="1800" u="sng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  <a:hlinkClick r:id="rId14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keyIsDown()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A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189225" y="1832675"/>
            <a:ext cx="569595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75" y="0"/>
            <a:ext cx="784185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/>
        </p:nvSpPr>
        <p:spPr>
          <a:xfrm>
            <a:off x="945025" y="86575"/>
            <a:ext cx="69399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u="sng">
                <a:solidFill>
                  <a:schemeClr val="hlink"/>
                </a:solidFill>
                <a:hlinkClick r:id="rId4"/>
              </a:rPr>
              <a:t>www.keycode.info</a:t>
            </a:r>
            <a:endParaRPr sz="4800"/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75" y="1510179"/>
            <a:ext cx="2211175" cy="162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/>
        </p:nvSpPr>
        <p:spPr>
          <a:xfrm>
            <a:off x="3446925" y="1212750"/>
            <a:ext cx="5188200" cy="32739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E5C07B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UP_ARROW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n" sz="18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i="1" sz="18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8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50">
                <a:solidFill>
                  <a:srgbClr val="E5C07B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DOWN_ARROW</a:t>
            </a: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en" sz="18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i="1" sz="18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7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00" y="1988788"/>
            <a:ext cx="28575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9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/>
        </p:nvSpPr>
        <p:spPr>
          <a:xfrm>
            <a:off x="4465800" y="1212750"/>
            <a:ext cx="4397700" cy="32739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20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20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20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20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20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20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9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00" y="2194072"/>
            <a:ext cx="2270125" cy="1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1526025" y="150275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38</a:t>
            </a:r>
            <a:endParaRPr b="1" sz="3600"/>
          </a:p>
        </p:txBody>
      </p:sp>
      <p:sp>
        <p:nvSpPr>
          <p:cNvPr id="98" name="Google Shape;98;p20"/>
          <p:cNvSpPr txBox="1"/>
          <p:nvPr/>
        </p:nvSpPr>
        <p:spPr>
          <a:xfrm>
            <a:off x="1560763" y="36911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40</a:t>
            </a:r>
            <a:endParaRPr b="1" sz="3600"/>
          </a:p>
        </p:txBody>
      </p:sp>
      <p:sp>
        <p:nvSpPr>
          <p:cNvPr id="99" name="Google Shape;99;p20"/>
          <p:cNvSpPr txBox="1"/>
          <p:nvPr/>
        </p:nvSpPr>
        <p:spPr>
          <a:xfrm>
            <a:off x="0" y="30404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37</a:t>
            </a:r>
            <a:endParaRPr b="1" sz="3600"/>
          </a:p>
        </p:txBody>
      </p:sp>
      <p:sp>
        <p:nvSpPr>
          <p:cNvPr id="100" name="Google Shape;100;p20"/>
          <p:cNvSpPr txBox="1"/>
          <p:nvPr/>
        </p:nvSpPr>
        <p:spPr>
          <a:xfrm>
            <a:off x="3249625" y="30404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39</a:t>
            </a:r>
            <a:endParaRPr b="1" sz="3600"/>
          </a:p>
        </p:txBody>
      </p:sp>
      <p:sp>
        <p:nvSpPr>
          <p:cNvPr id="101" name="Google Shape;101;p20"/>
          <p:cNvSpPr/>
          <p:nvPr/>
        </p:nvSpPr>
        <p:spPr>
          <a:xfrm>
            <a:off x="6246700" y="2674200"/>
            <a:ext cx="2220600" cy="351000"/>
          </a:xfrm>
          <a:prstGeom prst="roundRect">
            <a:avLst>
              <a:gd fmla="val 16667" name="adj"/>
            </a:avLst>
          </a:prstGeom>
          <a:solidFill>
            <a:srgbClr val="D9DE1F">
              <a:alpha val="3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4465800" y="1212750"/>
            <a:ext cx="4397700" cy="32739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20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20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20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20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20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20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20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20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9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1526025" y="150275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87</a:t>
            </a:r>
            <a:endParaRPr b="1" sz="3600"/>
          </a:p>
        </p:txBody>
      </p:sp>
      <p:sp>
        <p:nvSpPr>
          <p:cNvPr id="109" name="Google Shape;109;p21"/>
          <p:cNvSpPr txBox="1"/>
          <p:nvPr/>
        </p:nvSpPr>
        <p:spPr>
          <a:xfrm>
            <a:off x="1526013" y="378785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83</a:t>
            </a:r>
            <a:endParaRPr b="1" sz="3600"/>
          </a:p>
        </p:txBody>
      </p:sp>
      <p:sp>
        <p:nvSpPr>
          <p:cNvPr id="110" name="Google Shape;110;p21"/>
          <p:cNvSpPr txBox="1"/>
          <p:nvPr/>
        </p:nvSpPr>
        <p:spPr>
          <a:xfrm>
            <a:off x="-240350" y="29827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65</a:t>
            </a:r>
            <a:endParaRPr b="1" sz="3600"/>
          </a:p>
        </p:txBody>
      </p:sp>
      <p:sp>
        <p:nvSpPr>
          <p:cNvPr id="111" name="Google Shape;111;p21"/>
          <p:cNvSpPr txBox="1"/>
          <p:nvPr/>
        </p:nvSpPr>
        <p:spPr>
          <a:xfrm>
            <a:off x="3358200" y="30404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68</a:t>
            </a:r>
            <a:endParaRPr b="1" sz="3600"/>
          </a:p>
        </p:txBody>
      </p:sp>
      <p:sp>
        <p:nvSpPr>
          <p:cNvPr id="112" name="Google Shape;112;p21"/>
          <p:cNvSpPr/>
          <p:nvPr/>
        </p:nvSpPr>
        <p:spPr>
          <a:xfrm>
            <a:off x="6246700" y="2674200"/>
            <a:ext cx="2220600" cy="351000"/>
          </a:xfrm>
          <a:prstGeom prst="roundRect">
            <a:avLst>
              <a:gd fmla="val 16667" name="adj"/>
            </a:avLst>
          </a:prstGeom>
          <a:solidFill>
            <a:srgbClr val="D9DE1F">
              <a:alpha val="3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1" title="images (1).png"/>
          <p:cNvPicPr preferRelativeResize="0"/>
          <p:nvPr/>
        </p:nvPicPr>
        <p:blipFill rotWithShape="1">
          <a:blip r:embed="rId3">
            <a:alphaModFix/>
          </a:blip>
          <a:srcRect b="39889" l="9803" r="9448" t="28335"/>
          <a:stretch/>
        </p:blipFill>
        <p:spPr>
          <a:xfrm>
            <a:off x="799875" y="2153450"/>
            <a:ext cx="2768850" cy="163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Continuous Execution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100850" y="970500"/>
            <a:ext cx="39795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If you have an object that moves, and you want several keys to be able to affect its behaviour simultaneously.</a:t>
            </a:r>
            <a:endParaRPr b="1"/>
          </a:p>
        </p:txBody>
      </p:sp>
      <p:sp>
        <p:nvSpPr>
          <p:cNvPr id="120" name="Google Shape;120;p22"/>
          <p:cNvSpPr txBox="1"/>
          <p:nvPr/>
        </p:nvSpPr>
        <p:spPr>
          <a:xfrm>
            <a:off x="64500" y="2265300"/>
            <a:ext cx="4134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Call out  keyIsPressed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In the function draw()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100850" y="3265500"/>
            <a:ext cx="3265800" cy="16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FFFF00"/>
                </a:highlight>
              </a:rPr>
              <a:t>This will continuously execute the code once the intended key is pressed.</a:t>
            </a:r>
            <a:endParaRPr b="1" sz="2000">
              <a:highlight>
                <a:srgbClr val="FFFF00"/>
              </a:highlight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3799450" y="939525"/>
            <a:ext cx="5259000" cy="4065600"/>
          </a:xfrm>
          <a:prstGeom prst="rect">
            <a:avLst/>
          </a:prstGeom>
          <a:solidFill>
            <a:srgbClr val="00A7EB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//Runs every single frame as long as the key stays held down.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keyIsPressed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 == 'w' || key == 'W'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 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 == 's' || key == 'S'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/>
        </p:nvSpPr>
        <p:spPr>
          <a:xfrm>
            <a:off x="3553175" y="925025"/>
            <a:ext cx="5172900" cy="41433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keyCode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h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56B6C2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350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car1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750">
                <a:solidFill>
                  <a:srgbClr val="E06C75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y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7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7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6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00" y="2041672"/>
            <a:ext cx="2270125" cy="15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DC37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</a:rPr>
              <a:t>KEYBOARD CONTROL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1145025" y="135035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38</a:t>
            </a:r>
            <a:endParaRPr b="1" sz="3600"/>
          </a:p>
        </p:txBody>
      </p:sp>
      <p:sp>
        <p:nvSpPr>
          <p:cNvPr id="131" name="Google Shape;131;p23"/>
          <p:cNvSpPr txBox="1"/>
          <p:nvPr/>
        </p:nvSpPr>
        <p:spPr>
          <a:xfrm>
            <a:off x="1179763" y="35387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40</a:t>
            </a:r>
            <a:endParaRPr b="1" sz="3600"/>
          </a:p>
        </p:txBody>
      </p:sp>
      <p:sp>
        <p:nvSpPr>
          <p:cNvPr id="132" name="Google Shape;132;p23"/>
          <p:cNvSpPr txBox="1"/>
          <p:nvPr/>
        </p:nvSpPr>
        <p:spPr>
          <a:xfrm>
            <a:off x="-152400" y="28118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37</a:t>
            </a:r>
            <a:endParaRPr b="1" sz="3600"/>
          </a:p>
        </p:txBody>
      </p:sp>
      <p:sp>
        <p:nvSpPr>
          <p:cNvPr id="133" name="Google Shape;133;p23"/>
          <p:cNvSpPr txBox="1"/>
          <p:nvPr/>
        </p:nvSpPr>
        <p:spPr>
          <a:xfrm>
            <a:off x="2563825" y="2811800"/>
            <a:ext cx="1107600" cy="6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39</a:t>
            </a:r>
            <a:endParaRPr b="1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/>
        </p:nvSpPr>
        <p:spPr>
          <a:xfrm>
            <a:off x="4465800" y="2323625"/>
            <a:ext cx="4397700" cy="26964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keyIsDown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38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keyIsDown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950">
                <a:solidFill>
                  <a:srgbClr val="D19A66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1" lang="en" sz="1950">
                <a:solidFill>
                  <a:srgbClr val="7F848E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//execute code</a:t>
            </a:r>
            <a:endParaRPr b="1" i="1" sz="1950">
              <a:solidFill>
                <a:srgbClr val="7F848E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301625" y="247525"/>
            <a:ext cx="8424600" cy="60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FFFFFF"/>
                </a:solidFill>
              </a:rPr>
              <a:t>Execute only when the key is down!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100850" y="970500"/>
            <a:ext cx="39795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33333"/>
                </a:solidFill>
                <a:highlight>
                  <a:srgbClr val="FFFFFF"/>
                </a:highlight>
              </a:rPr>
              <a:t>If you have an object that moves, and you want several keys to be able to affect its behaviour simultaneously.</a:t>
            </a:r>
            <a:endParaRPr b="1"/>
          </a:p>
        </p:txBody>
      </p:sp>
      <p:sp>
        <p:nvSpPr>
          <p:cNvPr id="141" name="Google Shape;141;p24"/>
          <p:cNvSpPr txBox="1"/>
          <p:nvPr/>
        </p:nvSpPr>
        <p:spPr>
          <a:xfrm>
            <a:off x="64500" y="2265300"/>
            <a:ext cx="4134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Call out  keyPressed()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highlight>
                  <a:schemeClr val="dk1"/>
                </a:highlight>
              </a:rPr>
              <a:t>In the function draw()</a:t>
            </a:r>
            <a:endParaRPr b="1" sz="24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100900" y="3385775"/>
            <a:ext cx="42156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highlight>
                  <a:srgbClr val="00FF00"/>
                </a:highlight>
              </a:rPr>
              <a:t>This will continuously execute the code only when the intended </a:t>
            </a:r>
            <a:r>
              <a:rPr b="1" lang="en" sz="2000">
                <a:solidFill>
                  <a:schemeClr val="dk1"/>
                </a:solidFill>
                <a:highlight>
                  <a:srgbClr val="00FF00"/>
                </a:highlight>
              </a:rPr>
              <a:t>KEY is DOWN!</a:t>
            </a:r>
            <a:r>
              <a:rPr b="1" lang="en" sz="2000">
                <a:highlight>
                  <a:srgbClr val="00FF00"/>
                </a:highlight>
              </a:rPr>
              <a:t> </a:t>
            </a:r>
            <a:endParaRPr b="1" sz="2000">
              <a:highlight>
                <a:srgbClr val="00FF00"/>
              </a:highlight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4465800" y="939525"/>
            <a:ext cx="4397700" cy="1294800"/>
          </a:xfrm>
          <a:prstGeom prst="rect">
            <a:avLst/>
          </a:prstGeom>
          <a:solidFill>
            <a:srgbClr val="00A7EB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C678DD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draw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950">
                <a:solidFill>
                  <a:srgbClr val="61AFE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keyPressed</a:t>
            </a: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950">
              <a:solidFill>
                <a:srgbClr val="ABB2BF"/>
              </a:solidFill>
              <a:highlight>
                <a:srgbClr val="15222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ABB2BF"/>
                </a:solidFill>
                <a:highlight>
                  <a:srgbClr val="15222E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2800">
              <a:solidFill>
                <a:srgbClr val="FFFFFF"/>
              </a:solidFill>
              <a:highlight>
                <a:srgbClr val="000000"/>
              </a:highlight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6153575" y="3496325"/>
            <a:ext cx="2163300" cy="351000"/>
          </a:xfrm>
          <a:prstGeom prst="roundRect">
            <a:avLst>
              <a:gd fmla="val 16667" name="adj"/>
            </a:avLst>
          </a:prstGeom>
          <a:solidFill>
            <a:srgbClr val="D9DE1F">
              <a:alpha val="3038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 rotWithShape="1">
          <a:blip r:embed="rId3">
            <a:alphaModFix/>
          </a:blip>
          <a:srcRect b="0" l="0" r="43253" t="0"/>
          <a:stretch/>
        </p:blipFill>
        <p:spPr>
          <a:xfrm>
            <a:off x="395913" y="423063"/>
            <a:ext cx="4335424" cy="4297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4833200" y="693738"/>
            <a:ext cx="4212600" cy="3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5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ANY </a:t>
            </a:r>
            <a:r>
              <a:rPr b="1" lang="en" sz="60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QUESTION</a:t>
            </a:r>
            <a:endParaRPr b="1" sz="60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