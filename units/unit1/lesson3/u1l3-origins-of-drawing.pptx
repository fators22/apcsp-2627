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Abril Fatface"/>
      <p:regular r:id="rId22"/>
    </p:embeddedFont>
    <p:embeddedFont>
      <p:font typeface="Pathway Gothic One"/>
      <p:regular r:id="rId23"/>
    </p:embeddedFont>
    <p:embeddedFont>
      <p:font typeface="Bree Serif"/>
      <p:regular r:id="rId24"/>
    </p:embeddedFont>
    <p:embeddedFont>
      <p:font typeface="Cutive"/>
      <p:regular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brilFatface-regular.fntdata"/><Relationship Id="rId21" Type="http://schemas.openxmlformats.org/officeDocument/2006/relationships/slide" Target="slides/slide16.xml"/><Relationship Id="rId24" Type="http://schemas.openxmlformats.org/officeDocument/2006/relationships/font" Target="fonts/BreeSerif-regular.fntdata"/><Relationship Id="rId23" Type="http://schemas.openxmlformats.org/officeDocument/2006/relationships/font" Target="fonts/PathwayGothicOn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Cutive-regular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533de8958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533de8958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8bdda7a57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8bdda7a57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09c86add4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09c86add4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bdda7a57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8bdda7a57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09c86add4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409c86add4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09c86add4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09c86add4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09c86add4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09c86add4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09c86add4c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09c86add4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533de8958_0_37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533de8958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09c86add4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09c86add4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09c86add4c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09c86add4c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d0811de2a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d0811de2a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d0811de2a_0_48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d0811de2a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9c86add4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9c86add4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09c86add4c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09c86add4c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09c86add4c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09c86add4c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6 Two columns">
  <p:cSld name="CUSTOM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790981" y="1072219"/>
            <a:ext cx="3607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4905916" y="1154800"/>
            <a:ext cx="476460" cy="110700"/>
            <a:chOff x="2147366" y="4139382"/>
            <a:chExt cx="635280" cy="147600"/>
          </a:xfrm>
        </p:grpSpPr>
        <p:sp>
          <p:nvSpPr>
            <p:cNvPr id="53" name="Google Shape;53;p1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13"/>
          <p:cNvSpPr/>
          <p:nvPr/>
        </p:nvSpPr>
        <p:spPr>
          <a:xfrm>
            <a:off x="745819" y="1072219"/>
            <a:ext cx="3607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860753" y="1154800"/>
            <a:ext cx="476460" cy="110700"/>
            <a:chOff x="2147366" y="4139382"/>
            <a:chExt cx="635280" cy="147600"/>
          </a:xfrm>
        </p:grpSpPr>
        <p:sp>
          <p:nvSpPr>
            <p:cNvPr id="58" name="Google Shape;58;p1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3"/>
          <p:cNvSpPr txBox="1"/>
          <p:nvPr>
            <p:ph type="title"/>
          </p:nvPr>
        </p:nvSpPr>
        <p:spPr>
          <a:xfrm>
            <a:off x="745819" y="271181"/>
            <a:ext cx="75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986306" y="1701394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5009456" y="1691250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ontent" type="fourObj">
  <p:cSld name="FOUR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57200" y="285750"/>
            <a:ext cx="82296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57200" y="1200150"/>
            <a:ext cx="4038600" cy="1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1pPr>
            <a:lvl2pPr indent="-317500" lvl="1" marL="91440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•"/>
              <a:defRPr/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•"/>
              <a:defRPr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1400"/>
              <a:buFont typeface="Arial"/>
              <a:buChar char="»"/>
              <a:defRPr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648200" y="1200150"/>
            <a:ext cx="4038600" cy="1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1pPr>
            <a:lvl2pPr indent="-317500" lvl="1" marL="91440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•"/>
              <a:defRPr/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•"/>
              <a:defRPr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1400"/>
              <a:buFont typeface="Arial"/>
              <a:buChar char="»"/>
              <a:defRPr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457200" y="2953941"/>
            <a:ext cx="4038600" cy="1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1pPr>
            <a:lvl2pPr indent="-317500" lvl="1" marL="91440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•"/>
              <a:defRPr/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•"/>
              <a:defRPr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1400"/>
              <a:buFont typeface="Arial"/>
              <a:buChar char="»"/>
              <a:defRPr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4" type="body"/>
          </p:nvPr>
        </p:nvSpPr>
        <p:spPr>
          <a:xfrm>
            <a:off x="4648200" y="2953941"/>
            <a:ext cx="4038600" cy="1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1pPr>
            <a:lvl2pPr indent="-317500" lvl="1" marL="91440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•"/>
              <a:defRPr/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rial"/>
              <a:buChar char="•"/>
              <a:defRPr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1400"/>
              <a:buFont typeface="Arial"/>
              <a:buChar char="»"/>
              <a:defRPr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colored)" showMasterSp="0">
  <p:cSld name="Blank (colored)">
    <p:bg>
      <p:bgPr>
        <a:solidFill>
          <a:schemeClr val="dk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subTitle"/>
          </p:nvPr>
        </p:nvSpPr>
        <p:spPr>
          <a:xfrm rot="113">
            <a:off x="0" y="2236450"/>
            <a:ext cx="9144000" cy="29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500">
                <a:solidFill>
                  <a:srgbClr val="FFFFFF"/>
                </a:solidFill>
                <a:highlight>
                  <a:srgbClr val="00A7EB"/>
                </a:highlight>
                <a:latin typeface="Bree Serif"/>
                <a:ea typeface="Bree Serif"/>
                <a:cs typeface="Bree Serif"/>
                <a:sym typeface="Bree Serif"/>
              </a:rPr>
              <a:t>We will be able to:</a:t>
            </a:r>
            <a:endParaRPr b="1" i="1" sz="2500">
              <a:solidFill>
                <a:srgbClr val="FFFFFF"/>
              </a:solidFill>
              <a:highlight>
                <a:srgbClr val="00A7EB"/>
              </a:highlight>
              <a:latin typeface="Bree Serif"/>
              <a:ea typeface="Bree Serif"/>
              <a:cs typeface="Bree Serif"/>
              <a:sym typeface="Bree Serif"/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None/>
            </a:pP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You can work out where a rectangle ends, not just where it starts</a:t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None/>
            </a:pP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You can switch between CORNER and CENTER, and say why</a:t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None/>
            </a:pP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You have built the rocket and shared the link</a:t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None/>
            </a:pPr>
            <a:r>
              <a:t/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19895" l="0" r="0" t="20913"/>
          <a:stretch/>
        </p:blipFill>
        <p:spPr>
          <a:xfrm>
            <a:off x="442243" y="682024"/>
            <a:ext cx="5987632" cy="14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6899" y="604525"/>
            <a:ext cx="2491276" cy="16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1767" y="288725"/>
            <a:ext cx="2912232" cy="194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Screenshot 2026-09-09 at 9.33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00" y="160650"/>
            <a:ext cx="8839204" cy="2723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 title="Screenshot 2026-09-09 at 9.34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737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 title="Screenshot 2026-09-03 at 12.14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5400"/>
            <a:ext cx="8839204" cy="3949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Screenshot 2026-09-09 at 9.35.3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86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 title="Screenshot 2026-09-09 at 9.35.3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97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Screenshot 2026-09-09 at 9.35.4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4" title="Screenshot 2026-09-09 at 9.36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858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/>
        </p:nvSpPr>
        <p:spPr>
          <a:xfrm>
            <a:off x="1967450" y="2556513"/>
            <a:ext cx="69135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rectMode(CENTER);  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// Set rectMode to CENTER</a:t>
            </a:r>
            <a:b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fill(100);  /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/ Set fill to gray</a:t>
            </a:r>
            <a:b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rect(50, 50, 30, 30); 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// Draw gray rect using CENTER mode</a:t>
            </a:r>
            <a:endParaRPr b="1" sz="24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154650" y="4118700"/>
            <a:ext cx="8834700" cy="82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highlight>
                  <a:schemeClr val="accent2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rectMode(CENTER)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interprets the first two parameters of </a:t>
            </a:r>
            <a:r>
              <a:rPr lang="en" sz="2200">
                <a:solidFill>
                  <a:schemeClr val="lt1"/>
                </a:solidFill>
                <a:highlight>
                  <a:schemeClr val="accent2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rect()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as the shape's center point, while the third and fourth parameters are its </a:t>
            </a:r>
            <a:r>
              <a:rPr lang="en" sz="2200">
                <a:solidFill>
                  <a:schemeClr val="lt1"/>
                </a:solidFill>
                <a:highlight>
                  <a:schemeClr val="accent2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width 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and </a:t>
            </a:r>
            <a:r>
              <a:rPr lang="en" sz="2200">
                <a:solidFill>
                  <a:schemeClr val="lt1"/>
                </a:solidFill>
                <a:highlight>
                  <a:schemeClr val="accent2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height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.</a:t>
            </a:r>
            <a:endParaRPr sz="2200">
              <a:solidFill>
                <a:schemeClr val="lt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900" y="2620213"/>
            <a:ext cx="1265800" cy="12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/>
        </p:nvSpPr>
        <p:spPr>
          <a:xfrm>
            <a:off x="2042400" y="43963"/>
            <a:ext cx="7101600" cy="1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rectMode(CORNER)</a:t>
            </a:r>
            <a:r>
              <a:rPr b="1" lang="en" sz="2400">
                <a:solidFill>
                  <a:schemeClr val="dk1"/>
                </a:solidFill>
                <a:highlight>
                  <a:srgbClr val="FFFFFF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;  // Default rectMode is CORNER</a:t>
            </a:r>
            <a:br>
              <a:rPr b="1" lang="en" sz="2400">
                <a:solidFill>
                  <a:schemeClr val="dk1"/>
                </a:solidFill>
                <a:highlight>
                  <a:srgbClr val="FFFFFF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fill(255)</a:t>
            </a:r>
            <a:r>
              <a:rPr b="1" lang="en" sz="2400">
                <a:solidFill>
                  <a:schemeClr val="dk1"/>
                </a:solidFill>
                <a:highlight>
                  <a:srgbClr val="FFFFFF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;  // Set fill to white</a:t>
            </a:r>
            <a:br>
              <a:rPr b="1" lang="en" sz="2400">
                <a:solidFill>
                  <a:schemeClr val="dk1"/>
                </a:solidFill>
                <a:highlight>
                  <a:srgbClr val="FFFFFF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rect(25, 25, 50, 50); </a:t>
            </a:r>
            <a:r>
              <a:rPr b="1" lang="en" sz="2400">
                <a:solidFill>
                  <a:schemeClr val="dk1"/>
                </a:solidFill>
                <a:highlight>
                  <a:srgbClr val="FFFFFF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 // Draw white rect using CORNER mode</a:t>
            </a:r>
            <a:br>
              <a:rPr b="1" lang="en" sz="2400">
                <a:solidFill>
                  <a:schemeClr val="dk1"/>
                </a:solidFill>
                <a:highlight>
                  <a:srgbClr val="FFFFFF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br>
              <a:rPr b="1" lang="en" sz="2400">
                <a:solidFill>
                  <a:schemeClr val="dk1"/>
                </a:solidFill>
                <a:highlight>
                  <a:srgbClr val="FFFFFF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25" name="Google Shape;125;p25"/>
          <p:cNvSpPr txBox="1"/>
          <p:nvPr/>
        </p:nvSpPr>
        <p:spPr>
          <a:xfrm>
            <a:off x="154650" y="1670700"/>
            <a:ext cx="8834700" cy="807600"/>
          </a:xfrm>
          <a:prstGeom prst="rect">
            <a:avLst/>
          </a:prstGeom>
          <a:solidFill>
            <a:srgbClr val="00A1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The default mode is </a:t>
            </a:r>
            <a:r>
              <a:rPr lang="en" sz="2200">
                <a:solidFill>
                  <a:srgbClr val="FFFFFF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rectMode(CORNER)</a:t>
            </a:r>
            <a:r>
              <a:rPr lang="en" sz="220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, which interprets the first two parameters of </a:t>
            </a:r>
            <a:r>
              <a:rPr lang="en" sz="2200">
                <a:solidFill>
                  <a:srgbClr val="FFFFFF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rect()</a:t>
            </a:r>
            <a:r>
              <a:rPr lang="en" sz="220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as the upper-left corner of the shape, while the third and fourth parameters are its </a:t>
            </a:r>
            <a:r>
              <a:rPr lang="en" sz="2200">
                <a:solidFill>
                  <a:srgbClr val="FFFFFF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width </a:t>
            </a:r>
            <a:r>
              <a:rPr lang="en" sz="220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and </a:t>
            </a:r>
            <a:r>
              <a:rPr lang="en" sz="2200">
                <a:solidFill>
                  <a:srgbClr val="FFFFFF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height</a:t>
            </a:r>
            <a:r>
              <a:rPr lang="en" sz="2200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.</a:t>
            </a:r>
            <a:endParaRPr sz="2200">
              <a:solidFill>
                <a:srgbClr val="FFFFFF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pic>
        <p:nvPicPr>
          <p:cNvPr id="126" name="Google Shape;12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47" y="-6478"/>
            <a:ext cx="1617575" cy="14520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849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793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7" title="Screenshot 2026-09-09 at 9.37.1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90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/>
        </p:nvSpPr>
        <p:spPr>
          <a:xfrm>
            <a:off x="3363575" y="750225"/>
            <a:ext cx="36081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3F3F3"/>
                </a:solidFill>
                <a:highlight>
                  <a:srgbClr val="000000"/>
                </a:highlight>
                <a:latin typeface="Cutive"/>
                <a:ea typeface="Cutive"/>
                <a:cs typeface="Cutive"/>
                <a:sym typeface="Cutive"/>
              </a:rPr>
              <a:t>ellipse</a:t>
            </a:r>
            <a:r>
              <a:rPr b="1" lang="en" sz="3000">
                <a:solidFill>
                  <a:srgbClr val="F3F3F3"/>
                </a:solidFill>
                <a:highlight>
                  <a:srgbClr val="000000"/>
                </a:highlight>
                <a:latin typeface="Cutive"/>
                <a:ea typeface="Cutive"/>
                <a:cs typeface="Cutive"/>
                <a:sym typeface="Cutive"/>
              </a:rPr>
              <a:t>()</a:t>
            </a:r>
            <a:endParaRPr b="1" sz="3000">
              <a:solidFill>
                <a:srgbClr val="F3F3F3"/>
              </a:solidFill>
              <a:highlight>
                <a:srgbClr val="000000"/>
              </a:highlight>
              <a:latin typeface="Cutive"/>
              <a:ea typeface="Cutive"/>
              <a:cs typeface="Cutive"/>
              <a:sym typeface="Cutive"/>
            </a:endParaRPr>
          </a:p>
        </p:txBody>
      </p:sp>
      <p:pic>
        <p:nvPicPr>
          <p:cNvPr id="142" name="Google Shape;1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150" y="537925"/>
            <a:ext cx="1807050" cy="18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/>
        </p:nvSpPr>
        <p:spPr>
          <a:xfrm>
            <a:off x="2724050" y="1307500"/>
            <a:ext cx="6038100" cy="10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C3787"/>
                </a:solidFill>
                <a:latin typeface="Merriweather"/>
                <a:ea typeface="Merriweather"/>
                <a:cs typeface="Merriweather"/>
                <a:sym typeface="Merriweather"/>
              </a:rPr>
              <a:t>ellipse</a:t>
            </a:r>
            <a:r>
              <a:rPr b="1" lang="en" sz="3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(x, y, width,height)</a:t>
            </a:r>
            <a:endParaRPr b="1" sz="3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9900FF"/>
                </a:solidFill>
                <a:latin typeface="Merriweather"/>
                <a:ea typeface="Merriweather"/>
                <a:cs typeface="Merriweather"/>
                <a:sym typeface="Merriweather"/>
              </a:rPr>
              <a:t>circle</a:t>
            </a:r>
            <a:r>
              <a:rPr b="1" lang="en" sz="3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(x, y, radius)</a:t>
            </a:r>
            <a:endParaRPr b="1"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185000" y="2750275"/>
            <a:ext cx="8724600" cy="2150100"/>
          </a:xfrm>
          <a:prstGeom prst="rect">
            <a:avLst/>
          </a:prstGeom>
          <a:solidFill>
            <a:srgbClr val="00A7E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x:</a:t>
            </a:r>
            <a:r>
              <a:rPr lang="en" sz="3000"/>
              <a:t> x-coordinate of the ellipse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y:</a:t>
            </a:r>
            <a:r>
              <a:rPr lang="en" sz="3000"/>
              <a:t> y-coordinate of the ellipse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width:</a:t>
            </a:r>
            <a:r>
              <a:rPr lang="en" sz="3000"/>
              <a:t> width of the ellipse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height:</a:t>
            </a:r>
            <a:r>
              <a:rPr lang="en" sz="3000"/>
              <a:t> height of the ellipse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2042400" y="272563"/>
            <a:ext cx="7101600" cy="1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ellipseMode(CENTER); 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// Set ellipseMode to CENTER</a:t>
            </a:r>
            <a:b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fill(100);  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// Set fill to gray</a:t>
            </a:r>
            <a:b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ellipse(50, 50, 30, 30);  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// Draw gray ellipse using CENTER mode</a:t>
            </a:r>
            <a:endParaRPr b="1" sz="2400">
              <a:solidFill>
                <a:schemeClr val="dk1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2300"/>
              </a:spcAft>
              <a:buNone/>
            </a:pPr>
            <a:br>
              <a:rPr b="1" lang="en" sz="2400">
                <a:solidFill>
                  <a:schemeClr val="dk1"/>
                </a:solidFill>
                <a:highlight>
                  <a:srgbClr val="FFFFFF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endParaRPr b="1" sz="2400"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154650" y="4178950"/>
            <a:ext cx="8834700" cy="905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highlight>
                  <a:srgbClr val="434343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ellipseMode(RADIUS) 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also uses the first two parameters of </a:t>
            </a:r>
            <a:r>
              <a:rPr lang="en" sz="2200">
                <a:solidFill>
                  <a:schemeClr val="lt1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ellipse()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as the shape's center point, but uses the third and fourth parameters to specify half of the shapes's </a:t>
            </a:r>
            <a:r>
              <a:rPr lang="en" sz="2200">
                <a:solidFill>
                  <a:schemeClr val="lt1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width 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and </a:t>
            </a:r>
            <a:r>
              <a:rPr lang="en" sz="2200">
                <a:solidFill>
                  <a:schemeClr val="lt1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height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.</a:t>
            </a:r>
            <a:endParaRPr sz="2200">
              <a:solidFill>
                <a:srgbClr val="FFFFFF"/>
              </a:solidFill>
              <a:highlight>
                <a:srgbClr val="000000"/>
              </a:highlight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2176850" y="2773900"/>
            <a:ext cx="7101600" cy="1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ellipseMode(RADIUS);  // 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Set ellipseMode to RADIUS</a:t>
            </a:r>
            <a:b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fill(255);  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// Set fill to white</a:t>
            </a:r>
            <a:b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r>
              <a:rPr b="1" lang="en" sz="2400">
                <a:solidFill>
                  <a:schemeClr val="dk1"/>
                </a:solidFill>
                <a:highlight>
                  <a:srgbClr val="FFFF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ellipse(50, 50, 30, 30);  </a:t>
            </a:r>
            <a:r>
              <a:rPr b="1" lang="en" sz="24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// Draw white ellipse using RADIUS mod</a:t>
            </a:r>
            <a:endParaRPr b="1" sz="2400">
              <a:solidFill>
                <a:schemeClr val="dk1"/>
              </a:solidFill>
              <a:highlight>
                <a:srgbClr val="FFFF00"/>
              </a:highlight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154650" y="1899300"/>
            <a:ext cx="8834700" cy="807600"/>
          </a:xfrm>
          <a:prstGeom prst="rect">
            <a:avLst/>
          </a:prstGeom>
          <a:solidFill>
            <a:srgbClr val="00A1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The default mode is </a:t>
            </a:r>
            <a:r>
              <a:rPr lang="en" sz="2200">
                <a:solidFill>
                  <a:schemeClr val="lt1"/>
                </a:solidFill>
                <a:highlight>
                  <a:schemeClr val="dk1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ellipseMode(CENTER)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, which interprets the first two parameters of </a:t>
            </a:r>
            <a:r>
              <a:rPr lang="en" sz="2200">
                <a:solidFill>
                  <a:schemeClr val="lt1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ellipse()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as the shape's center point, while the third and fourth parameters are its </a:t>
            </a:r>
            <a:r>
              <a:rPr lang="en" sz="2200">
                <a:solidFill>
                  <a:schemeClr val="lt1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width 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and </a:t>
            </a:r>
            <a:r>
              <a:rPr lang="en" sz="2200">
                <a:solidFill>
                  <a:schemeClr val="lt1"/>
                </a:solidFill>
                <a:highlight>
                  <a:srgbClr val="000000"/>
                </a:highlight>
                <a:latin typeface="Pathway Gothic One"/>
                <a:ea typeface="Pathway Gothic One"/>
                <a:cs typeface="Pathway Gothic One"/>
                <a:sym typeface="Pathway Gothic One"/>
              </a:rPr>
              <a:t>height</a:t>
            </a:r>
            <a: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.</a:t>
            </a:r>
            <a:br>
              <a:rPr lang="en" sz="2200">
                <a:solidFill>
                  <a:schemeClr val="lt1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</a:br>
            <a:endParaRPr sz="2200">
              <a:solidFill>
                <a:srgbClr val="FFFFFF"/>
              </a:solidFill>
              <a:latin typeface="Pathway Gothic One"/>
              <a:ea typeface="Pathway Gothic One"/>
              <a:cs typeface="Pathway Gothic One"/>
              <a:sym typeface="Pathway Gothic One"/>
            </a:endParaRPr>
          </a:p>
        </p:txBody>
      </p:sp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50" y="218825"/>
            <a:ext cx="1618325" cy="161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50" y="2733425"/>
            <a:ext cx="1444050" cy="14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/>
          <p:nvPr/>
        </p:nvSpPr>
        <p:spPr>
          <a:xfrm>
            <a:off x="617425" y="3047350"/>
            <a:ext cx="854700" cy="85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" name="Google Shape;156;p29"/>
          <p:cNvCxnSpPr/>
          <p:nvPr/>
        </p:nvCxnSpPr>
        <p:spPr>
          <a:xfrm flipH="1" rot="10800000">
            <a:off x="1025500" y="3474825"/>
            <a:ext cx="446700" cy="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9"/>
          <p:cNvSpPr txBox="1"/>
          <p:nvPr/>
        </p:nvSpPr>
        <p:spPr>
          <a:xfrm>
            <a:off x="1025500" y="3174475"/>
            <a:ext cx="7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</a:t>
            </a:r>
            <a:endParaRPr/>
          </a:p>
        </p:txBody>
      </p:sp>
      <p:cxnSp>
        <p:nvCxnSpPr>
          <p:cNvPr id="158" name="Google Shape;158;p29"/>
          <p:cNvCxnSpPr/>
          <p:nvPr/>
        </p:nvCxnSpPr>
        <p:spPr>
          <a:xfrm>
            <a:off x="914400" y="1034050"/>
            <a:ext cx="487200" cy="8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9"/>
          <p:cNvSpPr txBox="1"/>
          <p:nvPr/>
        </p:nvSpPr>
        <p:spPr>
          <a:xfrm>
            <a:off x="954275" y="731175"/>
            <a:ext cx="7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30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0" title="Screenshot 2026-09-09 at 9.38.5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190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1" title="Screenshot 2026-09-09 at 9.39.0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677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2" title="Screenshot 2026-09-09 at 9.39.4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3560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