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BM Plex Sans"/>
      <p:regular r:id="rId22"/>
      <p:bold r:id="rId23"/>
      <p:italic r:id="rId24"/>
      <p:boldItalic r:id="rId25"/>
    </p:embeddedFont>
    <p:embeddedFont>
      <p:font typeface="Abril Fatface"/>
      <p:regular r:id="rId26"/>
    </p:embeddedFont>
    <p:embeddedFont>
      <p:font typeface="Lora"/>
      <p:regular r:id="rId27"/>
      <p:bold r:id="rId28"/>
      <p:italic r:id="rId29"/>
      <p:boldItalic r:id="rId30"/>
    </p:embeddedFont>
    <p:embeddedFont>
      <p:font typeface="Bree Serif"/>
      <p:regular r:id="rId31"/>
    </p:embeddedFont>
    <p:embeddedFont>
      <p:font typeface="Roboto Mono"/>
      <p:regular r:id="rId32"/>
      <p:bold r:id="rId33"/>
      <p:italic r:id="rId34"/>
      <p:boldItalic r:id="rId35"/>
    </p:embeddedFont>
    <p:embeddedFont>
      <p:font typeface="Oswald"/>
      <p:regular r:id="rId36"/>
      <p:bold r:id="rId37"/>
    </p:embeddedFont>
    <p:embeddedFont>
      <p:font typeface="Merriweather"/>
      <p:regular r:id="rId38"/>
      <p:bold r:id="rId39"/>
      <p:italic r:id="rId40"/>
      <p:boldItalic r:id="rId41"/>
    </p:embeddedFont>
    <p:embeddedFont>
      <p:font typeface="Comfortaa"/>
      <p:regular r:id="rId42"/>
      <p:bold r:id="rId43"/>
    </p:embeddedFont>
    <p:embeddedFont>
      <p:font typeface="Space Grotesk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960206-2669-4DE9-9B0A-2D48381B5B4D}">
  <a:tblStyle styleId="{8D960206-2669-4DE9-9B0A-2D48381B5B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italic.fntdata"/><Relationship Id="rId20" Type="http://schemas.openxmlformats.org/officeDocument/2006/relationships/slide" Target="slides/slide14.xml"/><Relationship Id="rId42" Type="http://schemas.openxmlformats.org/officeDocument/2006/relationships/font" Target="fonts/Comfortaa-regular.fntdata"/><Relationship Id="rId41" Type="http://schemas.openxmlformats.org/officeDocument/2006/relationships/font" Target="fonts/Merriweather-boldItalic.fntdata"/><Relationship Id="rId22" Type="http://schemas.openxmlformats.org/officeDocument/2006/relationships/font" Target="fonts/IBMPlexSans-regular.fntdata"/><Relationship Id="rId44" Type="http://schemas.openxmlformats.org/officeDocument/2006/relationships/font" Target="fonts/SpaceGrotesk-regular.fntdata"/><Relationship Id="rId21" Type="http://schemas.openxmlformats.org/officeDocument/2006/relationships/slide" Target="slides/slide15.xml"/><Relationship Id="rId43" Type="http://schemas.openxmlformats.org/officeDocument/2006/relationships/font" Target="fonts/Comfortaa-bold.fntdata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45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brilFatface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Lora-bold.fntdata"/><Relationship Id="rId27" Type="http://schemas.openxmlformats.org/officeDocument/2006/relationships/font" Target="fonts/Lor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or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reeSerif-regular.fntdata"/><Relationship Id="rId30" Type="http://schemas.openxmlformats.org/officeDocument/2006/relationships/font" Target="fonts/Lora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ono-bold.fntdata"/><Relationship Id="rId10" Type="http://schemas.openxmlformats.org/officeDocument/2006/relationships/slide" Target="slides/slide4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9.xml"/><Relationship Id="rId37" Type="http://schemas.openxmlformats.org/officeDocument/2006/relationships/font" Target="fonts/Oswald-bold.fntdata"/><Relationship Id="rId14" Type="http://schemas.openxmlformats.org/officeDocument/2006/relationships/slide" Target="slides/slide8.xml"/><Relationship Id="rId36" Type="http://schemas.openxmlformats.org/officeDocument/2006/relationships/font" Target="fonts/Oswald-regular.fntdata"/><Relationship Id="rId17" Type="http://schemas.openxmlformats.org/officeDocument/2006/relationships/slide" Target="slides/slide11.xml"/><Relationship Id="rId39" Type="http://schemas.openxmlformats.org/officeDocument/2006/relationships/font" Target="fonts/Merriweather-bold.fntdata"/><Relationship Id="rId16" Type="http://schemas.openxmlformats.org/officeDocument/2006/relationships/slide" Target="slides/slide10.xml"/><Relationship Id="rId38" Type="http://schemas.openxmlformats.org/officeDocument/2006/relationships/font" Target="fonts/Merriweather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8e6e2872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8e6e2872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8e6e28720_0_16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8e6e2872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daaf15a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daaf15a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8e6e2872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8e6e2872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8daaf15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8daaf15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8e6e2872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8e6e2872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8e6e2872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8e6e2872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8e6e2872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8e6e2872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daaf15a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8daaf15a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daaf15a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daaf15a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8daaf15a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8daaf15a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8e6e28720_0_16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8e6e2872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8e6e2872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8e6e2872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8e6e2872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8e6e2872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8e6e28720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8e6e28720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6 Two columns">
  <p:cSld name="CUSTOM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790981" y="1072219"/>
            <a:ext cx="3607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4905916" y="1154800"/>
            <a:ext cx="476460" cy="110700"/>
            <a:chOff x="2147366" y="4139382"/>
            <a:chExt cx="635280" cy="147600"/>
          </a:xfrm>
        </p:grpSpPr>
        <p:sp>
          <p:nvSpPr>
            <p:cNvPr id="53" name="Google Shape;53;p1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13"/>
          <p:cNvSpPr/>
          <p:nvPr/>
        </p:nvSpPr>
        <p:spPr>
          <a:xfrm>
            <a:off x="745819" y="1072219"/>
            <a:ext cx="3607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860753" y="1154800"/>
            <a:ext cx="476460" cy="110700"/>
            <a:chOff x="2147366" y="4139382"/>
            <a:chExt cx="635280" cy="147600"/>
          </a:xfrm>
        </p:grpSpPr>
        <p:sp>
          <p:nvSpPr>
            <p:cNvPr id="58" name="Google Shape;58;p1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3"/>
          <p:cNvSpPr txBox="1"/>
          <p:nvPr>
            <p:ph type="title"/>
          </p:nvPr>
        </p:nvSpPr>
        <p:spPr>
          <a:xfrm>
            <a:off x="745819" y="271181"/>
            <a:ext cx="75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986306" y="1701394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5009456" y="1691250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gif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" type="subTitle"/>
          </p:nvPr>
        </p:nvSpPr>
        <p:spPr>
          <a:xfrm rot="113">
            <a:off x="0" y="2236450"/>
            <a:ext cx="9144000" cy="29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500">
                <a:solidFill>
                  <a:srgbClr val="FFFFFF"/>
                </a:solidFill>
                <a:highlight>
                  <a:srgbClr val="00A7EB"/>
                </a:highlight>
                <a:latin typeface="Bree Serif"/>
                <a:ea typeface="Bree Serif"/>
                <a:cs typeface="Bree Serif"/>
                <a:sym typeface="Bree Serif"/>
              </a:rPr>
              <a:t>We will be able to:</a:t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-228600" lvl="0" marL="457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None/>
            </a:pP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handle program events when the mouse is moved.</a:t>
            </a:r>
            <a:b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</a:b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9895" l="0" r="0" t="20913"/>
          <a:stretch/>
        </p:blipFill>
        <p:spPr>
          <a:xfrm>
            <a:off x="442243" y="682024"/>
            <a:ext cx="5987632" cy="14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6899" y="604525"/>
            <a:ext cx="2491276" cy="16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1767" y="288725"/>
            <a:ext cx="2912232" cy="194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173700" y="121200"/>
            <a:ext cx="8733600" cy="669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SETUP()  &amp; DRAW() FUNCTIONS</a:t>
            </a:r>
            <a:endParaRPr b="1" sz="30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1730" r="0" t="0"/>
          <a:stretch/>
        </p:blipFill>
        <p:spPr>
          <a:xfrm>
            <a:off x="-16250" y="849575"/>
            <a:ext cx="6849499" cy="42939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6542775" y="930375"/>
            <a:ext cx="2541600" cy="4077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How does it work? </a:t>
            </a: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When we run the program, it will follow our instructions precisely, </a:t>
            </a:r>
            <a:r>
              <a:rPr lang="en" sz="1600">
                <a:highlight>
                  <a:srgbClr val="FFFF00"/>
                </a:highlight>
                <a:latin typeface="Merriweather"/>
                <a:ea typeface="Merriweather"/>
                <a:cs typeface="Merriweather"/>
                <a:sym typeface="Merriweather"/>
              </a:rPr>
              <a:t>executing the steps in 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Merriweather"/>
                <a:ea typeface="Merriweather"/>
                <a:cs typeface="Merriweather"/>
                <a:sym typeface="Merriweather"/>
              </a:rPr>
              <a:t>setup( ) </a:t>
            </a:r>
            <a:r>
              <a:rPr lang="en" sz="1600">
                <a:highlight>
                  <a:srgbClr val="FFFF00"/>
                </a:highlight>
                <a:latin typeface="Merriweather"/>
                <a:ea typeface="Merriweather"/>
                <a:cs typeface="Merriweather"/>
                <a:sym typeface="Merriweather"/>
              </a:rPr>
              <a:t>first, and then move on to the steps in 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Merriweather"/>
                <a:ea typeface="Merriweather"/>
                <a:cs typeface="Merriweather"/>
                <a:sym typeface="Merriweather"/>
              </a:rPr>
              <a:t>draw( )</a:t>
            </a: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. 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The order ends up being something like: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1a, 1b, 1c, 2a, 2b, 2a, 2b, 2a, 2b, 2a, 2b, 2a, 2b, 2a, 2b …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28100" y="1013250"/>
            <a:ext cx="1223700" cy="30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function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88500" y="2842175"/>
            <a:ext cx="1302900" cy="3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function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Let’s create!</a:t>
            </a:r>
            <a:endParaRPr sz="3700"/>
          </a:p>
        </p:txBody>
      </p:sp>
      <p:sp>
        <p:nvSpPr>
          <p:cNvPr id="86" name="Google Shape;86;p16"/>
          <p:cNvSpPr txBox="1"/>
          <p:nvPr/>
        </p:nvSpPr>
        <p:spPr>
          <a:xfrm>
            <a:off x="814950" y="1387825"/>
            <a:ext cx="7980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pc="-26" sz="1600">
                <a:solidFill>
                  <a:srgbClr val="EAF0F7"/>
                </a:solidFill>
                <a:highlight>
                  <a:srgbClr val="101A2B"/>
                </a:highlight>
                <a:latin typeface="Space Grotesk"/>
                <a:ea typeface="Space Grotesk"/>
                <a:cs typeface="Space Grotesk"/>
                <a:sym typeface="Space Grotesk"/>
              </a:rPr>
              <a:t>How you write a variable</a:t>
            </a:r>
            <a:endParaRPr b="1" spc="-26" sz="1600">
              <a:solidFill>
                <a:srgbClr val="EAF0F7"/>
              </a:solidFill>
              <a:highlight>
                <a:srgbClr val="101A2B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9900"/>
                </a:solidFill>
              </a:rPr>
              <a:t>let</a:t>
            </a:r>
            <a:r>
              <a:rPr lang="en" sz="1600">
                <a:solidFill>
                  <a:schemeClr val="dk1"/>
                </a:solidFill>
              </a:rPr>
              <a:t>  </a:t>
            </a:r>
            <a:r>
              <a:rPr b="1" lang="en" sz="1600">
                <a:solidFill>
                  <a:schemeClr val="dk1"/>
                </a:solidFill>
              </a:rPr>
              <a:t>landerY</a:t>
            </a:r>
            <a:r>
              <a:rPr lang="en" sz="1600">
                <a:solidFill>
                  <a:schemeClr val="dk1"/>
                </a:solidFill>
              </a:rPr>
              <a:t>=</a:t>
            </a:r>
            <a:r>
              <a:rPr lang="en" sz="1600">
                <a:solidFill>
                  <a:srgbClr val="00A7EB"/>
                </a:solidFill>
              </a:rPr>
              <a:t>90</a:t>
            </a:r>
            <a:r>
              <a:rPr lang="en" sz="1600">
                <a:solidFill>
                  <a:schemeClr val="dk1"/>
                </a:solidFill>
              </a:rPr>
              <a:t>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Make a name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2B705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Use one when</a:t>
            </a:r>
            <a:endParaRPr sz="1500">
              <a:solidFill>
                <a:srgbClr val="F2B705"/>
              </a:solidFill>
              <a:highlight>
                <a:srgbClr val="101A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IBM Plex Sans"/>
              <a:buChar char="●"/>
            </a:pPr>
            <a:r>
              <a:rPr lang="en" sz="1500">
                <a:solidFill>
                  <a:srgbClr val="AEC0D8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the number has to </a:t>
            </a:r>
            <a:r>
              <a:rPr lang="en" sz="150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change</a:t>
            </a:r>
            <a:r>
              <a:rPr lang="en" sz="1500">
                <a:solidFill>
                  <a:srgbClr val="AEC0D8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 while the sketch runs</a:t>
            </a:r>
            <a:endParaRPr sz="1500">
              <a:solidFill>
                <a:srgbClr val="AEC0D8"/>
              </a:solidFill>
              <a:highlight>
                <a:srgbClr val="101A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IBM Plex Sans"/>
              <a:buChar char="●"/>
            </a:pPr>
            <a:r>
              <a:rPr lang="en" sz="1500">
                <a:solidFill>
                  <a:srgbClr val="AEC0D8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the same number appears in </a:t>
            </a:r>
            <a:r>
              <a:rPr lang="en" sz="150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several places</a:t>
            </a:r>
            <a:endParaRPr sz="1500">
              <a:solidFill>
                <a:srgbClr val="EAF0F7"/>
              </a:solidFill>
              <a:highlight>
                <a:srgbClr val="101A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745819" y="271181"/>
            <a:ext cx="75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Let’s create!</a:t>
            </a:r>
            <a:endParaRPr sz="3700"/>
          </a:p>
        </p:txBody>
      </p:sp>
      <p:pic>
        <p:nvPicPr>
          <p:cNvPr id="92" name="Google Shape;92;p17" title="Screenshot 2026-09-15 at 12.00.46 PM.png"/>
          <p:cNvPicPr preferRelativeResize="0"/>
          <p:nvPr/>
        </p:nvPicPr>
        <p:blipFill rotWithShape="1">
          <a:blip r:embed="rId3">
            <a:alphaModFix/>
          </a:blip>
          <a:srcRect b="0" l="0" r="26090" t="0"/>
          <a:stretch/>
        </p:blipFill>
        <p:spPr>
          <a:xfrm>
            <a:off x="745825" y="2037450"/>
            <a:ext cx="3622224" cy="16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Screenshot 2026-09-15 at 12.01.2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350" y="1322050"/>
            <a:ext cx="3238500" cy="32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745819" y="271181"/>
            <a:ext cx="75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idx="2" type="body"/>
          </p:nvPr>
        </p:nvSpPr>
        <p:spPr>
          <a:xfrm>
            <a:off x="5009456" y="1691250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8" title="Screenshot 2026-09-15 at 11.56.3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850" y="1159625"/>
            <a:ext cx="3261399" cy="3287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 title="Screenshot 2026-09-15 at 11.56.25 AM.png"/>
          <p:cNvPicPr preferRelativeResize="0"/>
          <p:nvPr/>
        </p:nvPicPr>
        <p:blipFill rotWithShape="1">
          <a:blip r:embed="rId4">
            <a:alphaModFix/>
          </a:blip>
          <a:srcRect b="7003" l="0" r="7003" t="0"/>
          <a:stretch/>
        </p:blipFill>
        <p:spPr>
          <a:xfrm>
            <a:off x="845700" y="1148175"/>
            <a:ext cx="3261394" cy="323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0" y="192113"/>
            <a:ext cx="5254300" cy="338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4">
            <a:alphaModFix/>
          </a:blip>
          <a:srcRect b="9854" l="10584" r="13220" t="13400"/>
          <a:stretch/>
        </p:blipFill>
        <p:spPr>
          <a:xfrm>
            <a:off x="5742625" y="210301"/>
            <a:ext cx="3122300" cy="31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5600375" y="69150"/>
            <a:ext cx="3406800" cy="3285900"/>
          </a:xfrm>
          <a:prstGeom prst="rect">
            <a:avLst/>
          </a:prstGeom>
          <a:solidFill>
            <a:srgbClr val="00A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Replace </a:t>
            </a:r>
            <a:r>
              <a:rPr b="1" lang="en" sz="3000"/>
              <a:t>width/2</a:t>
            </a:r>
            <a:r>
              <a:rPr lang="en" sz="3000"/>
              <a:t> with </a:t>
            </a:r>
            <a:r>
              <a:rPr lang="en" sz="3000">
                <a:highlight>
                  <a:srgbClr val="FF0000"/>
                </a:highlight>
              </a:rPr>
              <a:t>mouseX</a:t>
            </a:r>
            <a:endParaRPr sz="3000">
              <a:highlight>
                <a:srgbClr val="FF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Replace </a:t>
            </a:r>
            <a:r>
              <a:rPr b="1" lang="en" sz="3000">
                <a:solidFill>
                  <a:schemeClr val="dk1"/>
                </a:solidFill>
              </a:rPr>
              <a:t>height</a:t>
            </a:r>
            <a:r>
              <a:rPr lang="en" sz="3000">
                <a:solidFill>
                  <a:schemeClr val="dk1"/>
                </a:solidFill>
              </a:rPr>
              <a:t>/2 with </a:t>
            </a:r>
            <a:r>
              <a:rPr b="1" lang="en" sz="3000">
                <a:solidFill>
                  <a:schemeClr val="dk1"/>
                </a:solidFill>
                <a:highlight>
                  <a:srgbClr val="FF0000"/>
                </a:highlight>
              </a:rPr>
              <a:t>mouseY</a:t>
            </a:r>
            <a:endParaRPr b="1" sz="300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5">
            <a:alphaModFix/>
          </a:blip>
          <a:srcRect b="48396" l="8665" r="4158" t="15510"/>
          <a:stretch/>
        </p:blipFill>
        <p:spPr>
          <a:xfrm>
            <a:off x="3748350" y="3698125"/>
            <a:ext cx="4643026" cy="53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516600" y="3732850"/>
            <a:ext cx="3122400" cy="468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mouseX 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cxnSp>
        <p:nvCxnSpPr>
          <p:cNvPr id="111" name="Google Shape;111;p19"/>
          <p:cNvCxnSpPr/>
          <p:nvPr/>
        </p:nvCxnSpPr>
        <p:spPr>
          <a:xfrm flipH="1">
            <a:off x="2690975" y="1279700"/>
            <a:ext cx="3968100" cy="14196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9"/>
          <p:cNvCxnSpPr/>
          <p:nvPr/>
        </p:nvCxnSpPr>
        <p:spPr>
          <a:xfrm flipH="1">
            <a:off x="3713725" y="2451775"/>
            <a:ext cx="3238500" cy="3213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9"/>
          <p:cNvSpPr txBox="1"/>
          <p:nvPr/>
        </p:nvSpPr>
        <p:spPr>
          <a:xfrm>
            <a:off x="516600" y="4389575"/>
            <a:ext cx="3122400" cy="468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mouseY</a:t>
            </a:r>
            <a:endParaRPr b="1"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5">
            <a:alphaModFix/>
          </a:blip>
          <a:srcRect b="14206" l="8533" r="5096" t="49700"/>
          <a:stretch/>
        </p:blipFill>
        <p:spPr>
          <a:xfrm>
            <a:off x="3791462" y="4357225"/>
            <a:ext cx="4599925" cy="5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0" y="1332888"/>
            <a:ext cx="52959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5502650" y="1332900"/>
            <a:ext cx="3406800" cy="3495600"/>
          </a:xfrm>
          <a:prstGeom prst="rect">
            <a:avLst/>
          </a:prstGeom>
          <a:solidFill>
            <a:srgbClr val="00A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Try moving </a:t>
            </a:r>
            <a:r>
              <a:rPr b="1" lang="en" sz="3000">
                <a:solidFill>
                  <a:srgbClr val="00FFFF"/>
                </a:solidFill>
                <a:highlight>
                  <a:srgbClr val="000000"/>
                </a:highlight>
              </a:rPr>
              <a:t>background()</a:t>
            </a:r>
            <a:endParaRPr b="1" sz="3000">
              <a:solidFill>
                <a:srgbClr val="00FFFF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from </a:t>
            </a:r>
            <a:r>
              <a:rPr b="1" lang="en" sz="3000">
                <a:highlight>
                  <a:srgbClr val="FFFF00"/>
                </a:highlight>
              </a:rPr>
              <a:t>draw()</a:t>
            </a:r>
            <a:r>
              <a:rPr lang="en" sz="3000"/>
              <a:t> to </a:t>
            </a:r>
            <a:r>
              <a:rPr b="1" lang="en" sz="3000">
                <a:highlight>
                  <a:srgbClr val="FFFF00"/>
                </a:highlight>
              </a:rPr>
              <a:t>setup()</a:t>
            </a:r>
            <a:r>
              <a:rPr lang="en" sz="3000"/>
              <a:t> and see the difference!</a:t>
            </a:r>
            <a:endParaRPr sz="3000"/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4">
            <a:alphaModFix/>
          </a:blip>
          <a:srcRect b="4550" l="0" r="3344" t="8114"/>
          <a:stretch/>
        </p:blipFill>
        <p:spPr>
          <a:xfrm>
            <a:off x="3943000" y="-162"/>
            <a:ext cx="5147651" cy="13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/>
        </p:nvSpPr>
        <p:spPr>
          <a:xfrm>
            <a:off x="55900" y="355025"/>
            <a:ext cx="4055100" cy="7440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mouseX() &amp; mouseY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grpSp>
        <p:nvGrpSpPr>
          <p:cNvPr id="123" name="Google Shape;123;p20"/>
          <p:cNvGrpSpPr/>
          <p:nvPr/>
        </p:nvGrpSpPr>
        <p:grpSpPr>
          <a:xfrm>
            <a:off x="1535650" y="2080175"/>
            <a:ext cx="4155900" cy="1416900"/>
            <a:chOff x="1535650" y="2080175"/>
            <a:chExt cx="4155900" cy="1416900"/>
          </a:xfrm>
        </p:grpSpPr>
        <p:cxnSp>
          <p:nvCxnSpPr>
            <p:cNvPr id="124" name="Google Shape;124;p20"/>
            <p:cNvCxnSpPr/>
            <p:nvPr/>
          </p:nvCxnSpPr>
          <p:spPr>
            <a:xfrm flipH="1">
              <a:off x="2408300" y="2885375"/>
              <a:ext cx="3237000" cy="611700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5" name="Google Shape;125;p20"/>
            <p:cNvCxnSpPr/>
            <p:nvPr/>
          </p:nvCxnSpPr>
          <p:spPr>
            <a:xfrm rot="10800000">
              <a:off x="1535650" y="2080175"/>
              <a:ext cx="4155900" cy="805200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21"/>
          <p:cNvGrpSpPr/>
          <p:nvPr/>
        </p:nvGrpSpPr>
        <p:grpSpPr>
          <a:xfrm>
            <a:off x="1862350" y="2151875"/>
            <a:ext cx="3829200" cy="1110000"/>
            <a:chOff x="1862350" y="2151875"/>
            <a:chExt cx="3829200" cy="1110000"/>
          </a:xfrm>
        </p:grpSpPr>
        <p:cxnSp>
          <p:nvCxnSpPr>
            <p:cNvPr id="131" name="Google Shape;131;p21"/>
            <p:cNvCxnSpPr/>
            <p:nvPr/>
          </p:nvCxnSpPr>
          <p:spPr>
            <a:xfrm flipH="1">
              <a:off x="3319700" y="2885375"/>
              <a:ext cx="2325600" cy="376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2" name="Google Shape;132;p21"/>
            <p:cNvCxnSpPr/>
            <p:nvPr/>
          </p:nvCxnSpPr>
          <p:spPr>
            <a:xfrm rot="10800000">
              <a:off x="1862350" y="2151875"/>
              <a:ext cx="3829200" cy="733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33" name="Google Shape;133;p21" title="Screenshot 2026-09-15 at 12.03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00" y="1880725"/>
            <a:ext cx="4919001" cy="15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Screenshot 2026-09-15 at 12.03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0475" y="1020425"/>
            <a:ext cx="3147650" cy="3176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2"/>
          <p:cNvGrpSpPr/>
          <p:nvPr/>
        </p:nvGrpSpPr>
        <p:grpSpPr>
          <a:xfrm>
            <a:off x="1862350" y="2151875"/>
            <a:ext cx="3829200" cy="1110000"/>
            <a:chOff x="1862350" y="2151875"/>
            <a:chExt cx="3829200" cy="1110000"/>
          </a:xfrm>
        </p:grpSpPr>
        <p:cxnSp>
          <p:nvCxnSpPr>
            <p:cNvPr id="140" name="Google Shape;140;p22"/>
            <p:cNvCxnSpPr/>
            <p:nvPr/>
          </p:nvCxnSpPr>
          <p:spPr>
            <a:xfrm flipH="1">
              <a:off x="3319700" y="2885375"/>
              <a:ext cx="2325600" cy="376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1" name="Google Shape;141;p22"/>
            <p:cNvCxnSpPr/>
            <p:nvPr/>
          </p:nvCxnSpPr>
          <p:spPr>
            <a:xfrm rot="10800000">
              <a:off x="1862350" y="2151875"/>
              <a:ext cx="3829200" cy="733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42" name="Google Shape;142;p22" title="Screenshot 2026-09-15 at 12.03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00" y="1528725"/>
            <a:ext cx="5455169" cy="20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 title="Screenshot 2026-09-15 at 12.04.0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275" y="866775"/>
            <a:ext cx="3147651" cy="3119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3"/>
          <p:cNvGrpSpPr/>
          <p:nvPr/>
        </p:nvGrpSpPr>
        <p:grpSpPr>
          <a:xfrm>
            <a:off x="1862350" y="2151875"/>
            <a:ext cx="3829200" cy="1110000"/>
            <a:chOff x="1862350" y="2151875"/>
            <a:chExt cx="3829200" cy="1110000"/>
          </a:xfrm>
        </p:grpSpPr>
        <p:cxnSp>
          <p:nvCxnSpPr>
            <p:cNvPr id="149" name="Google Shape;149;p23"/>
            <p:cNvCxnSpPr/>
            <p:nvPr/>
          </p:nvCxnSpPr>
          <p:spPr>
            <a:xfrm flipH="1">
              <a:off x="3319700" y="2885375"/>
              <a:ext cx="2325600" cy="376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0" name="Google Shape;150;p23"/>
            <p:cNvCxnSpPr/>
            <p:nvPr/>
          </p:nvCxnSpPr>
          <p:spPr>
            <a:xfrm rot="10800000">
              <a:off x="1862350" y="2151875"/>
              <a:ext cx="3829200" cy="733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51" name="Google Shape;151;p23" title="Screenshot 2026-09-15 at 12.04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00" y="1665409"/>
            <a:ext cx="5607898" cy="2082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 title="Screenshot 2026-09-15 at 12.04.4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3098" y="935925"/>
            <a:ext cx="3078502" cy="315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4"/>
          <p:cNvGrpSpPr/>
          <p:nvPr/>
        </p:nvGrpSpPr>
        <p:grpSpPr>
          <a:xfrm>
            <a:off x="1862350" y="2151875"/>
            <a:ext cx="3829200" cy="1110000"/>
            <a:chOff x="1862350" y="2151875"/>
            <a:chExt cx="3829200" cy="1110000"/>
          </a:xfrm>
        </p:grpSpPr>
        <p:cxnSp>
          <p:nvCxnSpPr>
            <p:cNvPr id="158" name="Google Shape;158;p24"/>
            <p:cNvCxnSpPr/>
            <p:nvPr/>
          </p:nvCxnSpPr>
          <p:spPr>
            <a:xfrm flipH="1">
              <a:off x="3319700" y="2885375"/>
              <a:ext cx="2325600" cy="376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" name="Google Shape;159;p24"/>
            <p:cNvCxnSpPr/>
            <p:nvPr/>
          </p:nvCxnSpPr>
          <p:spPr>
            <a:xfrm rot="10800000">
              <a:off x="1862350" y="2151875"/>
              <a:ext cx="3829200" cy="733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Extensions</a:t>
            </a:r>
            <a:endParaRPr sz="4100"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152475"/>
            <a:ext cx="895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EAF0F7"/>
              </a:solidFill>
              <a:highlight>
                <a:srgbClr val="101A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5125" lvl="0" marL="457200" rtl="0" algn="l">
              <a:lnSpc>
                <a:spcPct val="140000"/>
              </a:lnSpc>
              <a:spcBef>
                <a:spcPts val="1700"/>
              </a:spcBef>
              <a:spcAft>
                <a:spcPts val="0"/>
              </a:spcAft>
              <a:buClr>
                <a:srgbClr val="EAF0F7"/>
              </a:buClr>
              <a:buSzPts val="2150"/>
              <a:buFont typeface="IBM Plex Sans"/>
              <a:buAutoNum type="arabicPeriod"/>
            </a:pP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Draw a </a:t>
            </a:r>
            <a:r>
              <a:rPr lang="en" sz="2150">
                <a:solidFill>
                  <a:srgbClr val="F2B705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camera light</a:t>
            </a: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 and spot on the ground: same x, but always at </a:t>
            </a: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Roboto Mono"/>
                <a:ea typeface="Roboto Mono"/>
                <a:cs typeface="Roboto Mono"/>
                <a:sym typeface="Roboto Mono"/>
              </a:rPr>
              <a:t>y = 370</a:t>
            </a:r>
            <a:endParaRPr sz="2150">
              <a:solidFill>
                <a:srgbClr val="EAF0F7"/>
              </a:solidFill>
              <a:highlight>
                <a:srgbClr val="101A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512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150"/>
              <a:buFont typeface="IBM Plex Sans"/>
              <a:buAutoNum type="arabicPeriod"/>
            </a:pP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Draw a </a:t>
            </a:r>
            <a:r>
              <a:rPr lang="en" sz="2150">
                <a:solidFill>
                  <a:srgbClr val="F2B705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shadow</a:t>
            </a: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 on the ground: same x, but always at </a:t>
            </a: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Roboto Mono"/>
                <a:ea typeface="Roboto Mono"/>
                <a:cs typeface="Roboto Mono"/>
                <a:sym typeface="Roboto Mono"/>
              </a:rPr>
              <a:t>y = 370</a:t>
            </a:r>
            <a:endParaRPr sz="2150">
              <a:solidFill>
                <a:srgbClr val="EAF0F7"/>
              </a:solidFill>
              <a:highlight>
                <a:srgbClr val="101A2B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6512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150"/>
              <a:buFont typeface="IBM Plex Sans"/>
              <a:buAutoNum type="arabicPeriod"/>
            </a:pP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Add a </a:t>
            </a:r>
            <a:r>
              <a:rPr lang="en" sz="2150">
                <a:solidFill>
                  <a:srgbClr val="F2B705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second drone</a:t>
            </a: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 that stays 100 to the left of the first</a:t>
            </a:r>
            <a:endParaRPr sz="2150">
              <a:solidFill>
                <a:srgbClr val="EAF0F7"/>
              </a:solidFill>
              <a:highlight>
                <a:srgbClr val="101A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512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150"/>
              <a:buFont typeface="IBM Plex Sans"/>
              <a:buAutoNum type="arabicPeriod"/>
            </a:pP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Make the rotors </a:t>
            </a:r>
            <a:r>
              <a:rPr lang="en" sz="2150">
                <a:solidFill>
                  <a:srgbClr val="F2B705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wider</a:t>
            </a:r>
            <a:r>
              <a:rPr lang="en" sz="2150">
                <a:solidFill>
                  <a:srgbClr val="EAF0F7"/>
                </a:solidFill>
                <a:highlight>
                  <a:srgbClr val="101A2B"/>
                </a:highlight>
                <a:latin typeface="IBM Plex Sans"/>
                <a:ea typeface="IBM Plex Sans"/>
                <a:cs typeface="IBM Plex Sans"/>
                <a:sym typeface="IBM Plex Sans"/>
              </a:rPr>
              <a:t> than they are — only two numbers change</a:t>
            </a:r>
            <a:endParaRPr sz="2150">
              <a:solidFill>
                <a:srgbClr val="EAF0F7"/>
              </a:solidFill>
              <a:highlight>
                <a:srgbClr val="101A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t/>
            </a:r>
            <a:endParaRPr sz="2150">
              <a:solidFill>
                <a:srgbClr val="EAF0F7"/>
              </a:solidFill>
              <a:highlight>
                <a:srgbClr val="101A2B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>
            <a:off x="150" y="-200"/>
            <a:ext cx="9144000" cy="5143500"/>
          </a:xfrm>
          <a:prstGeom prst="rect">
            <a:avLst/>
          </a:prstGeom>
          <a:solidFill>
            <a:srgbClr val="DC3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A game begins with a set of initial conditions: 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fortaa"/>
              <a:buChar char="●"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your name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fortaa"/>
              <a:buChar char="●"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your character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fortaa"/>
              <a:buChar char="●"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score of zero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fortaa"/>
              <a:buChar char="●"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Start on level one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Let’s think of this part as the program’s </a:t>
            </a:r>
            <a:r>
              <a:rPr b="1" lang="en" sz="1800">
                <a:solidFill>
                  <a:srgbClr val="FFFFFF"/>
                </a:solidFill>
                <a:highlight>
                  <a:srgbClr val="000000"/>
                </a:highlight>
                <a:latin typeface="Comfortaa"/>
                <a:ea typeface="Comfortaa"/>
                <a:cs typeface="Comfortaa"/>
                <a:sym typeface="Comfortaa"/>
              </a:rPr>
              <a:t>SETUP</a:t>
            </a: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. After these conditions are initialized, you begin to play the game.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At every instant, 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fortaa"/>
              <a:buChar char="●"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the computer checks what you are doing with the mouse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fortaa"/>
              <a:buChar char="●"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calculates all the appropriate behaviors for the game characters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fortaa"/>
              <a:buChar char="●"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and updates the screen to render all the game graphics. 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This cycle of calculating and drawing happens</a:t>
            </a:r>
            <a:r>
              <a:rPr b="1" lang="en" sz="1800">
                <a:solidFill>
                  <a:srgbClr val="FFFFFF"/>
                </a:solidFill>
                <a:highlight>
                  <a:srgbClr val="000000"/>
                </a:highlight>
                <a:latin typeface="Comfortaa"/>
                <a:ea typeface="Comfortaa"/>
                <a:cs typeface="Comfortaa"/>
                <a:sym typeface="Comfortaa"/>
              </a:rPr>
              <a:t> over and over again</a:t>
            </a: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, ideally </a:t>
            </a:r>
            <a:r>
              <a:rPr b="1" lang="en" sz="1800">
                <a:solidFill>
                  <a:srgbClr val="FFFFFF"/>
                </a:solidFill>
                <a:highlight>
                  <a:srgbClr val="000000"/>
                </a:highlight>
                <a:latin typeface="Comfortaa"/>
                <a:ea typeface="Comfortaa"/>
                <a:cs typeface="Comfortaa"/>
                <a:sym typeface="Comfortaa"/>
              </a:rPr>
              <a:t>30 or more times per second</a:t>
            </a:r>
            <a:r>
              <a:rPr b="1" lang="en"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for a smooth animation.</a:t>
            </a:r>
            <a:endParaRPr b="1" sz="1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17450" l="0" r="0" t="16325"/>
          <a:stretch/>
        </p:blipFill>
        <p:spPr>
          <a:xfrm>
            <a:off x="6166400" y="104400"/>
            <a:ext cx="2788875" cy="1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2885375" y="714100"/>
            <a:ext cx="30495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34343"/>
                </a:solidFill>
              </a:rPr>
              <a:t>GAMES</a:t>
            </a:r>
            <a:endParaRPr b="1" sz="6000">
              <a:solidFill>
                <a:srgbClr val="43434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/>
        </p:nvSpPr>
        <p:spPr>
          <a:xfrm>
            <a:off x="55900" y="173700"/>
            <a:ext cx="8986200" cy="7902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FLYING DRONE </a:t>
            </a:r>
            <a:r>
              <a:rPr lang="en" sz="36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(mouseX,mouseY)</a:t>
            </a:r>
            <a:endParaRPr sz="36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grpSp>
        <p:nvGrpSpPr>
          <p:cNvPr id="174" name="Google Shape;174;p26"/>
          <p:cNvGrpSpPr/>
          <p:nvPr/>
        </p:nvGrpSpPr>
        <p:grpSpPr>
          <a:xfrm>
            <a:off x="1862350" y="2151875"/>
            <a:ext cx="3829200" cy="1110000"/>
            <a:chOff x="1862350" y="2151875"/>
            <a:chExt cx="3829200" cy="1110000"/>
          </a:xfrm>
        </p:grpSpPr>
        <p:cxnSp>
          <p:nvCxnSpPr>
            <p:cNvPr id="175" name="Google Shape;175;p26"/>
            <p:cNvCxnSpPr/>
            <p:nvPr/>
          </p:nvCxnSpPr>
          <p:spPr>
            <a:xfrm flipH="1">
              <a:off x="3319700" y="2885375"/>
              <a:ext cx="2325600" cy="376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6" name="Google Shape;176;p26"/>
            <p:cNvCxnSpPr/>
            <p:nvPr/>
          </p:nvCxnSpPr>
          <p:spPr>
            <a:xfrm rot="10800000">
              <a:off x="1862350" y="2151875"/>
              <a:ext cx="3829200" cy="733500"/>
            </a:xfrm>
            <a:prstGeom prst="straightConnector1">
              <a:avLst/>
            </a:prstGeom>
            <a:noFill/>
            <a:ln cap="flat" cmpd="sng" w="762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77" name="Google Shape;177;p26" title="Screenshot 2026-09-15 at 12.04.42 PM.png"/>
          <p:cNvPicPr preferRelativeResize="0"/>
          <p:nvPr/>
        </p:nvPicPr>
        <p:blipFill rotWithShape="1">
          <a:blip r:embed="rId3">
            <a:alphaModFix/>
          </a:blip>
          <a:srcRect b="1057" l="0" r="0" t="1067"/>
          <a:stretch/>
        </p:blipFill>
        <p:spPr>
          <a:xfrm>
            <a:off x="55900" y="1042700"/>
            <a:ext cx="3987600" cy="39994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78" name="Google Shape;178;p26"/>
          <p:cNvGraphicFramePr/>
          <p:nvPr/>
        </p:nvGraphicFramePr>
        <p:xfrm>
          <a:off x="4230875" y="104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{8D960206-2669-4DE9-9B0A-2D48381B5B4D}</a:tableStyleId>
              </a:tblPr>
              <a:tblGrid>
                <a:gridCol w="567075"/>
                <a:gridCol w="2028100"/>
                <a:gridCol w="2147900"/>
              </a:tblGrid>
              <a:tr h="68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chemeClr val="dk1"/>
                          </a:solidFill>
                        </a:rPr>
                        <a:t>x</a:t>
                      </a:r>
                      <a:endParaRPr sz="3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chemeClr val="dk1"/>
                          </a:solidFill>
                        </a:rPr>
                        <a:t>y</a:t>
                      </a:r>
                      <a:endParaRPr sz="3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/>
                        <a:t>A</a:t>
                      </a:r>
                      <a:endParaRPr b="1" sz="30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/>
                        <a:t>B</a:t>
                      </a:r>
                      <a:endParaRPr b="1"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68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/>
                        <a:t>C</a:t>
                      </a:r>
                      <a:endParaRPr b="1"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68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/>
                        <a:t>D</a:t>
                      </a:r>
                      <a:endParaRPr b="1"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68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/>
                        <a:t>E</a:t>
                      </a:r>
                      <a:endParaRPr b="1"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26"/>
          <p:cNvSpPr txBox="1"/>
          <p:nvPr/>
        </p:nvSpPr>
        <p:spPr>
          <a:xfrm>
            <a:off x="1832200" y="2467325"/>
            <a:ext cx="4350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A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1308450" y="2406050"/>
            <a:ext cx="4350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B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2321300" y="2467325"/>
            <a:ext cx="4350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C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873450" y="2467325"/>
            <a:ext cx="4350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D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2853988" y="2252400"/>
            <a:ext cx="4350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E</a:t>
            </a:r>
            <a:endParaRPr b="1" sz="2400">
              <a:solidFill>
                <a:schemeClr val="lt1"/>
              </a:solidFill>
            </a:endParaRPr>
          </a:p>
        </p:txBody>
      </p:sp>
      <p:cxnSp>
        <p:nvCxnSpPr>
          <p:cNvPr id="184" name="Google Shape;184;p26"/>
          <p:cNvCxnSpPr/>
          <p:nvPr/>
        </p:nvCxnSpPr>
        <p:spPr>
          <a:xfrm>
            <a:off x="1909625" y="3329600"/>
            <a:ext cx="0" cy="68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6"/>
          <p:cNvSpPr txBox="1"/>
          <p:nvPr/>
        </p:nvSpPr>
        <p:spPr>
          <a:xfrm>
            <a:off x="4834525" y="17408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swald"/>
                <a:ea typeface="Oswald"/>
                <a:cs typeface="Oswald"/>
                <a:sym typeface="Oswald"/>
              </a:rPr>
              <a:t>mouseX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4834525" y="31124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mouseX+48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6891925" y="24266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swald"/>
                <a:ea typeface="Oswald"/>
                <a:cs typeface="Oswald"/>
                <a:sym typeface="Oswald"/>
              </a:rPr>
              <a:t>mouse-14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6891925" y="37982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swald"/>
                <a:ea typeface="Oswald"/>
                <a:cs typeface="Oswald"/>
                <a:sym typeface="Oswald"/>
              </a:rPr>
              <a:t>mouseY-18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6968125" y="17408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swald"/>
                <a:ea typeface="Oswald"/>
                <a:cs typeface="Oswald"/>
                <a:sym typeface="Oswald"/>
              </a:rPr>
              <a:t>mouseY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4834525" y="24266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swald"/>
                <a:ea typeface="Oswald"/>
                <a:cs typeface="Oswald"/>
                <a:sym typeface="Oswald"/>
              </a:rPr>
              <a:t>mouseX-48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6891925" y="31124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mouse-14</a:t>
            </a:r>
            <a:endParaRPr sz="2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4834525" y="37982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swald"/>
                <a:ea typeface="Oswald"/>
                <a:cs typeface="Oswald"/>
                <a:sym typeface="Oswald"/>
              </a:rPr>
              <a:t>mouseX+68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4834525" y="44840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swald"/>
                <a:ea typeface="Oswald"/>
                <a:cs typeface="Oswald"/>
                <a:sym typeface="Oswald"/>
              </a:rPr>
              <a:t>mouseX-68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6891925" y="4484025"/>
            <a:ext cx="199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swald"/>
                <a:ea typeface="Oswald"/>
                <a:cs typeface="Oswald"/>
                <a:sym typeface="Oswald"/>
              </a:rPr>
              <a:t>mouseY-18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050" y="922240"/>
            <a:ext cx="4700699" cy="3299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347400" y="530750"/>
            <a:ext cx="3339000" cy="4294200"/>
          </a:xfrm>
          <a:prstGeom prst="rect">
            <a:avLst/>
          </a:prstGeom>
          <a:solidFill>
            <a:srgbClr val="DC3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mouseX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mouseY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pmouseX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pmouseY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random()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frameRate()</a:t>
            </a:r>
            <a:endParaRPr sz="36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/>
        </p:nvSpPr>
        <p:spPr>
          <a:xfrm>
            <a:off x="55900" y="355025"/>
            <a:ext cx="4055100" cy="7440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pmouseX &amp; pmouseY</a:t>
            </a:r>
            <a:endParaRPr sz="3000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4349375" y="355025"/>
            <a:ext cx="4657800" cy="744000"/>
          </a:xfrm>
          <a:prstGeom prst="rect">
            <a:avLst/>
          </a:prstGeom>
          <a:solidFill>
            <a:srgbClr val="00A7E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Previous mouse location</a:t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id="207" name="Google Shape;20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7850" y="1575425"/>
            <a:ext cx="2838450" cy="28289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8" name="Google Shape;20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38638"/>
            <a:ext cx="5814951" cy="239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